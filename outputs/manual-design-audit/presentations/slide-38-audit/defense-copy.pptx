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284" r:id="rId3"/>
    <p:sldId id="258" r:id="rId4"/>
    <p:sldId id="287" r:id="rId5"/>
    <p:sldId id="288" r:id="rId6"/>
    <p:sldId id="289" r:id="rId7"/>
    <p:sldId id="290" r:id="rId8"/>
    <p:sldId id="264" r:id="rId9"/>
    <p:sldId id="291" r:id="rId10"/>
    <p:sldId id="292" r:id="rId11"/>
    <p:sldId id="293" r:id="rId12"/>
    <p:sldId id="294" r:id="rId13"/>
    <p:sldId id="269" r:id="rId14"/>
    <p:sldId id="295" r:id="rId15"/>
    <p:sldId id="296" r:id="rId16"/>
    <p:sldId id="272" r:id="rId17"/>
    <p:sldId id="297" r:id="rId18"/>
    <p:sldId id="299" r:id="rId19"/>
    <p:sldId id="300" r:id="rId20"/>
    <p:sldId id="301" r:id="rId21"/>
    <p:sldId id="302" r:id="rId22"/>
    <p:sldId id="303" r:id="rId23"/>
    <p:sldId id="304" r:id="rId24"/>
    <p:sldId id="305" r:id="rId25"/>
    <p:sldId id="306" r:id="rId26"/>
    <p:sldId id="307" r:id="rId27"/>
    <p:sldId id="308" r:id="rId28"/>
    <p:sldId id="310" r:id="rId29"/>
    <p:sldId id="286" r:id="rId30"/>
    <p:sldId id="312" r:id="rId31"/>
    <p:sldId id="314" r:id="rId32"/>
    <p:sldId id="339" r:id="rId33"/>
    <p:sldId id="318" r:id="rId34"/>
    <p:sldId id="317" r:id="rId35"/>
    <p:sldId id="320" r:id="rId36"/>
    <p:sldId id="322" r:id="rId37"/>
    <p:sldId id="327" r:id="rId38"/>
    <p:sldId id="329" r:id="rId39"/>
    <p:sldId id="324" r:id="rId40"/>
    <p:sldId id="331" r:id="rId41"/>
    <p:sldId id="326" r:id="rId42"/>
    <p:sldId id="333" r:id="rId43"/>
    <p:sldId id="335" r:id="rId44"/>
    <p:sldId id="338" r:id="rId45"/>
    <p:sldId id="337" r:id="rId46"/>
    <p:sldId id="336"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168" userDrawn="1">
          <p15:clr>
            <a:srgbClr val="A4A3A4"/>
          </p15:clr>
        </p15:guide>
        <p15:guide id="3" pos="216"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F7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67675" autoAdjust="0"/>
  </p:normalViewPr>
  <p:slideViewPr>
    <p:cSldViewPr snapToGrid="0">
      <p:cViewPr varScale="1">
        <p:scale>
          <a:sx n="54" d="100"/>
          <a:sy n="54" d="100"/>
        </p:scale>
        <p:origin x="56" y="960"/>
      </p:cViewPr>
      <p:guideLst>
        <p:guide orient="horz" pos="2160"/>
        <p:guide pos="168"/>
        <p:guide pos="216"/>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DEDEA3-BF81-406B-B89D-36228EDB0072}" type="datetimeFigureOut">
              <a:rPr lang="en-US" smtClean="0"/>
              <a:t>6/6/2026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CA434D-5B9B-4A22-BB04-DCAA38E4D51D}" type="slidenum">
              <a:rPr lang="en-US" smtClean="0"/>
              <a:t>‹#›</a:t>
            </a:fld>
            <a:endParaRPr lang="en-US"/>
          </a:p>
        </p:txBody>
      </p:sp>
    </p:spTree>
    <p:extLst>
      <p:ext uri="{BB962C8B-B14F-4D97-AF65-F5344CB8AC3E}">
        <p14:creationId xmlns:p14="http://schemas.microsoft.com/office/powerpoint/2010/main" val="26857822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I will begin with the problem definition, then the literature gap, then the proposed solution, followed by methodology, experiments, results, conclusion, and future work.</a:t>
            </a:r>
          </a:p>
          <a:p>
            <a:endParaRPr lang="en-US" dirty="0"/>
          </a:p>
          <a:p>
            <a:r>
              <a:rPr lang="en-US" dirty="0"/>
              <a:t>Transition</a:t>
            </a:r>
          </a:p>
          <a:p>
            <a:r>
              <a:rPr lang="en-US" dirty="0"/>
              <a:t>So firstly, what is the actual portfolio problem I am trying to solve?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Many portfolio optimization methods make a fixed-universe assumption. This means the investable assets are treated as already known and fixed before optimization begins.</a:t>
            </a:r>
          </a:p>
          <a:p>
            <a:r>
              <a:rPr lang="en-US" dirty="0"/>
              <a:t>After that assumption is made, the main task becomes how to allocate weights inside that predefined universe.</a:t>
            </a:r>
          </a:p>
          <a:p>
            <a:r>
              <a:rPr lang="en-US" dirty="0"/>
              <a:t>But there is an earlier decision that also matters: which assets should even enter the allocation stage. If that first decision is weak, even a strong optimizer is limited by the menu of assets it receives.</a:t>
            </a:r>
          </a:p>
          <a:p>
            <a:r>
              <a:rPr lang="en-US" dirty="0"/>
              <a:t>My thesis focuses on this earlier step. It studies asset-universe selection before allocation.</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In the Egyptian investment market, many investors are highly sensitive to instability because of inflation, currency fluctuations, and broader economic uncertainty. That often pushes investors toward assets they see as more stable, such as gold, bank certificates, or foreign currency exposure.</a:t>
            </a:r>
          </a:p>
          <a:p>
            <a:r>
              <a:rPr lang="en-US" dirty="0"/>
              <a:t>This thesis takes a risk-first view of suitability. The goal is to align the starting asset universe with the investor profile, then study how that universe performs based on historical diagnostics.</a:t>
            </a:r>
          </a:p>
          <a:p>
            <a:r>
              <a:rPr lang="en-US" dirty="0"/>
              <a:t>So conservative, balanced, and aggressive investors should not always begin from the same candidate universe. Market conditions change, and the risk behavior of assets changes with them.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thesis works in an Egyptian mixed-asset setting. The scored asset universe includes 91-day treasury bills, 5-year government bonds, EGX30 ETF, EGX30 constituent stocks, Real Estate Investment Trust exposure, and gold.</a:t>
            </a:r>
          </a:p>
          <a:p>
            <a:r>
              <a:rPr lang="en-US" dirty="0"/>
              <a:t>USD/EGP conversion rate and CPI are used as macro-context inputs. They are not treated as selected portfolio assets in the main universe, but they help describe the market environment around each monthly decision.</a:t>
            </a:r>
          </a:p>
          <a:p>
            <a:r>
              <a:rPr lang="en-US" dirty="0"/>
              <a:t>This setup is more realistic than an equities-only view because it gives the model defensive assets, growth assets, real-asset exposure, and macro context in the same system.</a:t>
            </a:r>
          </a:p>
          <a:p>
            <a:endParaRPr lang="en-US" dirty="0"/>
          </a:p>
          <a:p>
            <a:r>
              <a:rPr lang="en-US" dirty="0"/>
              <a:t>Transition</a:t>
            </a:r>
          </a:p>
          <a:p>
            <a:r>
              <a:rPr lang="en-US" dirty="0"/>
              <a:t>With that scope in place, the thesis asks three direct research questions.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first question asks whether AI and machine learning can support dynamic asset-universe selection before allocation using predictions of each asset's realized-risk behavior.</a:t>
            </a:r>
          </a:p>
          <a:p>
            <a:r>
              <a:rPr lang="en-US" dirty="0"/>
              <a:t>The second asks whether the selected universes actually align with conservative, balanced, and aggressive investor profiles.</a:t>
            </a:r>
          </a:p>
          <a:p>
            <a:r>
              <a:rPr lang="en-US" dirty="0"/>
              <a:t>The third asks how the proposed risk-tolerance-based universes compare with the full active universe when both are evaluated under the same equal-weight historical simulation rule.</a:t>
            </a:r>
          </a:p>
          <a:p>
            <a:r>
              <a:rPr lang="en-US" dirty="0"/>
              <a:t>Together, these questions keep the project focused on asset suitability for the investor.</a:t>
            </a:r>
          </a:p>
          <a:p>
            <a:endParaRPr lang="en-US" dirty="0"/>
          </a:p>
          <a:p>
            <a:r>
              <a:rPr lang="en-US" dirty="0"/>
              <a:t>Transition</a:t>
            </a:r>
          </a:p>
          <a:p>
            <a:r>
              <a:rPr lang="en-US" dirty="0"/>
              <a:t>Before presenting my method, I need to place it inside the literature.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Classical portfolio construction usually treats the problem as a return-risk weighting problem. Markowitz and later allocation methods mainly study how to divide weights once the investable universe is already known.</a:t>
            </a:r>
          </a:p>
          <a:p>
            <a:r>
              <a:rPr lang="en-US" dirty="0"/>
              <a:t>That literature is still important here because it gives the benchmark logic behind equal-weight and MVO allocation comparisons. But it usually assumes the asset set has already been defined.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In the literature, AI and machine learning have already been used as a filtering step before portfolio optimization. The model helps decide which stocks should enter the portfolio construction stage.</a:t>
            </a:r>
          </a:p>
          <a:p>
            <a:r>
              <a:rPr lang="en-US" dirty="0"/>
              <a:t>However, these papers select assets using expected price, expected return, profitability, or related performance signals. After that, the selected candidates move into an optimizer.</a:t>
            </a:r>
          </a:p>
          <a:p>
            <a:r>
              <a:rPr lang="en-US" dirty="0"/>
              <a:t>Risk measures such as Sharpe ratio, volatility, drawdown, or robustness usually appear later during weight allocation, optimization, or evaluation. That is why the literature gap remains open for risk-tolerance-oriented universe selection.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One useful exception is the DEA paper, because it also splits the process into two stages. First, assets are screened and qualified. Then weight allocation happens after that.</a:t>
            </a:r>
          </a:p>
          <a:p>
            <a:r>
              <a:rPr lang="en-US" dirty="0"/>
              <a:t>In Atta Mills and Anyomi, DEA is used to rank candidate stocks by efficiency under uncertainty. Standard deviation appears as the key risk-related input, while the rest of the screening still leans toward return and robustness considerations.</a:t>
            </a:r>
          </a:p>
          <a:p>
            <a:r>
              <a:rPr lang="en-US" dirty="0"/>
              <a:t>So the paper supports pre-allocation screening, but the main filter is still efficiency. It is also a statistical DEA method, not an AI model that learns investor-specific risk-tolerance universes.</a:t>
            </a:r>
          </a:p>
          <a:p>
            <a:endParaRPr lang="en-US" dirty="0"/>
          </a:p>
          <a:p>
            <a:r>
              <a:rPr lang="en-US" dirty="0"/>
              <a:t>Transition</a:t>
            </a:r>
          </a:p>
          <a:p>
            <a:r>
              <a:rPr lang="en-US" dirty="0"/>
              <a:t>After that, the remaining gap becomes easier to state clearly.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RL in finance is often used for trading decisions, rebalancing policies, or direct allocation weights. Personalization research often maps investor profiles to advice, products, funds, or final portfolio choices.</a:t>
            </a:r>
          </a:p>
          <a:p>
            <a:r>
              <a:rPr lang="en-US" dirty="0"/>
              <a:t>My thesis connects these two directions differently. It predicts asset risk behavior first, then uses that ranking to build profile-specific asset universes.</a:t>
            </a:r>
          </a:p>
          <a:p>
            <a:r>
              <a:rPr lang="en-US" dirty="0"/>
              <a:t>That is the main gap the project tries to fill.</a:t>
            </a:r>
          </a:p>
          <a:p>
            <a:endParaRPr lang="en-US" dirty="0"/>
          </a:p>
          <a:p>
            <a:r>
              <a:rPr lang="en-US" dirty="0"/>
              <a:t>Transition</a:t>
            </a:r>
          </a:p>
          <a:p>
            <a:r>
              <a:rPr lang="en-US" dirty="0"/>
              <a:t>Now I can show the whole contribution in one view before going into technical details.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full pipeline has four linked parts: point-in-time data engineering, monthly predicted risk ranking, profile-specific asset-universe mapping, and historical diagnostic evaluation.</a:t>
            </a:r>
          </a:p>
          <a:p>
            <a:r>
              <a:rPr lang="en-US" dirty="0"/>
              <a:t>Each part has a separate responsibility. That separation keeps the claims clean and makes the system easier to defend slide by slide.</a:t>
            </a:r>
          </a:p>
          <a:p>
            <a:endParaRPr lang="en-US" dirty="0"/>
          </a:p>
          <a:p>
            <a:r>
              <a:rPr lang="en-US" dirty="0"/>
              <a:t>Transition</a:t>
            </a:r>
          </a:p>
          <a:p>
            <a:r>
              <a:rPr lang="en-US" dirty="0"/>
              <a:t>The next slide explains the exact prediction the model produces each month.</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For every active asset in a specific month, the model outputs a predicted risk score. Those scores are then sorted ascendingly, from lower predicted risk to higher predicted risk.</a:t>
            </a:r>
          </a:p>
          <a:p>
            <a:r>
              <a:rPr lang="en-US" dirty="0"/>
              <a:t>The main goal is ranking quality. What matters most is whether safer and riskier assets are ordered well relative to each other inside that month.</a:t>
            </a:r>
          </a:p>
          <a:p>
            <a:r>
              <a:rPr lang="en-US" dirty="0"/>
              <a:t>This ranked list becomes the foundation for investor-specific asset selection later.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raw financial inputs include date, price, OHLC fields, and volume for each asset. From those inputs, I build a monthly point-in-time panel for the model.</a:t>
            </a:r>
          </a:p>
          <a:p>
            <a:r>
              <a:rPr lang="en-US" dirty="0"/>
              <a:t>An important detail is that treasury bill and bond series are quoted as yields. So before calculating returns and risk features, those quotes are converted into fixed-maturity price proxies.</a:t>
            </a:r>
          </a:p>
          <a:p>
            <a:r>
              <a:rPr lang="en-US" dirty="0"/>
              <a:t>I also include macroeconomic context through USD/EGP conversion rate and Consumer Price Index, or CPI, because market conditions influence how risky the active universe is in each month.</a:t>
            </a:r>
          </a:p>
          <a:p>
            <a:endParaRPr lang="en-US" dirty="0"/>
          </a:p>
          <a:p>
            <a:r>
              <a:rPr lang="en-US" dirty="0"/>
              <a:t>Transition</a:t>
            </a:r>
          </a:p>
          <a:p>
            <a:r>
              <a:rPr lang="en-US" dirty="0"/>
              <a:t>That cleaned daily layer then feeds the monthly state panel used by the model.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One row in the panel means one active asset in one month. So the model sees the market as a changing set of asset states.</a:t>
            </a:r>
          </a:p>
          <a:p>
            <a:r>
              <a:rPr lang="en-US" dirty="0"/>
              <a:t>The point-in-time rule is strict. Features for a month only use information available up to that month, and assets are never backfilled before they truly existed or before reliable data is available.</a:t>
            </a:r>
          </a:p>
          <a:p>
            <a:r>
              <a:rPr lang="en-US" dirty="0"/>
              <a:t>The panel keeps asset identity as metadata, but the model input itself uses only features. That helps the policy learn behavior patterns instead of memorizing asset names.</a:t>
            </a:r>
          </a:p>
          <a:p>
            <a:endParaRPr lang="en-US" dirty="0"/>
          </a:p>
          <a:p>
            <a:r>
              <a:rPr lang="en-US" dirty="0"/>
              <a:t>Transition</a:t>
            </a:r>
          </a:p>
          <a:p>
            <a:r>
              <a:rPr lang="en-US" dirty="0"/>
              <a:t>Once the panel exists, the next question is what information each row actually contains.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Rather than presenting the model inputs as one long list, I group them by the type of asset behavior they describe.</a:t>
            </a:r>
          </a:p>
          <a:p>
            <a:r>
              <a:rPr lang="en-US" dirty="0"/>
              <a:t>Risk behavior captures recent instability and the severity of harmful losses. Liquidity describes how actively the asset trades. Technical state summarizes recent price behavior, including range, trend, momentum, and position relative to previous highs. Market sensitivity describes how strongly the asset moves with the broader equity market. Finally, macro context captures shared currency and inflation conditions affecting every active asset.</a:t>
            </a:r>
          </a:p>
          <a:p>
            <a:r>
              <a:rPr lang="en-US" dirty="0"/>
              <a:t>Together, these families describe how an asset behaves without revealing its identity to the model.</a:t>
            </a:r>
          </a:p>
          <a:p>
            <a:endParaRPr lang="en-US" dirty="0"/>
          </a:p>
          <a:p>
            <a:r>
              <a:rPr lang="en-US" dirty="0"/>
              <a:t>Transition</a:t>
            </a:r>
          </a:p>
          <a:p>
            <a:r>
              <a:rPr lang="en-US" dirty="0"/>
              <a:t>These families define the model inputs. The next step is defining the realized risk used in the ordering that the model should learn.</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realized-risk target combines three complementary risk components: realized volatility, downside deviation, and maximum drawdown.</a:t>
            </a:r>
          </a:p>
          <a:p>
            <a:r>
              <a:rPr lang="en-US" dirty="0"/>
              <a:t>Each component is rank-normalized within the same month. This means an asset is compared only with the other assets that were actually active at that time, rather than being judged using an absolute scale.</a:t>
            </a:r>
          </a:p>
          <a:p>
            <a:r>
              <a:rPr lang="en-US" dirty="0"/>
              <a:t>The three normalized ranks are then averaged equally. The resulting realized-risk target defines the low-to-high risk ordering that the PPO model tries to recover.</a:t>
            </a:r>
          </a:p>
          <a:p>
            <a:endParaRPr lang="en-US" dirty="0"/>
          </a:p>
          <a:p>
            <a:r>
              <a:rPr lang="en-US" dirty="0"/>
              <a:t>Transition</a:t>
            </a:r>
          </a:p>
          <a:p>
            <a:r>
              <a:rPr lang="en-US" dirty="0"/>
              <a:t>Before explaining why I used reinforcement learning, I will quickly define what reinforcement learning means in this project.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Reinforcement learning is a learning setup where a model improves through interaction and feedback. The model observes a state, takes an action, receives a reward, and then updates its policy.</a:t>
            </a:r>
          </a:p>
          <a:p>
            <a:r>
              <a:rPr lang="en-US" dirty="0"/>
              <a:t>The policy is basically the model's decision rule. The reward function tells the model what behavior should improve. If an action leads to a better reward, the model adjusts its internal policy so similar actions become more likely in the future.</a:t>
            </a:r>
          </a:p>
          <a:p>
            <a:r>
              <a:rPr lang="en-US" dirty="0"/>
              <a:t>In this thesis, the state is one monthly active asset universe. The action is assigning risk scores to the assets. The reward tells the model how good the final monthly ranking was compared with realized risk. Over training, the model adapts so its future rankings are more likely to receive higher reward.</a:t>
            </a:r>
          </a:p>
          <a:p>
            <a:endParaRPr lang="en-US" dirty="0"/>
          </a:p>
          <a:p>
            <a:r>
              <a:rPr lang="en-US" dirty="0"/>
              <a:t>Transition</a:t>
            </a:r>
          </a:p>
          <a:p>
            <a:r>
              <a:rPr lang="en-US" dirty="0"/>
              <a:t>With that idea clear, I can explain why this problem fits reinforcement learning.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Reinforcement learning fits this problem for three main reasons. First, the available assets change from month to month. Second, the model scores the full monthly set together rather than treating each asset as an isolated prediction. Third, the reward is calculated only after the complete universe has been ranked.</a:t>
            </a:r>
          </a:p>
          <a:p>
            <a:r>
              <a:rPr lang="en-US" dirty="0"/>
              <a:t>The figure shows how these ideas form one monthly decision environment. The state is the active asset universe and its features. The action is assigning one risk score to every active asset, and the resulting scores create the predicted monthly ranking.</a:t>
            </a:r>
          </a:p>
          <a:p>
            <a:r>
              <a:rPr lang="en-US" dirty="0"/>
              <a:t>The predicted ranking is then compared with the realized-risk ranking to calculate the reward. That feedback is used to update the scoring policy, so it can produce better rankings in future decision months.</a:t>
            </a:r>
          </a:p>
          <a:p>
            <a:endParaRPr lang="en-US" dirty="0"/>
          </a:p>
          <a:p>
            <a:r>
              <a:rPr lang="en-US" dirty="0"/>
              <a:t>Transition</a:t>
            </a:r>
          </a:p>
          <a:p>
            <a:r>
              <a:rPr lang="en-US" dirty="0"/>
              <a:t>Among reinforcement learning methods, I used PPO because it gives a more controlled training update.</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PPO is a policy-gradient reinforcement-learning method, meaning it directly improves the policy that produces the model’s actions. It fits this problem because the actor can assign a continuous risk score to every active asset, instead of choosing from fixed risk categories. These scores can then be sorted to create the monthly asset ranking.</a:t>
            </a:r>
          </a:p>
          <a:p>
            <a:r>
              <a:rPr lang="en-US" dirty="0"/>
              <a:t>Financial months can differ significantly, and an unusually difficult month could cause the model to change its scoring behavior too aggressively. PPO reduces this risk through clipping, which limits how much the updated policy can move away from the previous policy during one training update.</a:t>
            </a:r>
          </a:p>
          <a:p>
            <a:r>
              <a:rPr lang="en-US" dirty="0"/>
              <a:t>PPO also uses an actor-critic architecture to make learning more stable. At a high level, one component makes the decisions while another helps evaluate them.</a:t>
            </a:r>
          </a:p>
          <a:p>
            <a:endParaRPr lang="en-US" dirty="0"/>
          </a:p>
          <a:p>
            <a:r>
              <a:rPr lang="en-US" dirty="0"/>
              <a:t>Transition</a:t>
            </a:r>
          </a:p>
          <a:p>
            <a:r>
              <a:rPr lang="en-US" dirty="0"/>
              <a:t>Before explaining the actor-critic architecture in more details, I first need to define what one PPO decision looks like.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One PPO episode equals one monthly decision. The observation is a tensor of all asset features, together with a mask that marks which rows are real assets. This setup supports a different number of available assets depending on the decision month.</a:t>
            </a:r>
          </a:p>
          <a:p>
            <a:r>
              <a:rPr lang="en-US" dirty="0"/>
              <a:t>The action is one continuous risk score for each real asset row, between zero and one. After the model scores the month, the assets are sorted and compared with the realized-risk ordering for that same month.</a:t>
            </a:r>
          </a:p>
          <a:p>
            <a:r>
              <a:rPr lang="en-US" dirty="0"/>
              <a:t>So the reward is based on how well the full monthly ranking matches reality.</a:t>
            </a:r>
          </a:p>
          <a:p>
            <a:endParaRPr lang="en-US" dirty="0"/>
          </a:p>
          <a:p>
            <a:r>
              <a:rPr lang="en-US" dirty="0"/>
              <a:t>Transition</a:t>
            </a:r>
          </a:p>
          <a:p>
            <a:r>
              <a:rPr lang="en-US" dirty="0"/>
              <a:t>That episode design depends on handling a changing number of assets cleanly.</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practical challenge is that every month has a different number of active assets. A neural network still needs a consistent tensor shape, so the input is padded to a fixed size.</a:t>
            </a:r>
          </a:p>
          <a:p>
            <a:r>
              <a:rPr lang="en-US" dirty="0"/>
              <a:t>The mask tells the model which rows are real and which rows are just padding. That way, padded rows do not pollute action sampling, learning, or reward calculations.</a:t>
            </a:r>
          </a:p>
          <a:p>
            <a:r>
              <a:rPr lang="en-US" dirty="0"/>
              <a:t>This is what lets the system work with a changing investable universe in a technically clean way.</a:t>
            </a:r>
          </a:p>
          <a:p>
            <a:endParaRPr lang="en-US" dirty="0"/>
          </a:p>
          <a:p>
            <a:r>
              <a:rPr lang="en-US" dirty="0"/>
              <a:t>Transition</a:t>
            </a:r>
          </a:p>
          <a:p>
            <a:r>
              <a:rPr lang="en-US" dirty="0"/>
              <a:t>With the monthly decision and masking logic clear, I will explain the actor-critic architecture.</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architecture has four main pieces. A row encoder reads each asset using the same parameters, then a pooled context vector summarizes the active month.</a:t>
            </a:r>
          </a:p>
          <a:p>
            <a:r>
              <a:rPr lang="en-US" dirty="0"/>
              <a:t>From there, the actor outputs a risk score per asset, and the critic estimates the expected monthly reward. That critic estimate gives the algorithm a baseline for how good or bad the actual month turned out.</a:t>
            </a:r>
          </a:p>
          <a:p>
            <a:r>
              <a:rPr lang="en-US" dirty="0"/>
              <a:t>The difference between the actual monthly reward and the critic's expected monthly reward is called the advantage. PPO uses that advantage to decide how strongly the policy should be updated.</a:t>
            </a:r>
          </a:p>
          <a:p>
            <a:r>
              <a:rPr lang="en-US" dirty="0"/>
              <a:t>This structure is a good fit because the decision mixes asset-level scoring with month-level context.</a:t>
            </a:r>
          </a:p>
          <a:p>
            <a:endParaRPr lang="en-US" dirty="0"/>
          </a:p>
          <a:p>
            <a:r>
              <a:rPr lang="en-US" dirty="0"/>
              <a:t>Transition</a:t>
            </a:r>
          </a:p>
          <a:p>
            <a:r>
              <a:rPr lang="en-US" dirty="0"/>
              <a:t>The final training signal then comes from the reward function.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reward is computed after the entire monthly universe is scored. Seventy percent of it measures how close the predicted ranking was to the realized-risk ranking, and thirty percent measures how close the predicted score values were to the target values.</a:t>
            </a:r>
          </a:p>
          <a:p>
            <a:r>
              <a:rPr lang="en-US" dirty="0"/>
              <a:t>The first part uses Spearman rank correlation because the thesis is mainly a ranking problem. The second part uses MSE to discourage the model from placing all assets too close together, where a very small score change could easily flip the ranking.</a:t>
            </a:r>
          </a:p>
          <a:p>
            <a:r>
              <a:rPr lang="en-US" dirty="0"/>
              <a:t>So the reward keeps the ranking objective central while still giving the scores some shape.</a:t>
            </a:r>
          </a:p>
          <a:p>
            <a:endParaRPr lang="en-US" dirty="0"/>
          </a:p>
          <a:p>
            <a:r>
              <a:rPr lang="en-US" dirty="0"/>
              <a:t>Transition</a:t>
            </a:r>
          </a:p>
          <a:p>
            <a:r>
              <a:rPr lang="en-US" dirty="0"/>
              <a:t>Once the model produces a ranked list, I can map that list into profile-specific asset universes.</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After ranking, the predicted positions are converted into rank percentiles. These percentiles are then used to form three profile-specific asset universes.</a:t>
            </a:r>
          </a:p>
          <a:p>
            <a:r>
              <a:rPr lang="en-US" dirty="0"/>
              <a:t>The conservative asset universe uses the lowest 30 percent of predicted-risk assets. The balanced asset universe uses the middle 20 to 80 percent band. The aggressive asset universe uses the highest 30 percent of predicted-risk assets.</a:t>
            </a:r>
          </a:p>
          <a:p>
            <a:r>
              <a:rPr lang="en-US" dirty="0"/>
              <a:t>The overlap is intentional because some assets can reasonably fit two neighboring investor profiles depending on where they sit in the ranked distribution.</a:t>
            </a:r>
          </a:p>
          <a:p>
            <a:endParaRPr lang="en-US" dirty="0"/>
          </a:p>
          <a:p>
            <a:r>
              <a:rPr lang="en-US" dirty="0"/>
              <a:t>Transition</a:t>
            </a:r>
          </a:p>
          <a:p>
            <a:r>
              <a:rPr lang="en-US" dirty="0"/>
              <a:t>With the full method defined, the next step is to show how I tested it.</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evaluation follows a strict chronological split to control leakage. Training covers 2011-01 to 2021-12, and this is where the PPO policy learns from historical months.</a:t>
            </a:r>
          </a:p>
          <a:p>
            <a:r>
              <a:rPr lang="en-US" dirty="0"/>
              <a:t>Inner validation covers 2022-01 to 2022-12, and it is used for intermediate model-selection checks. Validation covers 2023-01 to 2025-02, and it guides the final framework, feature, and hyperparameter choices. Test covers 2025-03 to 2026-01, and it is held back for final reporting only.</a:t>
            </a:r>
          </a:p>
          <a:p>
            <a:endParaRPr lang="en-US" dirty="0"/>
          </a:p>
          <a:p>
            <a:r>
              <a:rPr lang="en-US" dirty="0"/>
              <a:t>Transition</a:t>
            </a:r>
          </a:p>
          <a:p>
            <a:r>
              <a:rPr lang="en-US" dirty="0"/>
              <a:t>Before feature tuning, I first had to decide which PPO framework made the most sense.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Several formulations were compared before locking the final framework. The goal was to understand which input structure actually fits the ranking problem, while keeping the base feature set fixed.</a:t>
            </a:r>
          </a:p>
          <a:p>
            <a:r>
              <a:rPr lang="en-US" dirty="0"/>
              <a:t>I tested whether the model should look at only the most recent month or a three-month feature window. I also tested whether adding pooled context from the whole active universe in that month improved the model's performance.</a:t>
            </a:r>
          </a:p>
          <a:p>
            <a:r>
              <a:rPr lang="en-US" dirty="0"/>
              <a:t>I also explored variants that included daily price information more directly, but in these trials that appeared to add noise and did not improve validation performance. The three-month view with active-universe context had the best performance, so it was promoted as the final framework for the next stage.</a:t>
            </a:r>
          </a:p>
          <a:p>
            <a:endParaRPr lang="en-US" dirty="0"/>
          </a:p>
          <a:p>
            <a:r>
              <a:rPr lang="en-US" dirty="0"/>
              <a:t>Transition</a:t>
            </a:r>
          </a:p>
          <a:p>
            <a:r>
              <a:rPr lang="en-US" dirty="0"/>
              <a:t>After the framework was locked, I moved to feature tuning and hyperparameter tuning phases.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Feature selection followed a sequential process. I first used drop-one-feature ablations on the fixed feature set, then confirmed promising changes with three-seed runs. After that, I tested redesigned feature-family alternatives and new additions such as the downside-tail ratio.</a:t>
            </a:r>
          </a:p>
          <a:p>
            <a:r>
              <a:rPr lang="en-US" dirty="0"/>
              <a:t>Hyperparameter tuning came after the framework and feature decisions. I used Optuna, a hyperparameter optimization tool that runs multiple parameter trials, evaluates them on the validation objective, and uses earlier results to suggest better configurations.</a:t>
            </a:r>
          </a:p>
          <a:p>
            <a:r>
              <a:rPr lang="en-US" dirty="0"/>
              <a:t>The main selection metric was validation reward, with validation Spearman kept as the ranking-quality guardrail.</a:t>
            </a:r>
          </a:p>
          <a:p>
            <a:endParaRPr lang="en-US" dirty="0"/>
          </a:p>
          <a:p>
            <a:r>
              <a:rPr lang="en-US" dirty="0"/>
              <a:t>Transition</a:t>
            </a:r>
          </a:p>
          <a:p>
            <a:r>
              <a:rPr lang="en-US" dirty="0"/>
              <a:t>Once the model was locked, I evaluated it in two connected stages.</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first stage evaluates ranking quality directly by comparing predicted risk ranks with realized-risk ranks, mainly using Spearman correlation.</a:t>
            </a:r>
          </a:p>
          <a:p>
            <a:r>
              <a:rPr lang="en-US" dirty="0"/>
              <a:t>The second stage evaluates what those rankings mean for investor groups by forming conservative, balanced, and aggressive universes and comparing them with the full active universe under the same equal-weight rule.</a:t>
            </a:r>
          </a:p>
          <a:p>
            <a:r>
              <a:rPr lang="en-US" dirty="0"/>
              <a:t>Equal weighting keeps the focus on universe selection. Return metrics are reported, but the main reading remains risk separation.</a:t>
            </a:r>
          </a:p>
          <a:p>
            <a:endParaRPr lang="en-US" dirty="0"/>
          </a:p>
          <a:p>
            <a:r>
              <a:rPr lang="en-US" dirty="0"/>
              <a:t>Transition</a:t>
            </a:r>
          </a:p>
          <a:p>
            <a:r>
              <a:rPr lang="en-US" dirty="0"/>
              <a:t>Now I can show the core results.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promoted model achieved a test reward of about 0.7545 and a test Spearman diagnostic of about 0.669. Those are the main ranking-quality signals at the thesis level.</a:t>
            </a:r>
          </a:p>
          <a:p>
            <a:r>
              <a:rPr lang="en-US" dirty="0"/>
              <a:t>Another useful detail is that reward stayed positive across all 11 test months. That gives a more stable picture than looking at a single average alone.</a:t>
            </a:r>
          </a:p>
          <a:p>
            <a:r>
              <a:rPr lang="en-US" dirty="0"/>
              <a:t>So before even forming profile-specific asset universes, the monthly ranking behavior is already meaningful.</a:t>
            </a:r>
          </a:p>
          <a:p>
            <a:endParaRPr lang="en-US" dirty="0"/>
          </a:p>
          <a:p>
            <a:r>
              <a:rPr lang="en-US" dirty="0"/>
              <a:t>Transition</a:t>
            </a:r>
          </a:p>
          <a:p>
            <a:r>
              <a:rPr lang="en-US" dirty="0"/>
              <a:t>The strongest thesis result appears when those rankings are converted into profile-specific asset universes.</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profile-specific asset universes separated realized risk in the expected order. The full universe mean realized risk was 0.500, the conservative universe was 0.239, the balanced universe was 0.536, and the aggressive universe was 0.688.</a:t>
            </a:r>
          </a:p>
          <a:p>
            <a:r>
              <a:rPr lang="en-US" dirty="0"/>
              <a:t>The monotonic ordering held in all 11 out of 11 test months. That is the cleanest evidence that the model can produce distinct investor-oriented universes from predicted ranks.</a:t>
            </a:r>
          </a:p>
          <a:p>
            <a:r>
              <a:rPr lang="en-US" dirty="0"/>
              <a:t>From a financial point of view, the main message is straightforward: the conservative asset universe behaved materially safer, while the aggressive asset universe carried clearly higher realized risk.</a:t>
            </a:r>
          </a:p>
          <a:p>
            <a:endParaRPr lang="en-US" dirty="0"/>
          </a:p>
          <a:p>
            <a:r>
              <a:rPr lang="en-US" dirty="0"/>
              <a:t>Transition</a:t>
            </a:r>
          </a:p>
          <a:p>
            <a:r>
              <a:rPr lang="en-US" dirty="0"/>
              <a:t>After risk separation, we can look carefully at the return side of the same test window.</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Using the same equal-weight allocation rule, cumulative return in the test window was 49.59 percent for the full universe, 29.91 percent for the conservative universe, 50.17 percent for the balanced universe, and 86.24 percent for the aggressive universe.</a:t>
            </a:r>
          </a:p>
          <a:p>
            <a:r>
              <a:rPr lang="en-US" dirty="0"/>
              <a:t>The aggressive universe also carried higher volatility and a deeper drawdown. So the higher return came with visibly higher risk exposure.</a:t>
            </a:r>
          </a:p>
          <a:p>
            <a:r>
              <a:rPr lang="en-US" dirty="0"/>
              <a:t>That is why I present these numbers as historical diagnostics. They help interpret the selected universes economically, but they do not prove future outperformance.</a:t>
            </a:r>
          </a:p>
          <a:p>
            <a:endParaRPr lang="en-US" dirty="0"/>
          </a:p>
          <a:p>
            <a:r>
              <a:rPr lang="en-US" dirty="0"/>
              <a:t>Transition</a:t>
            </a:r>
          </a:p>
          <a:p>
            <a:r>
              <a:rPr lang="en-US" dirty="0"/>
              <a:t>That brings us to the baseline comparison.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baseline here is the full active universe under the same equal-weight rule. Keeping the allocation rule fixed makes the comparison much cleaner.</a:t>
            </a:r>
          </a:p>
          <a:p>
            <a:r>
              <a:rPr lang="en-US" dirty="0"/>
              <a:t>Under that comparison, conservative-universe filtering materially reduced realized risk versus the full universe, while aggressive-universe filtering produced higher realized risk and stronger return participation in the short test window.</a:t>
            </a:r>
          </a:p>
          <a:p>
            <a:r>
              <a:rPr lang="en-US" dirty="0"/>
              <a:t>So the filtering stage itself already changes the opportunity set in a meaningful, investor-specific way.</a:t>
            </a:r>
          </a:p>
          <a:p>
            <a:endParaRPr lang="en-US" dirty="0"/>
          </a:p>
          <a:p>
            <a:r>
              <a:rPr lang="en-US" dirty="0"/>
              <a:t>Transition</a:t>
            </a:r>
          </a:p>
          <a:p>
            <a:r>
              <a:rPr lang="en-US" dirty="0"/>
              <a:t>With that evidence in place, I can answer the research questions directly.</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 promoted model achieved a test reward of about 0.7545 and a test Spearman diagnostic of about 0.669. Those are the main ranking-quality signals at the thesis level.</a:t>
            </a:r>
          </a:p>
          <a:p>
            <a:r>
              <a:rPr lang="en-US" dirty="0"/>
              <a:t>Another useful detail is that reward stayed positive across all 11 test months. That gives a more stable picture than looking at a single average alone.</a:t>
            </a:r>
          </a:p>
          <a:p>
            <a:r>
              <a:rPr lang="en-US" dirty="0"/>
              <a:t>So before even forming profile-specific asset universes, the monthly ranking behavior is already meaningful.</a:t>
            </a:r>
          </a:p>
          <a:p>
            <a:endParaRPr lang="en-US" dirty="0"/>
          </a:p>
          <a:p>
            <a:r>
              <a:rPr lang="en-US" dirty="0"/>
              <a:t>Transition</a:t>
            </a:r>
          </a:p>
          <a:p>
            <a:r>
              <a:rPr lang="en-US" dirty="0"/>
              <a:t>The strongest thesis result appears when those rankings are converted into profile-specific asset universes.</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These are possible next steps beyond the thesis scope. One future direction is live forward testing: connecting the pipeline to live market-data APIs, rebuilding the monthly features over time, and monitoring how the selected asset universes behave in real conditions.</a:t>
            </a:r>
          </a:p>
          <a:p>
            <a:r>
              <a:rPr lang="en-US" dirty="0"/>
              <a:t>That would matter because historical evidence is useful, but forward observation is a stronger test of stability.</a:t>
            </a:r>
          </a:p>
          <a:p>
            <a:endParaRPr lang="en-US" dirty="0"/>
          </a:p>
          <a:p>
            <a:r>
              <a:rPr lang="en-US" dirty="0"/>
              <a:t>Transition</a:t>
            </a:r>
          </a:p>
          <a:p>
            <a:r>
              <a:rPr lang="en-US" dirty="0"/>
              <a:t>There is also a natural extension on the objective side.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Another possible extension is return-aware suitability. The current thesis objective is risk suitability, but a future version may add return-aware diagnostics or utility logic after the risk-ranked universes are formed.</a:t>
            </a:r>
          </a:p>
          <a:p>
            <a:r>
              <a:rPr lang="en-US" dirty="0"/>
              <a:t>That would let the system stay investor-aware while exploring richer tradeoffs inside each selected universe.</a:t>
            </a:r>
          </a:p>
          <a:p>
            <a:endParaRPr lang="en-US" dirty="0"/>
          </a:p>
          <a:p>
            <a:r>
              <a:rPr lang="en-US" dirty="0"/>
              <a:t>Transition</a:t>
            </a:r>
          </a:p>
          <a:p>
            <a:r>
              <a:rPr lang="en-US" dirty="0"/>
              <a:t>I'll close the main talk with the core references behind the framing.</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1"/>
          </p:nvPr>
        </p:nvSpPr>
        <p:spPr>
          <a:xfrm>
            <a:off x="685800" y="685800"/>
            <a:ext cx="5486400" cy="3086100"/>
          </a:xfrm>
          <a:prstGeom prst="rect">
            <a:avLst/>
          </a:prstGeom>
        </p:spPr>
        <p:txBody>
          <a:bodyPr/>
          <a:lstStyle/>
          <a:p>
            <a:endParaRPr lang="en-US"/>
          </a:p>
        </p:txBody>
      </p:sp>
      <p:sp>
        <p:nvSpPr>
          <p:cNvPr id="3" name="Notes Placeholder 2"/>
          <p:cNvSpPr>
            <a:spLocks noGrp="1"/>
          </p:cNvSpPr>
          <p:nvPr>
            <p:ph type="body" idx="2"/>
          </p:nvPr>
        </p:nvSpPr>
        <p:spPr>
          <a:xfrm>
            <a:off x="685800" y="4114800"/>
            <a:ext cx="5486400" cy="3600450"/>
          </a:xfrm>
          <a:prstGeom prst="rect">
            <a:avLst/>
          </a:prstGeom>
        </p:spPr>
        <p:txBody>
          <a:bodyPr/>
          <a:lstStyle/>
          <a:p>
            <a:r>
              <a:rPr lang="en-US" dirty="0"/>
              <a:t>Talk track</a:t>
            </a:r>
          </a:p>
          <a:p>
            <a:r>
              <a:rPr lang="en-US" dirty="0"/>
              <a:t>These are the five core references most directly supporting the problem framing, the preselection literature, and the baseline context for this thesis.</a:t>
            </a:r>
          </a:p>
          <a:p>
            <a:r>
              <a:rPr lang="en-US" dirty="0"/>
              <a:t>I keep the slide short during the talk and leave the fuller literature detail to the written thesis and discussion.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8974F09-BA5B-CE93-4DC0-5894C61367C8}"/>
              </a:ext>
            </a:extLst>
          </p:cNvPr>
          <p:cNvSpPr/>
          <p:nvPr userDrawn="1"/>
        </p:nvSpPr>
        <p:spPr>
          <a:xfrm rot="5400000">
            <a:off x="2621277" y="-2621279"/>
            <a:ext cx="6857999" cy="1210056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p:cNvSpPr>
            <a:spLocks noGrp="1"/>
          </p:cNvSpPr>
          <p:nvPr>
            <p:ph type="ctrTitle" hasCustomPrompt="1"/>
          </p:nvPr>
        </p:nvSpPr>
        <p:spPr>
          <a:xfrm>
            <a:off x="1066800" y="1645920"/>
            <a:ext cx="10058400" cy="3566160"/>
          </a:xfrm>
        </p:spPr>
        <p:txBody>
          <a:bodyPr anchor="b">
            <a:normAutofit/>
          </a:bodyPr>
          <a:lstStyle>
            <a:lvl1pPr algn="l">
              <a:lnSpc>
                <a:spcPct val="85000"/>
              </a:lnSpc>
              <a:defRPr sz="8000" spc="-50" baseline="0">
                <a:solidFill>
                  <a:schemeClr val="bg1"/>
                </a:solidFill>
              </a:defRPr>
            </a:lvl1pPr>
          </a:lstStyle>
          <a:p>
            <a:r>
              <a:rPr lang="en-US" dirty="0"/>
              <a:t>Title</a:t>
            </a:r>
          </a:p>
        </p:txBody>
      </p:sp>
      <p:sp>
        <p:nvSpPr>
          <p:cNvPr id="4" name="Date Placeholder 3"/>
          <p:cNvSpPr>
            <a:spLocks noGrp="1"/>
          </p:cNvSpPr>
          <p:nvPr>
            <p:ph type="dt" sz="half" idx="10"/>
          </p:nvPr>
        </p:nvSpPr>
        <p:spPr/>
        <p:txBody>
          <a:bodyPr/>
          <a:lstStyle/>
          <a:p>
            <a:fld id="{4B1FDDEC-290C-46A3-AAAC-80B1A205EAA7}" type="datetime1">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11" name="Rectangle 10">
            <a:extLst>
              <a:ext uri="{FF2B5EF4-FFF2-40B4-BE49-F238E27FC236}">
                <a16:creationId xmlns:a16="http://schemas.microsoft.com/office/drawing/2014/main" id="{0E6C301B-627F-63CF-47F1-3BD4C3FEF3C7}"/>
              </a:ext>
            </a:extLst>
          </p:cNvPr>
          <p:cNvSpPr/>
          <p:nvPr userDrawn="1"/>
        </p:nvSpPr>
        <p:spPr>
          <a:xfrm rot="5400000">
            <a:off x="8740140"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8" name="Straight Connector 7">
            <a:extLst>
              <a:ext uri="{FF2B5EF4-FFF2-40B4-BE49-F238E27FC236}">
                <a16:creationId xmlns:a16="http://schemas.microsoft.com/office/drawing/2014/main" id="{10074576-789E-CA71-7961-0C2E654A204C}"/>
              </a:ext>
            </a:extLst>
          </p:cNvPr>
          <p:cNvCxnSpPr>
            <a:cxnSpLocks/>
          </p:cNvCxnSpPr>
          <p:nvPr userDrawn="1"/>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2008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no 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1066800" y="1645920"/>
            <a:ext cx="10058400" cy="3566160"/>
          </a:xfrm>
        </p:spPr>
        <p:txBody>
          <a:bodyPr anchor="b">
            <a:normAutofit/>
          </a:bodyPr>
          <a:lstStyle>
            <a:lvl1pPr algn="l">
              <a:lnSpc>
                <a:spcPct val="85000"/>
              </a:lnSpc>
              <a:defRPr sz="8000" spc="-50" baseline="0">
                <a:solidFill>
                  <a:schemeClr val="bg1"/>
                </a:solidFill>
              </a:defRPr>
            </a:lvl1pPr>
          </a:lstStyle>
          <a:p>
            <a:r>
              <a:rPr lang="en-US" dirty="0"/>
              <a:t>Title</a:t>
            </a:r>
          </a:p>
        </p:txBody>
      </p:sp>
      <p:sp>
        <p:nvSpPr>
          <p:cNvPr id="4" name="Date Placeholder 3"/>
          <p:cNvSpPr>
            <a:spLocks noGrp="1"/>
          </p:cNvSpPr>
          <p:nvPr>
            <p:ph type="dt" sz="half" idx="10"/>
          </p:nvPr>
        </p:nvSpPr>
        <p:spPr/>
        <p:txBody>
          <a:bodyPr/>
          <a:lstStyle/>
          <a:p>
            <a:fld id="{4B1FDDEC-290C-46A3-AAAC-80B1A205EAA7}" type="datetime1">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cxnSp>
        <p:nvCxnSpPr>
          <p:cNvPr id="8" name="Straight Connector 7">
            <a:extLst>
              <a:ext uri="{FF2B5EF4-FFF2-40B4-BE49-F238E27FC236}">
                <a16:creationId xmlns:a16="http://schemas.microsoft.com/office/drawing/2014/main" id="{10074576-789E-CA71-7961-0C2E654A204C}"/>
              </a:ext>
            </a:extLst>
          </p:cNvPr>
          <p:cNvCxnSpPr>
            <a:cxnSpLocks/>
          </p:cNvCxnSpPr>
          <p:nvPr userDrawn="1"/>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971031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66800" y="1645920"/>
            <a:ext cx="10058400" cy="3566160"/>
          </a:xfrm>
        </p:spPr>
        <p:txBody>
          <a:bodyPr anchor="b">
            <a:normAutofit/>
          </a:bodyPr>
          <a:lstStyle>
            <a:lvl1pPr algn="l">
              <a:lnSpc>
                <a:spcPct val="85000"/>
              </a:lnSpc>
              <a:defRPr sz="8000" spc="-50" baseline="0">
                <a:solidFill>
                  <a:schemeClr val="tx1"/>
                </a:solidFill>
              </a:defRPr>
            </a:lvl1pPr>
          </a:lstStyle>
          <a:p>
            <a:r>
              <a:rPr lang="en-US"/>
              <a:t>Click to edit Master title style</a:t>
            </a:r>
            <a:endParaRPr lang="en-US" dirty="0"/>
          </a:p>
        </p:txBody>
      </p:sp>
      <p:sp>
        <p:nvSpPr>
          <p:cNvPr id="4" name="Date Placeholder 3"/>
          <p:cNvSpPr>
            <a:spLocks noGrp="1"/>
          </p:cNvSpPr>
          <p:nvPr>
            <p:ph type="dt" sz="half" idx="10"/>
          </p:nvPr>
        </p:nvSpPr>
        <p:spPr/>
        <p:txBody>
          <a:bodyPr/>
          <a:lstStyle/>
          <a:p>
            <a:fld id="{4B1FDDEC-290C-46A3-AAAC-80B1A205EAA7}" type="datetime1">
              <a:rPr lang="en-US" smtClean="0"/>
              <a:t>6/6/2026</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3" name="Rectangle 2">
            <a:extLst>
              <a:ext uri="{FF2B5EF4-FFF2-40B4-BE49-F238E27FC236}">
                <a16:creationId xmlns:a16="http://schemas.microsoft.com/office/drawing/2014/main" id="{0CA0D418-9742-98E2-6C3E-5205EFAE8FFF}"/>
              </a:ext>
            </a:extLst>
          </p:cNvPr>
          <p:cNvSpPr/>
          <p:nvPr userDrawn="1"/>
        </p:nvSpPr>
        <p:spPr>
          <a:xfrm rot="5400000">
            <a:off x="-3295487" y="3295487"/>
            <a:ext cx="6857999" cy="2670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700C6AEB-8335-6E9E-EE94-9884670022FF}"/>
              </a:ext>
            </a:extLst>
          </p:cNvPr>
          <p:cNvSpPr/>
          <p:nvPr userDrawn="1"/>
        </p:nvSpPr>
        <p:spPr>
          <a:xfrm rot="5400000">
            <a:off x="-3103658"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9" name="Text Placeholder 8">
            <a:extLst>
              <a:ext uri="{FF2B5EF4-FFF2-40B4-BE49-F238E27FC236}">
                <a16:creationId xmlns:a16="http://schemas.microsoft.com/office/drawing/2014/main" id="{07299F84-C72F-BD47-ED3F-A05836B25612}"/>
              </a:ext>
            </a:extLst>
          </p:cNvPr>
          <p:cNvSpPr>
            <a:spLocks noGrp="1"/>
          </p:cNvSpPr>
          <p:nvPr>
            <p:ph type="body" sz="quarter" idx="13" hasCustomPrompt="1"/>
          </p:nvPr>
        </p:nvSpPr>
        <p:spPr>
          <a:xfrm>
            <a:off x="1066800" y="5382903"/>
            <a:ext cx="10088563" cy="563562"/>
          </a:xfrm>
        </p:spPr>
        <p:txBody>
          <a:bodyPr/>
          <a:lstStyle>
            <a:lvl1pPr>
              <a:defRPr>
                <a:solidFill>
                  <a:schemeClr val="tx1"/>
                </a:solidFill>
              </a:defRPr>
            </a:lvl1pPr>
          </a:lstStyle>
          <a:p>
            <a:pPr lvl="0"/>
            <a:r>
              <a:rPr lang="en-US" dirty="0"/>
              <a:t>Subtitle</a:t>
            </a:r>
          </a:p>
        </p:txBody>
      </p:sp>
      <p:pic>
        <p:nvPicPr>
          <p:cNvPr id="12" name="Picture 11">
            <a:extLst>
              <a:ext uri="{FF2B5EF4-FFF2-40B4-BE49-F238E27FC236}">
                <a16:creationId xmlns:a16="http://schemas.microsoft.com/office/drawing/2014/main" id="{F398BC4B-65E7-05B9-E6F1-DE6B47ED9C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763955" y="624516"/>
            <a:ext cx="368410" cy="387465"/>
          </a:xfrm>
          <a:prstGeom prst="rect">
            <a:avLst/>
          </a:prstGeom>
        </p:spPr>
      </p:pic>
      <p:pic>
        <p:nvPicPr>
          <p:cNvPr id="13" name="Picture 12">
            <a:extLst>
              <a:ext uri="{FF2B5EF4-FFF2-40B4-BE49-F238E27FC236}">
                <a16:creationId xmlns:a16="http://schemas.microsoft.com/office/drawing/2014/main" id="{21370BFB-B222-9C7A-F83D-BFE96233B6E8}"/>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704320" y="21157"/>
            <a:ext cx="487680" cy="530892"/>
          </a:xfrm>
          <a:prstGeom prst="rect">
            <a:avLst/>
          </a:prstGeom>
        </p:spPr>
      </p:pic>
    </p:spTree>
    <p:extLst>
      <p:ext uri="{BB962C8B-B14F-4D97-AF65-F5344CB8AC3E}">
        <p14:creationId xmlns:p14="http://schemas.microsoft.com/office/powerpoint/2010/main" val="156203201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3" name="Content Placeholder 2"/>
          <p:cNvSpPr>
            <a:spLocks noGrp="1"/>
          </p:cNvSpPr>
          <p:nvPr>
            <p:ph idx="1"/>
          </p:nvPr>
        </p:nvSpPr>
        <p:spPr/>
        <p:txBody>
          <a:bodyPr anchor="ctr"/>
          <a:lstStyle>
            <a:lvl1pPr>
              <a:lnSpc>
                <a:spcPct val="150000"/>
              </a:lnSpc>
              <a:defRPr sz="2000">
                <a:latin typeface="+mj-lt"/>
              </a:defRPr>
            </a:lvl1pPr>
            <a:lvl2pPr>
              <a:lnSpc>
                <a:spcPct val="150000"/>
              </a:lnSpc>
              <a:defRPr sz="2000">
                <a:latin typeface="+mj-lt"/>
              </a:defRPr>
            </a:lvl2pPr>
            <a:lvl3pPr>
              <a:lnSpc>
                <a:spcPct val="150000"/>
              </a:lnSpc>
              <a:defRPr sz="2000">
                <a:latin typeface="+mj-lt"/>
              </a:defRPr>
            </a:lvl3pPr>
            <a:lvl4pPr>
              <a:lnSpc>
                <a:spcPct val="150000"/>
              </a:lnSpc>
              <a:defRPr sz="2000">
                <a:latin typeface="+mj-lt"/>
              </a:defRPr>
            </a:lvl4pPr>
            <a:lvl5pPr>
              <a:lnSpc>
                <a:spcPct val="150000"/>
              </a:lnSpc>
              <a:defRPr sz="20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DE1F30BF-6B28-4FAA-9212-08B64EC957B3}" type="datetime1">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16" name="Rectangle 15">
            <a:extLst>
              <a:ext uri="{FF2B5EF4-FFF2-40B4-BE49-F238E27FC236}">
                <a16:creationId xmlns:a16="http://schemas.microsoft.com/office/drawing/2014/main" id="{9857F567-14FC-F17F-85AB-530A3BDF8824}"/>
              </a:ext>
            </a:extLst>
          </p:cNvPr>
          <p:cNvSpPr/>
          <p:nvPr userDrawn="1"/>
        </p:nvSpPr>
        <p:spPr>
          <a:xfrm rot="5400000">
            <a:off x="-3298549" y="3295484"/>
            <a:ext cx="6857999" cy="267028"/>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17" name="Rectangle 16">
            <a:extLst>
              <a:ext uri="{FF2B5EF4-FFF2-40B4-BE49-F238E27FC236}">
                <a16:creationId xmlns:a16="http://schemas.microsoft.com/office/drawing/2014/main" id="{6E559F87-74A3-52AE-A322-0D83C9336BAC}"/>
              </a:ext>
            </a:extLst>
          </p:cNvPr>
          <p:cNvSpPr/>
          <p:nvPr userDrawn="1"/>
        </p:nvSpPr>
        <p:spPr>
          <a:xfrm rot="5400000">
            <a:off x="-3103658"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57872351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dirty="0"/>
              <a:t>Click to edit Master title style</a:t>
            </a:r>
          </a:p>
        </p:txBody>
      </p:sp>
      <p:sp>
        <p:nvSpPr>
          <p:cNvPr id="4" name="Date Placeholder 3"/>
          <p:cNvSpPr>
            <a:spLocks noGrp="1"/>
          </p:cNvSpPr>
          <p:nvPr>
            <p:ph type="dt" sz="half" idx="10"/>
          </p:nvPr>
        </p:nvSpPr>
        <p:spPr/>
        <p:txBody>
          <a:bodyPr/>
          <a:lstStyle/>
          <a:p>
            <a:fld id="{DE1F30BF-6B28-4FAA-9212-08B64EC957B3}" type="datetime1">
              <a:rPr lang="en-US" smtClean="0"/>
              <a:t>6/6/2026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70230A-709D-4205-8636-A3280FD27E74}" type="slidenum">
              <a:rPr lang="en-US" smtClean="0"/>
              <a:t>‹#›</a:t>
            </a:fld>
            <a:endParaRPr lang="en-US"/>
          </a:p>
        </p:txBody>
      </p:sp>
      <p:sp>
        <p:nvSpPr>
          <p:cNvPr id="8" name="Content Placeholder 2">
            <a:extLst>
              <a:ext uri="{FF2B5EF4-FFF2-40B4-BE49-F238E27FC236}">
                <a16:creationId xmlns:a16="http://schemas.microsoft.com/office/drawing/2014/main" id="{1835F779-EFD6-5B30-F51C-BF528035E564}"/>
              </a:ext>
            </a:extLst>
          </p:cNvPr>
          <p:cNvSpPr>
            <a:spLocks noGrp="1"/>
          </p:cNvSpPr>
          <p:nvPr>
            <p:ph idx="13"/>
          </p:nvPr>
        </p:nvSpPr>
        <p:spPr>
          <a:xfrm>
            <a:off x="1097280" y="1905000"/>
            <a:ext cx="10058400" cy="4023360"/>
          </a:xfrm>
        </p:spPr>
        <p:txBody>
          <a:bodyPr anchor="ctr"/>
          <a:lstStyle>
            <a:lvl1pPr>
              <a:lnSpc>
                <a:spcPct val="150000"/>
              </a:lnSpc>
              <a:defRPr sz="2000">
                <a:latin typeface="+mj-lt"/>
              </a:defRPr>
            </a:lvl1pPr>
            <a:lvl2pPr>
              <a:lnSpc>
                <a:spcPct val="150000"/>
              </a:lnSpc>
              <a:defRPr sz="2000">
                <a:latin typeface="+mj-lt"/>
              </a:defRPr>
            </a:lvl2pPr>
            <a:lvl3pPr>
              <a:lnSpc>
                <a:spcPct val="150000"/>
              </a:lnSpc>
              <a:defRPr sz="2000">
                <a:latin typeface="+mj-lt"/>
              </a:defRPr>
            </a:lvl3pPr>
            <a:lvl4pPr>
              <a:lnSpc>
                <a:spcPct val="150000"/>
              </a:lnSpc>
              <a:defRPr sz="2000">
                <a:latin typeface="+mj-lt"/>
              </a:defRPr>
            </a:lvl4pPr>
            <a:lvl5pPr>
              <a:lnSpc>
                <a:spcPct val="150000"/>
              </a:lnSpc>
              <a:defRPr sz="2000">
                <a:latin typeface="+mj-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794166925"/>
      </p:ext>
    </p:extLst>
  </p:cSld>
  <p:clrMapOvr>
    <a:masterClrMapping/>
  </p:clrMapOvr>
  <p:extLst>
    <p:ext uri="{DCECCB84-F9BA-43D5-87BE-67443E8EF086}">
      <p15:sldGuideLst xmlns:p15="http://schemas.microsoft.com/office/powerpoint/2012/main">
        <p15:guide id="1" orient="horz" pos="1200" userDrawn="1">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8353A8A-47A8-46D0-A2B9-12A1E64172B9}" type="datetime1">
              <a:rPr lang="en-US" smtClean="0"/>
              <a:t>6/6/2026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70230A-709D-4205-8636-A3280FD27E74}" type="slidenum">
              <a:rPr lang="en-US" smtClean="0"/>
              <a:t>‹#›</a:t>
            </a:fld>
            <a:endParaRPr lang="en-US"/>
          </a:p>
        </p:txBody>
      </p:sp>
      <p:sp>
        <p:nvSpPr>
          <p:cNvPr id="2" name="Rectangle 1">
            <a:extLst>
              <a:ext uri="{FF2B5EF4-FFF2-40B4-BE49-F238E27FC236}">
                <a16:creationId xmlns:a16="http://schemas.microsoft.com/office/drawing/2014/main" id="{BEE4CEAB-A99B-03F8-83CD-0EC1B3251176}"/>
              </a:ext>
            </a:extLst>
          </p:cNvPr>
          <p:cNvSpPr/>
          <p:nvPr userDrawn="1"/>
        </p:nvSpPr>
        <p:spPr>
          <a:xfrm rot="5400000">
            <a:off x="-9212254" y="-2621282"/>
            <a:ext cx="6857999" cy="1210056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Tree>
    <p:extLst>
      <p:ext uri="{BB962C8B-B14F-4D97-AF65-F5344CB8AC3E}">
        <p14:creationId xmlns:p14="http://schemas.microsoft.com/office/powerpoint/2010/main" val="21115244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E4985AA-0B3D-4F07-ACA1-EDC07BA37A19}" type="datetime1">
              <a:rPr lang="en-US" smtClean="0"/>
              <a:t>6/6/2026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70230A-709D-4205-8636-A3280FD27E74}" type="slidenum">
              <a:rPr lang="en-US" smtClean="0"/>
              <a:t>‹#›</a:t>
            </a:fld>
            <a:endParaRPr lang="en-US"/>
          </a:p>
        </p:txBody>
      </p:sp>
      <p:sp>
        <p:nvSpPr>
          <p:cNvPr id="2" name="Rectangle 1">
            <a:extLst>
              <a:ext uri="{FF2B5EF4-FFF2-40B4-BE49-F238E27FC236}">
                <a16:creationId xmlns:a16="http://schemas.microsoft.com/office/drawing/2014/main" id="{EF6EDF1D-7395-91FA-0F78-3E7786280808}"/>
              </a:ext>
            </a:extLst>
          </p:cNvPr>
          <p:cNvSpPr/>
          <p:nvPr userDrawn="1"/>
        </p:nvSpPr>
        <p:spPr>
          <a:xfrm rot="5400000">
            <a:off x="-9212254" y="-2621282"/>
            <a:ext cx="6857999" cy="12100562"/>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Tree>
    <p:extLst>
      <p:ext uri="{BB962C8B-B14F-4D97-AF65-F5344CB8AC3E}">
        <p14:creationId xmlns:p14="http://schemas.microsoft.com/office/powerpoint/2010/main" val="35956960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chemeClr val="tx1"/>
                </a:solidFill>
              </a:defRPr>
            </a:lvl1pPr>
          </a:lstStyle>
          <a:p>
            <a:fld id="{E7D051F9-C035-4AC7-BE34-6B05C97A3AC6}" type="datetime1">
              <a:rPr lang="en-US" smtClean="0"/>
              <a:pPr/>
              <a:t>6/6/2026</a:t>
            </a:fld>
            <a:endParaRPr lang="en-US"/>
          </a:p>
        </p:txBody>
      </p:sp>
      <p:sp>
        <p:nvSpPr>
          <p:cNvPr id="5" name="Footer Placeholder 4"/>
          <p:cNvSpPr>
            <a:spLocks noGrp="1"/>
          </p:cNvSpPr>
          <p:nvPr>
            <p:ph type="ftr" sz="quarter" idx="3"/>
          </p:nvPr>
        </p:nvSpPr>
        <p:spPr>
          <a:xfrm>
            <a:off x="3715078" y="6459785"/>
            <a:ext cx="4822804" cy="365125"/>
          </a:xfrm>
          <a:prstGeom prst="rect">
            <a:avLst/>
          </a:prstGeom>
        </p:spPr>
        <p:txBody>
          <a:bodyPr vert="horz" lIns="91440" tIns="45720" rIns="91440" bIns="45720" rtlCol="0" anchor="ctr"/>
          <a:lstStyle>
            <a:lvl1pPr algn="ctr">
              <a:defRPr sz="900" cap="all" baseline="0">
                <a:solidFill>
                  <a:schemeClr val="tx1"/>
                </a:solidFill>
              </a:defRPr>
            </a:lvl1pPr>
          </a:lstStyle>
          <a:p>
            <a:endParaRPr lang="en-US" dirty="0">
              <a:solidFill>
                <a:schemeClr val="tx1"/>
              </a:solidFill>
            </a:endParaRPr>
          </a:p>
        </p:txBody>
      </p:sp>
      <p:sp>
        <p:nvSpPr>
          <p:cNvPr id="6" name="Slide Number Placeholder 5"/>
          <p:cNvSpPr>
            <a:spLocks noGrp="1"/>
          </p:cNvSpPr>
          <p:nvPr>
            <p:ph type="sldNum" sz="quarter" idx="4"/>
          </p:nvPr>
        </p:nvSpPr>
        <p:spPr>
          <a:xfrm>
            <a:off x="9843655" y="6459785"/>
            <a:ext cx="1312025" cy="365125"/>
          </a:xfrm>
          <a:prstGeom prst="rect">
            <a:avLst/>
          </a:prstGeom>
        </p:spPr>
        <p:txBody>
          <a:bodyPr vert="horz" lIns="91440" tIns="45720" rIns="91440" bIns="45720" rtlCol="0" anchor="ctr"/>
          <a:lstStyle>
            <a:lvl1pPr algn="r">
              <a:defRPr sz="1050">
                <a:solidFill>
                  <a:schemeClr val="tx1"/>
                </a:solidFill>
              </a:defRPr>
            </a:lvl1pPr>
          </a:lstStyle>
          <a:p>
            <a:fld id="{1370230A-709D-4205-8636-A3280FD27E74}" type="slidenum">
              <a:rPr lang="en-US" smtClean="0"/>
              <a:pPr/>
              <a:t>‹#›</a:t>
            </a:fld>
            <a:endParaRPr lang="en-US" dirty="0"/>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DE884CB-02EA-EAFF-4D26-EFCEC9165BB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11763955" y="624516"/>
            <a:ext cx="368410" cy="387465"/>
          </a:xfrm>
          <a:prstGeom prst="rect">
            <a:avLst/>
          </a:prstGeom>
        </p:spPr>
      </p:pic>
      <p:pic>
        <p:nvPicPr>
          <p:cNvPr id="15" name="Picture 14">
            <a:extLst>
              <a:ext uri="{FF2B5EF4-FFF2-40B4-BE49-F238E27FC236}">
                <a16:creationId xmlns:a16="http://schemas.microsoft.com/office/drawing/2014/main" id="{6355FA32-0551-8FA2-0044-702EFCA091F8}"/>
              </a:ext>
            </a:extLst>
          </p:cNvPr>
          <p:cNvPicPr>
            <a:picLocks noChangeAspect="1"/>
          </p:cNvPicPr>
          <p:nvPr userDrawn="1"/>
        </p:nvPicPr>
        <p:blipFill>
          <a:blip r:embed="rId10">
            <a:extLst>
              <a:ext uri="{28A0092B-C50C-407E-A947-70E740481C1C}">
                <a14:useLocalDpi xmlns:a14="http://schemas.microsoft.com/office/drawing/2010/main" val="0"/>
              </a:ext>
            </a:extLst>
          </a:blip>
          <a:stretch>
            <a:fillRect/>
          </a:stretch>
        </p:blipFill>
        <p:spPr>
          <a:xfrm>
            <a:off x="11704320" y="21157"/>
            <a:ext cx="487680" cy="530892"/>
          </a:xfrm>
          <a:prstGeom prst="rect">
            <a:avLst/>
          </a:prstGeom>
        </p:spPr>
      </p:pic>
    </p:spTree>
    <p:extLst>
      <p:ext uri="{BB962C8B-B14F-4D97-AF65-F5344CB8AC3E}">
        <p14:creationId xmlns:p14="http://schemas.microsoft.com/office/powerpoint/2010/main" val="217129853"/>
      </p:ext>
    </p:extLst>
  </p:cSld>
  <p:clrMap bg1="lt1" tx1="dk1" bg2="lt2" tx2="dk2" accent1="accent1" accent2="accent2" accent3="accent3" accent4="accent4" accent5="accent5" accent6="accent6" hlink="hlink" folHlink="folHlink"/>
  <p:sldLayoutIdLst>
    <p:sldLayoutId id="2147483661" r:id="rId1"/>
    <p:sldLayoutId id="2147483667" r:id="rId2"/>
    <p:sldLayoutId id="2147483666" r:id="rId3"/>
    <p:sldLayoutId id="2147483662" r:id="rId4"/>
    <p:sldLayoutId id="2147483668" r:id="rId5"/>
    <p:sldLayoutId id="2147483664" r:id="rId6"/>
    <p:sldLayoutId id="2147483665" r:id="rId7"/>
  </p:sldLayoutIdLst>
  <p:hf hdr="0" ftr="0" dt="0"/>
  <p:txStyles>
    <p:titleStyle>
      <a:lvl1pPr algn="l" defTabSz="914400" rtl="0" eaLnBrk="1" latinLnBrk="0" hangingPunct="1">
        <a:lnSpc>
          <a:spcPct val="85000"/>
        </a:lnSpc>
        <a:spcBef>
          <a:spcPct val="0"/>
        </a:spcBef>
        <a:buNone/>
        <a:defRPr sz="4800" kern="1200" spc="-50" baseline="0">
          <a:solidFill>
            <a:schemeClr val="tx1"/>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3893FC-F9B0-B36D-4BB7-D4316022452A}"/>
              </a:ext>
            </a:extLst>
          </p:cNvPr>
          <p:cNvSpPr>
            <a:spLocks noGrp="1"/>
          </p:cNvSpPr>
          <p:nvPr>
            <p:ph type="ctrTitle"/>
          </p:nvPr>
        </p:nvSpPr>
        <p:spPr>
          <a:xfrm>
            <a:off x="1066800" y="710582"/>
            <a:ext cx="10058400" cy="3566160"/>
          </a:xfrm>
        </p:spPr>
        <p:txBody>
          <a:bodyPr/>
          <a:lstStyle/>
          <a:p>
            <a:r>
              <a:rPr lang="en-US" dirty="0"/>
              <a:t>AI Portfolio Optimization</a:t>
            </a:r>
          </a:p>
        </p:txBody>
      </p:sp>
      <p:sp>
        <p:nvSpPr>
          <p:cNvPr id="3" name="Slide Number Placeholder 2">
            <a:extLst>
              <a:ext uri="{FF2B5EF4-FFF2-40B4-BE49-F238E27FC236}">
                <a16:creationId xmlns:a16="http://schemas.microsoft.com/office/drawing/2014/main" id="{77BB36AC-D6C3-B69C-7C02-0F845150D5E3}"/>
              </a:ext>
            </a:extLst>
          </p:cNvPr>
          <p:cNvSpPr>
            <a:spLocks noGrp="1"/>
          </p:cNvSpPr>
          <p:nvPr>
            <p:ph type="sldNum" sz="quarter" idx="12"/>
          </p:nvPr>
        </p:nvSpPr>
        <p:spPr/>
        <p:txBody>
          <a:bodyPr/>
          <a:lstStyle/>
          <a:p>
            <a:fld id="{1370230A-709D-4205-8636-A3280FD27E74}" type="slidenum">
              <a:rPr lang="en-US" smtClean="0"/>
              <a:t>1</a:t>
            </a:fld>
            <a:endParaRPr lang="en-US"/>
          </a:p>
        </p:txBody>
      </p:sp>
      <p:sp>
        <p:nvSpPr>
          <p:cNvPr id="4" name="Text Placeholder 3">
            <a:extLst>
              <a:ext uri="{FF2B5EF4-FFF2-40B4-BE49-F238E27FC236}">
                <a16:creationId xmlns:a16="http://schemas.microsoft.com/office/drawing/2014/main" id="{A8463DD1-B19E-F441-7764-8F399EFB4871}"/>
              </a:ext>
            </a:extLst>
          </p:cNvPr>
          <p:cNvSpPr>
            <a:spLocks noGrp="1"/>
          </p:cNvSpPr>
          <p:nvPr>
            <p:ph type="body" sz="quarter" idx="13"/>
          </p:nvPr>
        </p:nvSpPr>
        <p:spPr>
          <a:xfrm>
            <a:off x="1066800" y="4447565"/>
            <a:ext cx="10088563" cy="563562"/>
          </a:xfrm>
        </p:spPr>
        <p:txBody>
          <a:bodyPr/>
          <a:lstStyle/>
          <a:p>
            <a:r>
              <a:rPr lang="en-US" dirty="0"/>
              <a:t>Asset Universe Selection Based on Investor Profiles </a:t>
            </a:r>
          </a:p>
        </p:txBody>
      </p:sp>
      <p:sp>
        <p:nvSpPr>
          <p:cNvPr id="5" name="Footer Placeholder 4">
            <a:extLst>
              <a:ext uri="{FF2B5EF4-FFF2-40B4-BE49-F238E27FC236}">
                <a16:creationId xmlns:a16="http://schemas.microsoft.com/office/drawing/2014/main" id="{54E6A75A-3A33-3009-3FDB-25CDBEAD3027}"/>
              </a:ext>
            </a:extLst>
          </p:cNvPr>
          <p:cNvSpPr>
            <a:spLocks noGrp="1"/>
          </p:cNvSpPr>
          <p:nvPr>
            <p:ph type="ftr" sz="quarter" idx="11"/>
          </p:nvPr>
        </p:nvSpPr>
        <p:spPr/>
        <p:txBody>
          <a:bodyPr/>
          <a:lstStyle/>
          <a:p>
            <a:r>
              <a:rPr lang="en-US" dirty="0"/>
              <a:t>Ali Abuelkheir</a:t>
            </a:r>
          </a:p>
        </p:txBody>
      </p:sp>
    </p:spTree>
    <p:extLst>
      <p:ext uri="{BB962C8B-B14F-4D97-AF65-F5344CB8AC3E}">
        <p14:creationId xmlns:p14="http://schemas.microsoft.com/office/powerpoint/2010/main" val="24633886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DCFD8F-1BD1-BD13-B043-76933748979A}"/>
              </a:ext>
            </a:extLst>
          </p:cNvPr>
          <p:cNvSpPr>
            <a:spLocks noGrp="1"/>
          </p:cNvSpPr>
          <p:nvPr>
            <p:ph type="title"/>
          </p:nvPr>
        </p:nvSpPr>
        <p:spPr/>
        <p:txBody>
          <a:bodyPr/>
          <a:lstStyle/>
          <a:p>
            <a:r>
              <a:rPr lang="en-US" dirty="0"/>
              <a:t>Roadmap</a:t>
            </a:r>
          </a:p>
        </p:txBody>
      </p:sp>
      <p:sp>
        <p:nvSpPr>
          <p:cNvPr id="3" name="Content Placeholder 2">
            <a:extLst>
              <a:ext uri="{FF2B5EF4-FFF2-40B4-BE49-F238E27FC236}">
                <a16:creationId xmlns:a16="http://schemas.microsoft.com/office/drawing/2014/main" id="{A936CBA1-95C0-B7DC-8B10-E9E9BD8E2583}"/>
              </a:ext>
            </a:extLst>
          </p:cNvPr>
          <p:cNvSpPr>
            <a:spLocks noGrp="1"/>
          </p:cNvSpPr>
          <p:nvPr>
            <p:ph idx="4294967295"/>
          </p:nvPr>
        </p:nvSpPr>
        <p:spPr>
          <a:xfrm>
            <a:off x="1097280" y="1845734"/>
            <a:ext cx="10058400" cy="4023360"/>
          </a:xfrm>
        </p:spPr>
        <p:txBody>
          <a:bodyPr/>
          <a:lstStyle/>
          <a:p>
            <a:pPr lvl="1">
              <a:lnSpc>
                <a:spcPct val="150000"/>
              </a:lnSpc>
            </a:pPr>
            <a:r>
              <a:rPr lang="en-US" dirty="0">
                <a:latin typeface="+mj-lt"/>
              </a:rPr>
              <a:t> Problem Definition</a:t>
            </a:r>
          </a:p>
          <a:p>
            <a:pPr lvl="1">
              <a:lnSpc>
                <a:spcPct val="150000"/>
              </a:lnSpc>
            </a:pPr>
            <a:r>
              <a:rPr lang="en-US" dirty="0">
                <a:latin typeface="+mj-lt"/>
              </a:rPr>
              <a:t> Literature Gap</a:t>
            </a:r>
          </a:p>
          <a:p>
            <a:pPr lvl="1">
              <a:lnSpc>
                <a:spcPct val="150000"/>
              </a:lnSpc>
            </a:pPr>
            <a:r>
              <a:rPr lang="en-US" dirty="0">
                <a:latin typeface="+mj-lt"/>
              </a:rPr>
              <a:t> Proposed Solution</a:t>
            </a:r>
          </a:p>
          <a:p>
            <a:pPr lvl="1">
              <a:lnSpc>
                <a:spcPct val="150000"/>
              </a:lnSpc>
            </a:pPr>
            <a:r>
              <a:rPr lang="en-US" dirty="0">
                <a:latin typeface="+mj-lt"/>
              </a:rPr>
              <a:t> Methodology &amp; Experiments</a:t>
            </a:r>
          </a:p>
          <a:p>
            <a:pPr lvl="1">
              <a:lnSpc>
                <a:spcPct val="150000"/>
              </a:lnSpc>
            </a:pPr>
            <a:r>
              <a:rPr lang="en-US" dirty="0">
                <a:latin typeface="+mj-lt"/>
              </a:rPr>
              <a:t> Results</a:t>
            </a:r>
          </a:p>
          <a:p>
            <a:pPr lvl="1">
              <a:lnSpc>
                <a:spcPct val="150000"/>
              </a:lnSpc>
            </a:pPr>
            <a:r>
              <a:rPr lang="en-US" dirty="0">
                <a:latin typeface="+mj-lt"/>
              </a:rPr>
              <a:t> Conclusion</a:t>
            </a:r>
          </a:p>
          <a:p>
            <a:pPr lvl="1">
              <a:lnSpc>
                <a:spcPct val="150000"/>
              </a:lnSpc>
            </a:pPr>
            <a:r>
              <a:rPr lang="en-US" dirty="0">
                <a:latin typeface="+mj-lt"/>
              </a:rPr>
              <a:t> Future Work</a:t>
            </a:r>
          </a:p>
        </p:txBody>
      </p:sp>
      <p:sp>
        <p:nvSpPr>
          <p:cNvPr id="4" name="Slide Number Placeholder 3">
            <a:extLst>
              <a:ext uri="{FF2B5EF4-FFF2-40B4-BE49-F238E27FC236}">
                <a16:creationId xmlns:a16="http://schemas.microsoft.com/office/drawing/2014/main" id="{12126643-F429-7389-C306-21666321131B}"/>
              </a:ext>
            </a:extLst>
          </p:cNvPr>
          <p:cNvSpPr>
            <a:spLocks noGrp="1"/>
          </p:cNvSpPr>
          <p:nvPr>
            <p:ph type="sldNum" sz="quarter" idx="12"/>
          </p:nvPr>
        </p:nvSpPr>
        <p:spPr/>
        <p:txBody>
          <a:bodyPr/>
          <a:lstStyle/>
          <a:p>
            <a:fld id="{1370230A-709D-4205-8636-A3280FD27E74}" type="slidenum">
              <a:rPr lang="en-US" smtClean="0"/>
              <a:t>2</a:t>
            </a:fld>
            <a:endParaRPr lang="en-US"/>
          </a:p>
        </p:txBody>
      </p:sp>
      <p:sp>
        <p:nvSpPr>
          <p:cNvPr id="5" name="Rectangle 4">
            <a:extLst>
              <a:ext uri="{FF2B5EF4-FFF2-40B4-BE49-F238E27FC236}">
                <a16:creationId xmlns:a16="http://schemas.microsoft.com/office/drawing/2014/main" id="{4D86D448-2B1B-22BE-7C19-07F89A04F693}"/>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9663580D-781F-D656-801E-2756D72436E3}"/>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884392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7B0704-EDF5-87B7-B348-CA9D2B897378}"/>
              </a:ext>
            </a:extLst>
          </p:cNvPr>
          <p:cNvSpPr/>
          <p:nvPr/>
        </p:nvSpPr>
        <p:spPr>
          <a:xfrm rot="5400000">
            <a:off x="2631179" y="-2634243"/>
            <a:ext cx="6857999" cy="12126486"/>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5" name="Rectangle 4">
            <a:extLst>
              <a:ext uri="{FF2B5EF4-FFF2-40B4-BE49-F238E27FC236}">
                <a16:creationId xmlns:a16="http://schemas.microsoft.com/office/drawing/2014/main" id="{345334D6-F56D-FABF-93CE-03569DCDA486}"/>
              </a:ext>
            </a:extLst>
          </p:cNvPr>
          <p:cNvSpPr/>
          <p:nvPr/>
        </p:nvSpPr>
        <p:spPr>
          <a:xfrm rot="5400000">
            <a:off x="8762998"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212DF2D1-B6A8-3377-62C4-B2D7860E7A83}"/>
              </a:ext>
            </a:extLst>
          </p:cNvPr>
          <p:cNvSpPr>
            <a:spLocks noGrp="1"/>
          </p:cNvSpPr>
          <p:nvPr>
            <p:ph type="ctrTitle"/>
          </p:nvPr>
        </p:nvSpPr>
        <p:spPr/>
        <p:txBody>
          <a:bodyPr/>
          <a:lstStyle/>
          <a:p>
            <a:r>
              <a:rPr lang="en-US" dirty="0"/>
              <a:t>Problem Definition</a:t>
            </a:r>
          </a:p>
        </p:txBody>
      </p:sp>
      <p:sp>
        <p:nvSpPr>
          <p:cNvPr id="3" name="Slide Number Placeholder 2">
            <a:extLst>
              <a:ext uri="{FF2B5EF4-FFF2-40B4-BE49-F238E27FC236}">
                <a16:creationId xmlns:a16="http://schemas.microsoft.com/office/drawing/2014/main" id="{6BD49974-80E6-FA83-AF21-F92661F4A079}"/>
              </a:ext>
            </a:extLst>
          </p:cNvPr>
          <p:cNvSpPr>
            <a:spLocks noGrp="1"/>
          </p:cNvSpPr>
          <p:nvPr>
            <p:ph type="sldNum" sz="quarter" idx="12"/>
          </p:nvPr>
        </p:nvSpPr>
        <p:spPr/>
        <p:txBody>
          <a:bodyPr/>
          <a:lstStyle/>
          <a:p>
            <a:fld id="{1370230A-709D-4205-8636-A3280FD27E74}" type="slidenum">
              <a:rPr lang="en-US" smtClean="0"/>
              <a:t>3</a:t>
            </a:fld>
            <a:endParaRPr lang="en-US"/>
          </a:p>
        </p:txBody>
      </p:sp>
      <p:cxnSp>
        <p:nvCxnSpPr>
          <p:cNvPr id="6" name="Straight Connector 5">
            <a:extLst>
              <a:ext uri="{FF2B5EF4-FFF2-40B4-BE49-F238E27FC236}">
                <a16:creationId xmlns:a16="http://schemas.microsoft.com/office/drawing/2014/main" id="{B584379A-D6F8-6135-C1E5-F6DEC4EEEE57}"/>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01925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F5BCB-D930-ABD2-2CFD-38C5F2C3C4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F0589A1-80DC-95C9-78FD-AA360F82516E}"/>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5" name="Rectangle 4">
            <a:extLst>
              <a:ext uri="{FF2B5EF4-FFF2-40B4-BE49-F238E27FC236}">
                <a16:creationId xmlns:a16="http://schemas.microsoft.com/office/drawing/2014/main" id="{9FE629CE-8A37-CF84-0304-7FA565939C47}"/>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A3440B8D-00A8-F719-D861-840DB2703888}"/>
              </a:ext>
            </a:extLst>
          </p:cNvPr>
          <p:cNvSpPr>
            <a:spLocks noGrp="1"/>
          </p:cNvSpPr>
          <p:nvPr>
            <p:ph type="title"/>
          </p:nvPr>
        </p:nvSpPr>
        <p:spPr/>
        <p:txBody>
          <a:bodyPr/>
          <a:lstStyle/>
          <a:p>
            <a:r>
              <a:rPr lang="en-US" dirty="0"/>
              <a:t>The Fixed-Universe Assumption</a:t>
            </a:r>
          </a:p>
        </p:txBody>
      </p:sp>
      <p:sp>
        <p:nvSpPr>
          <p:cNvPr id="6" name="Content Placeholder 5">
            <a:extLst>
              <a:ext uri="{FF2B5EF4-FFF2-40B4-BE49-F238E27FC236}">
                <a16:creationId xmlns:a16="http://schemas.microsoft.com/office/drawing/2014/main" id="{A8FA6A92-524D-4141-68E6-3FE618038B42}"/>
              </a:ext>
            </a:extLst>
          </p:cNvPr>
          <p:cNvSpPr>
            <a:spLocks noGrp="1"/>
          </p:cNvSpPr>
          <p:nvPr>
            <p:ph idx="4294967295"/>
          </p:nvPr>
        </p:nvSpPr>
        <p:spPr>
          <a:xfrm>
            <a:off x="1097280" y="1845734"/>
            <a:ext cx="10058400" cy="4023360"/>
          </a:xfrm>
        </p:spPr>
        <p:txBody>
          <a:bodyPr anchor="ctr">
            <a:normAutofit/>
          </a:bodyPr>
          <a:lstStyle/>
          <a:p>
            <a:pPr lvl="1">
              <a:lnSpc>
                <a:spcPct val="150000"/>
              </a:lnSpc>
              <a:buFont typeface="Courier New" panose="02070309020205020404" pitchFamily="49" charset="0"/>
              <a:buChar char="o"/>
            </a:pPr>
            <a:r>
              <a:rPr lang="en-US" sz="2000" dirty="0">
                <a:latin typeface="+mj-lt"/>
              </a:rPr>
              <a:t>Optimization often starts after assets are already chosen</a:t>
            </a:r>
          </a:p>
          <a:p>
            <a:pPr lvl="1">
              <a:lnSpc>
                <a:spcPct val="150000"/>
              </a:lnSpc>
              <a:buFont typeface="Courier New" panose="02070309020205020404" pitchFamily="49" charset="0"/>
              <a:buChar char="o"/>
            </a:pPr>
            <a:r>
              <a:rPr lang="en-US" sz="2000" dirty="0">
                <a:latin typeface="+mj-lt"/>
              </a:rPr>
              <a:t> A weak candidate universe limits even a strong optimizer</a:t>
            </a:r>
          </a:p>
          <a:p>
            <a:pPr lvl="1">
              <a:lnSpc>
                <a:spcPct val="150000"/>
              </a:lnSpc>
              <a:buFont typeface="Courier New" panose="02070309020205020404" pitchFamily="49" charset="0"/>
              <a:buChar char="o"/>
            </a:pPr>
            <a:r>
              <a:rPr lang="en-US" sz="2000" dirty="0">
                <a:latin typeface="+mj-lt"/>
              </a:rPr>
              <a:t> This thesis studies selection before allocation</a:t>
            </a:r>
          </a:p>
        </p:txBody>
      </p:sp>
      <p:sp>
        <p:nvSpPr>
          <p:cNvPr id="3" name="Slide Number Placeholder 2">
            <a:extLst>
              <a:ext uri="{FF2B5EF4-FFF2-40B4-BE49-F238E27FC236}">
                <a16:creationId xmlns:a16="http://schemas.microsoft.com/office/drawing/2014/main" id="{5BAB15C4-2E28-D680-39BD-6D38B5B7D566}"/>
              </a:ext>
            </a:extLst>
          </p:cNvPr>
          <p:cNvSpPr>
            <a:spLocks noGrp="1"/>
          </p:cNvSpPr>
          <p:nvPr>
            <p:ph type="sldNum" sz="quarter" idx="12"/>
          </p:nvPr>
        </p:nvSpPr>
        <p:spPr/>
        <p:txBody>
          <a:bodyPr/>
          <a:lstStyle/>
          <a:p>
            <a:fld id="{1370230A-709D-4205-8636-A3280FD27E74}" type="slidenum">
              <a:rPr lang="en-US" smtClean="0"/>
              <a:t>4</a:t>
            </a:fld>
            <a:endParaRPr lang="en-US"/>
          </a:p>
        </p:txBody>
      </p:sp>
    </p:spTree>
    <p:extLst>
      <p:ext uri="{BB962C8B-B14F-4D97-AF65-F5344CB8AC3E}">
        <p14:creationId xmlns:p14="http://schemas.microsoft.com/office/powerpoint/2010/main" val="302802591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2F457-A928-2382-72CD-582C427C1012}"/>
              </a:ext>
            </a:extLst>
          </p:cNvPr>
          <p:cNvSpPr>
            <a:spLocks noGrp="1"/>
          </p:cNvSpPr>
          <p:nvPr>
            <p:ph type="title"/>
          </p:nvPr>
        </p:nvSpPr>
        <p:spPr/>
        <p:txBody>
          <a:bodyPr/>
          <a:lstStyle/>
          <a:p>
            <a:r>
              <a:rPr lang="en-US" dirty="0"/>
              <a:t>Why Universe Selection Matters</a:t>
            </a:r>
            <a:r>
              <a:rPr lang="en-US" dirty="0">
                <a:latin typeface="+mn-lt"/>
              </a:rPr>
              <a:t>?</a:t>
            </a:r>
          </a:p>
        </p:txBody>
      </p:sp>
      <p:sp>
        <p:nvSpPr>
          <p:cNvPr id="3" name="Content Placeholder 2">
            <a:extLst>
              <a:ext uri="{FF2B5EF4-FFF2-40B4-BE49-F238E27FC236}">
                <a16:creationId xmlns:a16="http://schemas.microsoft.com/office/drawing/2014/main" id="{27692A72-F083-7753-2F9E-0EAD7DC3CCDE}"/>
              </a:ext>
            </a:extLst>
          </p:cNvPr>
          <p:cNvSpPr>
            <a:spLocks noGrp="1"/>
          </p:cNvSpPr>
          <p:nvPr>
            <p:ph idx="1"/>
          </p:nvPr>
        </p:nvSpPr>
        <p:spPr/>
        <p:txBody>
          <a:bodyPr anchor="ctr">
            <a:normAutofit/>
          </a:bodyPr>
          <a:lstStyle/>
          <a:p>
            <a:pPr lvl="1">
              <a:lnSpc>
                <a:spcPct val="150000"/>
              </a:lnSpc>
            </a:pPr>
            <a:r>
              <a:rPr lang="en-US" sz="2000" dirty="0">
                <a:latin typeface="+mj-lt"/>
              </a:rPr>
              <a:t> Conservative, balanced, and aggressive investors need different starting universes</a:t>
            </a:r>
          </a:p>
          <a:p>
            <a:pPr lvl="1">
              <a:lnSpc>
                <a:spcPct val="150000"/>
              </a:lnSpc>
            </a:pPr>
            <a:r>
              <a:rPr lang="en-US" sz="2000" dirty="0">
                <a:latin typeface="+mj-lt"/>
              </a:rPr>
              <a:t> Inflation, currency movement, volatility, and drawdowns shift risk behavior</a:t>
            </a:r>
          </a:p>
          <a:p>
            <a:pPr lvl="1">
              <a:lnSpc>
                <a:spcPct val="150000"/>
              </a:lnSpc>
            </a:pPr>
            <a:r>
              <a:rPr lang="en-US" sz="2000" dirty="0">
                <a:latin typeface="+mj-lt"/>
              </a:rPr>
              <a:t> Suitability is treated as risk behavior first</a:t>
            </a:r>
          </a:p>
        </p:txBody>
      </p:sp>
      <p:sp>
        <p:nvSpPr>
          <p:cNvPr id="4" name="Slide Number Placeholder 3">
            <a:extLst>
              <a:ext uri="{FF2B5EF4-FFF2-40B4-BE49-F238E27FC236}">
                <a16:creationId xmlns:a16="http://schemas.microsoft.com/office/drawing/2014/main" id="{3B11C668-321F-2554-8860-307B464778AD}"/>
              </a:ext>
            </a:extLst>
          </p:cNvPr>
          <p:cNvSpPr>
            <a:spLocks noGrp="1"/>
          </p:cNvSpPr>
          <p:nvPr>
            <p:ph type="sldNum" sz="quarter" idx="12"/>
          </p:nvPr>
        </p:nvSpPr>
        <p:spPr/>
        <p:txBody>
          <a:bodyPr/>
          <a:lstStyle/>
          <a:p>
            <a:fld id="{1370230A-709D-4205-8636-A3280FD27E74}" type="slidenum">
              <a:rPr lang="en-US" smtClean="0"/>
              <a:t>5</a:t>
            </a:fld>
            <a:endParaRPr lang="en-US"/>
          </a:p>
        </p:txBody>
      </p:sp>
    </p:spTree>
    <p:extLst>
      <p:ext uri="{BB962C8B-B14F-4D97-AF65-F5344CB8AC3E}">
        <p14:creationId xmlns:p14="http://schemas.microsoft.com/office/powerpoint/2010/main" val="3731951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5CD4F-1996-FF0F-7194-611C937187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7AF12C-0EFA-BA31-2015-B1A179DA8E75}"/>
              </a:ext>
            </a:extLst>
          </p:cNvPr>
          <p:cNvSpPr>
            <a:spLocks noGrp="1"/>
          </p:cNvSpPr>
          <p:nvPr>
            <p:ph type="title"/>
          </p:nvPr>
        </p:nvSpPr>
        <p:spPr/>
        <p:txBody>
          <a:bodyPr/>
          <a:lstStyle/>
          <a:p>
            <a:r>
              <a:rPr lang="en-US" dirty="0"/>
              <a:t>Scope and Asset Universe</a:t>
            </a:r>
          </a:p>
        </p:txBody>
      </p:sp>
      <p:sp>
        <p:nvSpPr>
          <p:cNvPr id="3" name="Content Placeholder 2">
            <a:extLst>
              <a:ext uri="{FF2B5EF4-FFF2-40B4-BE49-F238E27FC236}">
                <a16:creationId xmlns:a16="http://schemas.microsoft.com/office/drawing/2014/main" id="{09CA013C-F3A6-C572-7A49-8F835B7D3899}"/>
              </a:ext>
            </a:extLst>
          </p:cNvPr>
          <p:cNvSpPr>
            <a:spLocks noGrp="1"/>
          </p:cNvSpPr>
          <p:nvPr>
            <p:ph idx="1"/>
          </p:nvPr>
        </p:nvSpPr>
        <p:spPr/>
        <p:txBody>
          <a:bodyPr anchor="ctr">
            <a:normAutofit/>
          </a:bodyPr>
          <a:lstStyle/>
          <a:p>
            <a:pPr lvl="1">
              <a:buFont typeface="Courier New" panose="02070309020205020404" pitchFamily="49" charset="0"/>
              <a:buChar char="o"/>
            </a:pPr>
            <a:r>
              <a:rPr lang="en-US" dirty="0"/>
              <a:t> Egyptian mixed-asset setting</a:t>
            </a:r>
          </a:p>
          <a:p>
            <a:pPr lvl="1">
              <a:buFont typeface="Courier New" panose="02070309020205020404" pitchFamily="49" charset="0"/>
              <a:buChar char="o"/>
            </a:pPr>
            <a:r>
              <a:rPr lang="en-US" dirty="0"/>
              <a:t> Defensive, equity, real-asset, and macro-sensitive exposure</a:t>
            </a:r>
          </a:p>
          <a:p>
            <a:pPr lvl="1">
              <a:buFont typeface="Courier New" panose="02070309020205020404" pitchFamily="49" charset="0"/>
              <a:buChar char="o"/>
            </a:pPr>
            <a:r>
              <a:rPr lang="en-US" dirty="0"/>
              <a:t> Macro inputs describe the market context, not selected portfolio assets</a:t>
            </a:r>
          </a:p>
        </p:txBody>
      </p:sp>
      <p:sp>
        <p:nvSpPr>
          <p:cNvPr id="4" name="Slide Number Placeholder 3">
            <a:extLst>
              <a:ext uri="{FF2B5EF4-FFF2-40B4-BE49-F238E27FC236}">
                <a16:creationId xmlns:a16="http://schemas.microsoft.com/office/drawing/2014/main" id="{4E5D3402-92D7-0DF5-7AF4-66F0387CAE4B}"/>
              </a:ext>
            </a:extLst>
          </p:cNvPr>
          <p:cNvSpPr>
            <a:spLocks noGrp="1"/>
          </p:cNvSpPr>
          <p:nvPr>
            <p:ph type="sldNum" sz="quarter" idx="12"/>
          </p:nvPr>
        </p:nvSpPr>
        <p:spPr/>
        <p:txBody>
          <a:bodyPr/>
          <a:lstStyle/>
          <a:p>
            <a:fld id="{1370230A-709D-4205-8636-A3280FD27E74}" type="slidenum">
              <a:rPr lang="en-US" smtClean="0"/>
              <a:t>6</a:t>
            </a:fld>
            <a:endParaRPr lang="en-US"/>
          </a:p>
        </p:txBody>
      </p:sp>
    </p:spTree>
    <p:extLst>
      <p:ext uri="{BB962C8B-B14F-4D97-AF65-F5344CB8AC3E}">
        <p14:creationId xmlns:p14="http://schemas.microsoft.com/office/powerpoint/2010/main" val="40550091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3B3883-9656-3241-C90C-4255FE22C0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286D93-E3D5-9C81-EEFC-59BC15F79965}"/>
              </a:ext>
            </a:extLst>
          </p:cNvPr>
          <p:cNvSpPr>
            <a:spLocks noGrp="1"/>
          </p:cNvSpPr>
          <p:nvPr>
            <p:ph type="title"/>
          </p:nvPr>
        </p:nvSpPr>
        <p:spPr/>
        <p:txBody>
          <a:bodyPr/>
          <a:lstStyle/>
          <a:p>
            <a:r>
              <a:rPr lang="en-US" dirty="0"/>
              <a:t>Research Questions</a:t>
            </a:r>
          </a:p>
        </p:txBody>
      </p:sp>
      <p:sp>
        <p:nvSpPr>
          <p:cNvPr id="4" name="Slide Number Placeholder 3">
            <a:extLst>
              <a:ext uri="{FF2B5EF4-FFF2-40B4-BE49-F238E27FC236}">
                <a16:creationId xmlns:a16="http://schemas.microsoft.com/office/drawing/2014/main" id="{5D930993-A2B0-2C97-4493-93DE16F1DED9}"/>
              </a:ext>
            </a:extLst>
          </p:cNvPr>
          <p:cNvSpPr>
            <a:spLocks noGrp="1"/>
          </p:cNvSpPr>
          <p:nvPr>
            <p:ph type="sldNum" sz="quarter" idx="12"/>
          </p:nvPr>
        </p:nvSpPr>
        <p:spPr/>
        <p:txBody>
          <a:bodyPr/>
          <a:lstStyle/>
          <a:p>
            <a:fld id="{1370230A-709D-4205-8636-A3280FD27E74}" type="slidenum">
              <a:rPr lang="en-US" smtClean="0"/>
              <a:t>7</a:t>
            </a:fld>
            <a:endParaRPr lang="en-US"/>
          </a:p>
        </p:txBody>
      </p:sp>
      <p:sp>
        <p:nvSpPr>
          <p:cNvPr id="3" name="Content Placeholder 2">
            <a:extLst>
              <a:ext uri="{FF2B5EF4-FFF2-40B4-BE49-F238E27FC236}">
                <a16:creationId xmlns:a16="http://schemas.microsoft.com/office/drawing/2014/main" id="{45FFD21A-E082-378B-0D28-F4A4486AF05E}"/>
              </a:ext>
            </a:extLst>
          </p:cNvPr>
          <p:cNvSpPr>
            <a:spLocks noGrp="1"/>
          </p:cNvSpPr>
          <p:nvPr>
            <p:ph idx="13"/>
          </p:nvPr>
        </p:nvSpPr>
        <p:spPr/>
        <p:txBody>
          <a:bodyPr anchor="ctr">
            <a:normAutofit/>
          </a:bodyPr>
          <a:lstStyle/>
          <a:p>
            <a:pPr lvl="1">
              <a:buFont typeface="Courier New" panose="02070309020205020404" pitchFamily="49" charset="0"/>
              <a:buChar char="o"/>
            </a:pPr>
            <a:r>
              <a:rPr lang="en-US" b="1" dirty="0"/>
              <a:t> RQ1</a:t>
            </a:r>
            <a:r>
              <a:rPr lang="en-US" dirty="0"/>
              <a:t>: Can AI/ML support dynamic risk-based universe selection?</a:t>
            </a:r>
          </a:p>
          <a:p>
            <a:pPr lvl="1">
              <a:buFont typeface="Courier New" panose="02070309020205020404" pitchFamily="49" charset="0"/>
              <a:buChar char="o"/>
            </a:pPr>
            <a:r>
              <a:rPr lang="en-US" b="1" dirty="0"/>
              <a:t> RQ2</a:t>
            </a:r>
            <a:r>
              <a:rPr lang="en-US" dirty="0"/>
              <a:t>: Do selected universes align with investor profiles?</a:t>
            </a:r>
          </a:p>
          <a:p>
            <a:pPr lvl="1">
              <a:buFont typeface="Courier New" panose="02070309020205020404" pitchFamily="49" charset="0"/>
              <a:buChar char="o"/>
            </a:pPr>
            <a:r>
              <a:rPr lang="en-US" b="1" dirty="0"/>
              <a:t> RQ3</a:t>
            </a:r>
            <a:r>
              <a:rPr lang="en-US" dirty="0"/>
              <a:t>: How do selected universes compare with the full active universe?</a:t>
            </a:r>
          </a:p>
        </p:txBody>
      </p:sp>
      <p:sp>
        <p:nvSpPr>
          <p:cNvPr id="5" name="Rectangle 4">
            <a:extLst>
              <a:ext uri="{FF2B5EF4-FFF2-40B4-BE49-F238E27FC236}">
                <a16:creationId xmlns:a16="http://schemas.microsoft.com/office/drawing/2014/main" id="{AEFE07C0-6327-C5FE-353A-522CA90BF5EE}"/>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38BEA077-134C-6EC6-488A-8316DC074C2F}"/>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370366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954F69F-F97A-2829-AF74-987C51A0A76A}"/>
              </a:ext>
            </a:extLst>
          </p:cNvPr>
          <p:cNvSpPr/>
          <p:nvPr/>
        </p:nvSpPr>
        <p:spPr>
          <a:xfrm rot="5400000">
            <a:off x="2628901" y="-2628895"/>
            <a:ext cx="6857999" cy="1211580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75B43A34-3349-ACC5-202D-A40750936693}"/>
              </a:ext>
            </a:extLst>
          </p:cNvPr>
          <p:cNvSpPr>
            <a:spLocks noGrp="1"/>
          </p:cNvSpPr>
          <p:nvPr>
            <p:ph type="ctrTitle"/>
          </p:nvPr>
        </p:nvSpPr>
        <p:spPr/>
        <p:txBody>
          <a:bodyPr/>
          <a:lstStyle/>
          <a:p>
            <a:r>
              <a:rPr lang="en-US" dirty="0"/>
              <a:t>Literature Review</a:t>
            </a:r>
          </a:p>
        </p:txBody>
      </p:sp>
      <p:sp>
        <p:nvSpPr>
          <p:cNvPr id="3" name="Slide Number Placeholder 2">
            <a:extLst>
              <a:ext uri="{FF2B5EF4-FFF2-40B4-BE49-F238E27FC236}">
                <a16:creationId xmlns:a16="http://schemas.microsoft.com/office/drawing/2014/main" id="{5D815661-D2F5-125C-D9BE-EC63A8CDED55}"/>
              </a:ext>
            </a:extLst>
          </p:cNvPr>
          <p:cNvSpPr>
            <a:spLocks noGrp="1"/>
          </p:cNvSpPr>
          <p:nvPr>
            <p:ph type="sldNum" sz="quarter" idx="12"/>
          </p:nvPr>
        </p:nvSpPr>
        <p:spPr/>
        <p:txBody>
          <a:bodyPr/>
          <a:lstStyle/>
          <a:p>
            <a:fld id="{1370230A-709D-4205-8636-A3280FD27E74}" type="slidenum">
              <a:rPr lang="en-US" smtClean="0"/>
              <a:t>8</a:t>
            </a:fld>
            <a:endParaRPr lang="en-US"/>
          </a:p>
        </p:txBody>
      </p:sp>
      <p:sp>
        <p:nvSpPr>
          <p:cNvPr id="5" name="Rectangle 4">
            <a:extLst>
              <a:ext uri="{FF2B5EF4-FFF2-40B4-BE49-F238E27FC236}">
                <a16:creationId xmlns:a16="http://schemas.microsoft.com/office/drawing/2014/main" id="{F494C1F5-6131-A97E-8363-6CA413EFE2F5}"/>
              </a:ext>
            </a:extLst>
          </p:cNvPr>
          <p:cNvSpPr/>
          <p:nvPr/>
        </p:nvSpPr>
        <p:spPr>
          <a:xfrm rot="5400000">
            <a:off x="8740141"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982D07AB-D23E-B07C-062C-93AEF9272A3D}"/>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439421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E516C-3BB3-AC1E-8BE4-7C61930619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7763BA-A15E-4DEA-9656-F507EE236D0E}"/>
              </a:ext>
            </a:extLst>
          </p:cNvPr>
          <p:cNvSpPr>
            <a:spLocks noGrp="1"/>
          </p:cNvSpPr>
          <p:nvPr>
            <p:ph type="title"/>
          </p:nvPr>
        </p:nvSpPr>
        <p:spPr/>
        <p:txBody>
          <a:bodyPr/>
          <a:lstStyle/>
          <a:p>
            <a:r>
              <a:rPr lang="en-US" dirty="0"/>
              <a:t>Classical Allocation Context</a:t>
            </a:r>
          </a:p>
        </p:txBody>
      </p:sp>
      <p:sp>
        <p:nvSpPr>
          <p:cNvPr id="3" name="Slide Number Placeholder 2">
            <a:extLst>
              <a:ext uri="{FF2B5EF4-FFF2-40B4-BE49-F238E27FC236}">
                <a16:creationId xmlns:a16="http://schemas.microsoft.com/office/drawing/2014/main" id="{E26EC045-3BF2-5297-FA07-ED645E0F51B5}"/>
              </a:ext>
            </a:extLst>
          </p:cNvPr>
          <p:cNvSpPr>
            <a:spLocks noGrp="1"/>
          </p:cNvSpPr>
          <p:nvPr>
            <p:ph type="sldNum" sz="quarter" idx="12"/>
          </p:nvPr>
        </p:nvSpPr>
        <p:spPr/>
        <p:txBody>
          <a:bodyPr/>
          <a:lstStyle/>
          <a:p>
            <a:fld id="{1370230A-709D-4205-8636-A3280FD27E74}" type="slidenum">
              <a:rPr lang="en-US" smtClean="0"/>
              <a:t>9</a:t>
            </a:fld>
            <a:endParaRPr lang="en-US"/>
          </a:p>
        </p:txBody>
      </p:sp>
      <p:sp>
        <p:nvSpPr>
          <p:cNvPr id="8" name="Content Placeholder 7">
            <a:extLst>
              <a:ext uri="{FF2B5EF4-FFF2-40B4-BE49-F238E27FC236}">
                <a16:creationId xmlns:a16="http://schemas.microsoft.com/office/drawing/2014/main" id="{79D9BA0D-D97F-BBEE-4689-3975D8D4C360}"/>
              </a:ext>
            </a:extLst>
          </p:cNvPr>
          <p:cNvSpPr>
            <a:spLocks noGrp="1"/>
          </p:cNvSpPr>
          <p:nvPr>
            <p:ph idx="13"/>
          </p:nvPr>
        </p:nvSpPr>
        <p:spPr/>
        <p:txBody>
          <a:bodyPr/>
          <a:lstStyle/>
          <a:p>
            <a:pPr lvl="1">
              <a:buFont typeface="Courier New" panose="02070309020205020404" pitchFamily="49" charset="0"/>
              <a:buChar char="o"/>
            </a:pPr>
            <a:r>
              <a:rPr lang="en-US" dirty="0"/>
              <a:t> Classical methods focus on return-risk weight allocation</a:t>
            </a:r>
          </a:p>
          <a:p>
            <a:pPr lvl="1">
              <a:buFont typeface="Courier New" panose="02070309020205020404" pitchFamily="49" charset="0"/>
              <a:buChar char="o"/>
            </a:pPr>
            <a:r>
              <a:rPr lang="en-US" dirty="0"/>
              <a:t> MVO assumes the investable universe is already defined</a:t>
            </a:r>
          </a:p>
          <a:p>
            <a:pPr lvl="1">
              <a:buFont typeface="Courier New" panose="02070309020205020404" pitchFamily="49" charset="0"/>
              <a:buChar char="o"/>
            </a:pPr>
            <a:r>
              <a:rPr lang="en-US" dirty="0"/>
              <a:t> This thesis focuses on the step before weighting</a:t>
            </a:r>
          </a:p>
          <a:p>
            <a:pPr lvl="1">
              <a:buFont typeface="Courier New" panose="02070309020205020404" pitchFamily="49" charset="0"/>
              <a:buChar char="o"/>
            </a:pPr>
            <a:endParaRPr lang="en-US" dirty="0"/>
          </a:p>
        </p:txBody>
      </p:sp>
      <p:sp>
        <p:nvSpPr>
          <p:cNvPr id="6" name="Rectangle 5">
            <a:extLst>
              <a:ext uri="{FF2B5EF4-FFF2-40B4-BE49-F238E27FC236}">
                <a16:creationId xmlns:a16="http://schemas.microsoft.com/office/drawing/2014/main" id="{89A801C3-6C71-EB14-9583-5AD61626CECA}"/>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8A89310F-AF02-6ADA-4616-87E89580775C}"/>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97982505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C8336-BDB2-B0C4-7663-AB35E35E6655}"/>
              </a:ext>
            </a:extLst>
          </p:cNvPr>
          <p:cNvSpPr>
            <a:spLocks noGrp="1"/>
          </p:cNvSpPr>
          <p:nvPr>
            <p:ph type="title"/>
          </p:nvPr>
        </p:nvSpPr>
        <p:spPr/>
        <p:txBody>
          <a:bodyPr/>
          <a:lstStyle/>
          <a:p>
            <a:r>
              <a:rPr lang="en-US" dirty="0"/>
              <a:t>AI/ML Preselection Context</a:t>
            </a:r>
          </a:p>
        </p:txBody>
      </p:sp>
      <p:sp>
        <p:nvSpPr>
          <p:cNvPr id="3" name="Content Placeholder 2">
            <a:extLst>
              <a:ext uri="{FF2B5EF4-FFF2-40B4-BE49-F238E27FC236}">
                <a16:creationId xmlns:a16="http://schemas.microsoft.com/office/drawing/2014/main" id="{7BF4D2E2-486D-010D-501E-3AF6A986E33D}"/>
              </a:ext>
            </a:extLst>
          </p:cNvPr>
          <p:cNvSpPr>
            <a:spLocks noGrp="1"/>
          </p:cNvSpPr>
          <p:nvPr>
            <p:ph idx="1"/>
          </p:nvPr>
        </p:nvSpPr>
        <p:spPr/>
        <p:txBody>
          <a:bodyPr/>
          <a:lstStyle/>
          <a:p>
            <a:pPr lvl="1"/>
            <a:r>
              <a:rPr lang="en-US" dirty="0"/>
              <a:t> Existing work filters assets before optimization</a:t>
            </a:r>
          </a:p>
          <a:p>
            <a:pPr lvl="1"/>
            <a:r>
              <a:rPr lang="en-US" dirty="0"/>
              <a:t> Common signals include expected price, expected return, or profitability</a:t>
            </a:r>
          </a:p>
          <a:p>
            <a:pPr lvl="1"/>
            <a:r>
              <a:rPr lang="en-US" dirty="0"/>
              <a:t> Risk metrics usually appear later in weight optimization and evaluation</a:t>
            </a:r>
          </a:p>
        </p:txBody>
      </p:sp>
      <p:sp>
        <p:nvSpPr>
          <p:cNvPr id="4" name="Slide Number Placeholder 3">
            <a:extLst>
              <a:ext uri="{FF2B5EF4-FFF2-40B4-BE49-F238E27FC236}">
                <a16:creationId xmlns:a16="http://schemas.microsoft.com/office/drawing/2014/main" id="{5D49EE0B-590A-B9C2-55A3-AEA481472625}"/>
              </a:ext>
            </a:extLst>
          </p:cNvPr>
          <p:cNvSpPr>
            <a:spLocks noGrp="1"/>
          </p:cNvSpPr>
          <p:nvPr>
            <p:ph type="sldNum" sz="quarter" idx="12"/>
          </p:nvPr>
        </p:nvSpPr>
        <p:spPr/>
        <p:txBody>
          <a:bodyPr/>
          <a:lstStyle/>
          <a:p>
            <a:fld id="{1370230A-709D-4205-8636-A3280FD27E74}" type="slidenum">
              <a:rPr lang="en-US" smtClean="0"/>
              <a:t>10</a:t>
            </a:fld>
            <a:endParaRPr lang="en-US"/>
          </a:p>
        </p:txBody>
      </p:sp>
    </p:spTree>
    <p:extLst>
      <p:ext uri="{BB962C8B-B14F-4D97-AF65-F5344CB8AC3E}">
        <p14:creationId xmlns:p14="http://schemas.microsoft.com/office/powerpoint/2010/main" val="887933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0CB3E-AC88-25D4-4775-046A276DB5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BCB7D6-5512-3F31-D658-A4663E0F21EF}"/>
              </a:ext>
            </a:extLst>
          </p:cNvPr>
          <p:cNvSpPr>
            <a:spLocks noGrp="1"/>
          </p:cNvSpPr>
          <p:nvPr>
            <p:ph type="title"/>
          </p:nvPr>
        </p:nvSpPr>
        <p:spPr/>
        <p:txBody>
          <a:bodyPr/>
          <a:lstStyle/>
          <a:p>
            <a:r>
              <a:rPr lang="en-US" dirty="0"/>
              <a:t>DEA Preselection Paper</a:t>
            </a:r>
          </a:p>
        </p:txBody>
      </p:sp>
      <p:sp>
        <p:nvSpPr>
          <p:cNvPr id="3" name="Content Placeholder 2">
            <a:extLst>
              <a:ext uri="{FF2B5EF4-FFF2-40B4-BE49-F238E27FC236}">
                <a16:creationId xmlns:a16="http://schemas.microsoft.com/office/drawing/2014/main" id="{EF43604E-AF5A-5770-751A-A99315C50084}"/>
              </a:ext>
            </a:extLst>
          </p:cNvPr>
          <p:cNvSpPr>
            <a:spLocks noGrp="1"/>
          </p:cNvSpPr>
          <p:nvPr>
            <p:ph idx="1"/>
          </p:nvPr>
        </p:nvSpPr>
        <p:spPr/>
        <p:txBody>
          <a:bodyPr/>
          <a:lstStyle/>
          <a:p>
            <a:pPr lvl="1"/>
            <a:r>
              <a:rPr lang="en-US" dirty="0"/>
              <a:t> Atta Mills and </a:t>
            </a:r>
            <a:r>
              <a:rPr lang="en-US" dirty="0" err="1"/>
              <a:t>Anyomi</a:t>
            </a:r>
            <a:r>
              <a:rPr lang="en-US" dirty="0"/>
              <a:t> (2022) use DEA to screen assets before allocation</a:t>
            </a:r>
          </a:p>
          <a:p>
            <a:pPr lvl="1"/>
            <a:r>
              <a:rPr lang="en-US" dirty="0"/>
              <a:t> Standard deviation appears as one of the key input</a:t>
            </a:r>
          </a:p>
          <a:p>
            <a:pPr lvl="1"/>
            <a:r>
              <a:rPr lang="en-US" dirty="0"/>
              <a:t> The method mainly filters by efficiency using a statistical DEA approach rather than AI-based ranking</a:t>
            </a:r>
          </a:p>
        </p:txBody>
      </p:sp>
      <p:sp>
        <p:nvSpPr>
          <p:cNvPr id="4" name="Slide Number Placeholder 3">
            <a:extLst>
              <a:ext uri="{FF2B5EF4-FFF2-40B4-BE49-F238E27FC236}">
                <a16:creationId xmlns:a16="http://schemas.microsoft.com/office/drawing/2014/main" id="{D395395E-7FBC-88A7-D3C8-B9118C922AC2}"/>
              </a:ext>
            </a:extLst>
          </p:cNvPr>
          <p:cNvSpPr>
            <a:spLocks noGrp="1"/>
          </p:cNvSpPr>
          <p:nvPr>
            <p:ph type="sldNum" sz="quarter" idx="12"/>
          </p:nvPr>
        </p:nvSpPr>
        <p:spPr/>
        <p:txBody>
          <a:bodyPr/>
          <a:lstStyle/>
          <a:p>
            <a:fld id="{1370230A-709D-4205-8636-A3280FD27E74}" type="slidenum">
              <a:rPr lang="en-US" smtClean="0"/>
              <a:t>11</a:t>
            </a:fld>
            <a:endParaRPr lang="en-US"/>
          </a:p>
        </p:txBody>
      </p:sp>
    </p:spTree>
    <p:extLst>
      <p:ext uri="{BB962C8B-B14F-4D97-AF65-F5344CB8AC3E}">
        <p14:creationId xmlns:p14="http://schemas.microsoft.com/office/powerpoint/2010/main" val="2881235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51CADA-C7BE-C347-792B-FA8FC8E77EF0}"/>
              </a:ext>
            </a:extLst>
          </p:cNvPr>
          <p:cNvSpPr>
            <a:spLocks noGrp="1"/>
          </p:cNvSpPr>
          <p:nvPr>
            <p:ph type="title"/>
          </p:nvPr>
        </p:nvSpPr>
        <p:spPr/>
        <p:txBody>
          <a:bodyPr/>
          <a:lstStyle/>
          <a:p>
            <a:r>
              <a:rPr lang="en-US" dirty="0"/>
              <a:t>RL And Investor Personalization</a:t>
            </a:r>
          </a:p>
        </p:txBody>
      </p:sp>
      <p:sp>
        <p:nvSpPr>
          <p:cNvPr id="3" name="Slide Number Placeholder 2">
            <a:extLst>
              <a:ext uri="{FF2B5EF4-FFF2-40B4-BE49-F238E27FC236}">
                <a16:creationId xmlns:a16="http://schemas.microsoft.com/office/drawing/2014/main" id="{F4E00637-454E-43AB-3D2C-F538588F7E71}"/>
              </a:ext>
            </a:extLst>
          </p:cNvPr>
          <p:cNvSpPr>
            <a:spLocks noGrp="1"/>
          </p:cNvSpPr>
          <p:nvPr>
            <p:ph type="sldNum" sz="quarter" idx="12"/>
          </p:nvPr>
        </p:nvSpPr>
        <p:spPr/>
        <p:txBody>
          <a:bodyPr/>
          <a:lstStyle/>
          <a:p>
            <a:fld id="{1370230A-709D-4205-8636-A3280FD27E74}" type="slidenum">
              <a:rPr lang="en-US" smtClean="0"/>
              <a:t>12</a:t>
            </a:fld>
            <a:endParaRPr lang="en-US"/>
          </a:p>
        </p:txBody>
      </p:sp>
      <p:sp>
        <p:nvSpPr>
          <p:cNvPr id="4" name="Content Placeholder 3">
            <a:extLst>
              <a:ext uri="{FF2B5EF4-FFF2-40B4-BE49-F238E27FC236}">
                <a16:creationId xmlns:a16="http://schemas.microsoft.com/office/drawing/2014/main" id="{57E95010-BDBB-5A1E-6A5D-B2959DC3ECED}"/>
              </a:ext>
            </a:extLst>
          </p:cNvPr>
          <p:cNvSpPr>
            <a:spLocks noGrp="1"/>
          </p:cNvSpPr>
          <p:nvPr>
            <p:ph idx="13"/>
          </p:nvPr>
        </p:nvSpPr>
        <p:spPr/>
        <p:txBody>
          <a:bodyPr/>
          <a:lstStyle/>
          <a:p>
            <a:pPr lvl="1"/>
            <a:r>
              <a:rPr lang="en-US" dirty="0"/>
              <a:t>Reinforcement Learning in finance work often targets trading, rebalancing, or direct weights</a:t>
            </a:r>
          </a:p>
          <a:p>
            <a:pPr lvl="1"/>
            <a:r>
              <a:rPr lang="en-US" dirty="0"/>
              <a:t>Personalization often maps profiles to advice, products, or final portfolios</a:t>
            </a:r>
          </a:p>
          <a:p>
            <a:pPr lvl="1"/>
            <a:r>
              <a:rPr lang="en-US" dirty="0"/>
              <a:t>This thesis ranks asset risk first, then builds profile-specific universes</a:t>
            </a:r>
          </a:p>
        </p:txBody>
      </p:sp>
      <p:sp>
        <p:nvSpPr>
          <p:cNvPr id="5" name="Rectangle 4">
            <a:extLst>
              <a:ext uri="{FF2B5EF4-FFF2-40B4-BE49-F238E27FC236}">
                <a16:creationId xmlns:a16="http://schemas.microsoft.com/office/drawing/2014/main" id="{4B873A8D-19FE-9310-58DF-959FD4B4DED9}"/>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60C1C680-D2BD-561B-E389-54579D8FB378}"/>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35067708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DDF90C-A951-0691-FBC2-E98A7C63810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275B7FD1-EB2B-8D64-C8D9-4C33EE02563E}"/>
              </a:ext>
            </a:extLst>
          </p:cNvPr>
          <p:cNvSpPr/>
          <p:nvPr/>
        </p:nvSpPr>
        <p:spPr>
          <a:xfrm rot="5400000">
            <a:off x="2628901" y="-2628895"/>
            <a:ext cx="6857999" cy="1211580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4F75935B-5A05-6E2C-81F5-EBDC6B4828B7}"/>
              </a:ext>
            </a:extLst>
          </p:cNvPr>
          <p:cNvSpPr>
            <a:spLocks noGrp="1"/>
          </p:cNvSpPr>
          <p:nvPr>
            <p:ph type="ctrTitle"/>
          </p:nvPr>
        </p:nvSpPr>
        <p:spPr/>
        <p:txBody>
          <a:bodyPr/>
          <a:lstStyle/>
          <a:p>
            <a:r>
              <a:rPr lang="en-US" dirty="0"/>
              <a:t>Proposed Solution</a:t>
            </a:r>
          </a:p>
        </p:txBody>
      </p:sp>
      <p:sp>
        <p:nvSpPr>
          <p:cNvPr id="3" name="Slide Number Placeholder 2">
            <a:extLst>
              <a:ext uri="{FF2B5EF4-FFF2-40B4-BE49-F238E27FC236}">
                <a16:creationId xmlns:a16="http://schemas.microsoft.com/office/drawing/2014/main" id="{4B443588-3C3A-36FB-62C0-863FB15DE906}"/>
              </a:ext>
            </a:extLst>
          </p:cNvPr>
          <p:cNvSpPr>
            <a:spLocks noGrp="1"/>
          </p:cNvSpPr>
          <p:nvPr>
            <p:ph type="sldNum" sz="quarter" idx="12"/>
          </p:nvPr>
        </p:nvSpPr>
        <p:spPr/>
        <p:txBody>
          <a:bodyPr/>
          <a:lstStyle/>
          <a:p>
            <a:fld id="{1370230A-709D-4205-8636-A3280FD27E74}" type="slidenum">
              <a:rPr lang="en-US" smtClean="0"/>
              <a:t>13</a:t>
            </a:fld>
            <a:endParaRPr lang="en-US"/>
          </a:p>
        </p:txBody>
      </p:sp>
      <p:sp>
        <p:nvSpPr>
          <p:cNvPr id="5" name="Rectangle 4">
            <a:extLst>
              <a:ext uri="{FF2B5EF4-FFF2-40B4-BE49-F238E27FC236}">
                <a16:creationId xmlns:a16="http://schemas.microsoft.com/office/drawing/2014/main" id="{4DA1AA05-F6D4-254E-AF00-42AB7C4A5F2D}"/>
              </a:ext>
            </a:extLst>
          </p:cNvPr>
          <p:cNvSpPr/>
          <p:nvPr/>
        </p:nvSpPr>
        <p:spPr>
          <a:xfrm rot="5400000">
            <a:off x="8740141"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8F54DC39-4C74-DC05-D3CF-9C4871172EB4}"/>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85339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1158C-E302-2546-108C-ECD174D29E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F1C54-C46A-1D25-8FBA-0CF306884A3A}"/>
              </a:ext>
            </a:extLst>
          </p:cNvPr>
          <p:cNvSpPr>
            <a:spLocks noGrp="1"/>
          </p:cNvSpPr>
          <p:nvPr>
            <p:ph type="title"/>
          </p:nvPr>
        </p:nvSpPr>
        <p:spPr/>
        <p:txBody>
          <a:bodyPr/>
          <a:lstStyle/>
          <a:p>
            <a:r>
              <a:rPr lang="en-US" dirty="0"/>
              <a:t>Contribution In One View</a:t>
            </a:r>
          </a:p>
        </p:txBody>
      </p:sp>
      <p:sp>
        <p:nvSpPr>
          <p:cNvPr id="3" name="Slide Number Placeholder 2">
            <a:extLst>
              <a:ext uri="{FF2B5EF4-FFF2-40B4-BE49-F238E27FC236}">
                <a16:creationId xmlns:a16="http://schemas.microsoft.com/office/drawing/2014/main" id="{586E01E8-02AE-088E-9382-19111A0CF9B9}"/>
              </a:ext>
            </a:extLst>
          </p:cNvPr>
          <p:cNvSpPr>
            <a:spLocks noGrp="1"/>
          </p:cNvSpPr>
          <p:nvPr>
            <p:ph type="sldNum" sz="quarter" idx="12"/>
          </p:nvPr>
        </p:nvSpPr>
        <p:spPr/>
        <p:txBody>
          <a:bodyPr/>
          <a:lstStyle/>
          <a:p>
            <a:fld id="{1370230A-709D-4205-8636-A3280FD27E74}" type="slidenum">
              <a:rPr lang="en-US" smtClean="0"/>
              <a:t>14</a:t>
            </a:fld>
            <a:endParaRPr lang="en-US"/>
          </a:p>
        </p:txBody>
      </p:sp>
      <p:pic>
        <p:nvPicPr>
          <p:cNvPr id="4" name="Content Placeholder 3" descr="Image">
            <a:extLst>
              <a:ext uri="{FF2B5EF4-FFF2-40B4-BE49-F238E27FC236}">
                <a16:creationId xmlns:a16="http://schemas.microsoft.com/office/drawing/2014/main" id="{DE7C9F67-0133-34F5-B093-CCDB07F30FB7}"/>
              </a:ext>
            </a:extLst>
          </p:cNvPr>
          <p:cNvPicPr>
            <a:picLocks noGrp="1" noChangeAspect="1"/>
          </p:cNvPicPr>
          <p:nvPr>
            <p:ph idx="13"/>
          </p:nvPr>
        </p:nvPicPr>
        <p:blipFill>
          <a:blip r:embed="rId3"/>
          <a:stretch>
            <a:fillRect/>
          </a:stretch>
        </p:blipFill>
        <p:spPr>
          <a:xfrm>
            <a:off x="1327077" y="2857180"/>
            <a:ext cx="9598172" cy="2118364"/>
          </a:xfrm>
          <a:prstGeom prst="rect">
            <a:avLst/>
          </a:prstGeom>
        </p:spPr>
      </p:pic>
      <p:sp>
        <p:nvSpPr>
          <p:cNvPr id="6" name="Rectangle 5">
            <a:extLst>
              <a:ext uri="{FF2B5EF4-FFF2-40B4-BE49-F238E27FC236}">
                <a16:creationId xmlns:a16="http://schemas.microsoft.com/office/drawing/2014/main" id="{BA157206-8884-D3E3-13BD-3402FCFA8666}"/>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B0497631-6588-2597-5A30-1FF293CA3CCB}"/>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21973569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7FB5-43BC-A0EC-91E5-18D423687177}"/>
              </a:ext>
            </a:extLst>
          </p:cNvPr>
          <p:cNvSpPr>
            <a:spLocks noGrp="1"/>
          </p:cNvSpPr>
          <p:nvPr>
            <p:ph type="title"/>
          </p:nvPr>
        </p:nvSpPr>
        <p:spPr/>
        <p:txBody>
          <a:bodyPr/>
          <a:lstStyle/>
          <a:p>
            <a:r>
              <a:rPr lang="en-US" dirty="0"/>
              <a:t>What does the Model Predict </a:t>
            </a:r>
            <a:r>
              <a:rPr lang="en-US" dirty="0">
                <a:latin typeface="+mn-lt"/>
              </a:rPr>
              <a:t>?</a:t>
            </a:r>
          </a:p>
        </p:txBody>
      </p:sp>
      <p:sp>
        <p:nvSpPr>
          <p:cNvPr id="4" name="Slide Number Placeholder 3">
            <a:extLst>
              <a:ext uri="{FF2B5EF4-FFF2-40B4-BE49-F238E27FC236}">
                <a16:creationId xmlns:a16="http://schemas.microsoft.com/office/drawing/2014/main" id="{A6B5B047-46B8-E252-0507-4015BF907D3D}"/>
              </a:ext>
            </a:extLst>
          </p:cNvPr>
          <p:cNvSpPr>
            <a:spLocks noGrp="1"/>
          </p:cNvSpPr>
          <p:nvPr>
            <p:ph type="sldNum" sz="quarter" idx="12"/>
          </p:nvPr>
        </p:nvSpPr>
        <p:spPr/>
        <p:txBody>
          <a:bodyPr/>
          <a:lstStyle/>
          <a:p>
            <a:fld id="{1370230A-709D-4205-8636-A3280FD27E74}" type="slidenum">
              <a:rPr lang="en-US" smtClean="0"/>
              <a:t>15</a:t>
            </a:fld>
            <a:endParaRPr lang="en-US"/>
          </a:p>
        </p:txBody>
      </p:sp>
      <p:sp>
        <p:nvSpPr>
          <p:cNvPr id="3" name="Content Placeholder 2">
            <a:extLst>
              <a:ext uri="{FF2B5EF4-FFF2-40B4-BE49-F238E27FC236}">
                <a16:creationId xmlns:a16="http://schemas.microsoft.com/office/drawing/2014/main" id="{4E5FBEEC-A4C9-85AE-5D9C-522AC4430B09}"/>
              </a:ext>
            </a:extLst>
          </p:cNvPr>
          <p:cNvSpPr>
            <a:spLocks noGrp="1"/>
          </p:cNvSpPr>
          <p:nvPr>
            <p:ph idx="13"/>
          </p:nvPr>
        </p:nvSpPr>
        <p:spPr/>
        <p:txBody>
          <a:bodyPr/>
          <a:lstStyle/>
          <a:p>
            <a:pPr lvl="1"/>
            <a:r>
              <a:rPr lang="en-US" dirty="0"/>
              <a:t> One predicted risk score per active asset</a:t>
            </a:r>
          </a:p>
          <a:p>
            <a:pPr lvl="1"/>
            <a:r>
              <a:rPr lang="en-US" dirty="0"/>
              <a:t> Assets sorted from lower predicted risk to higher predicted risk</a:t>
            </a:r>
          </a:p>
          <a:p>
            <a:pPr lvl="1"/>
            <a:r>
              <a:rPr lang="en-US" dirty="0"/>
              <a:t> Ranking quality matters more than exact score values</a:t>
            </a:r>
          </a:p>
        </p:txBody>
      </p:sp>
      <p:sp>
        <p:nvSpPr>
          <p:cNvPr id="5" name="Rectangle 4">
            <a:extLst>
              <a:ext uri="{FF2B5EF4-FFF2-40B4-BE49-F238E27FC236}">
                <a16:creationId xmlns:a16="http://schemas.microsoft.com/office/drawing/2014/main" id="{23C71542-9A5B-6936-462D-38EF578F13F1}"/>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98913A2B-7C6B-F5B2-7887-2FF0492CC3AB}"/>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6922513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0129F5-67B0-28FB-C50A-1989D5E838F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57487D0-A168-ED44-67B1-3992D9BCBCCD}"/>
              </a:ext>
            </a:extLst>
          </p:cNvPr>
          <p:cNvSpPr/>
          <p:nvPr/>
        </p:nvSpPr>
        <p:spPr>
          <a:xfrm rot="5400000">
            <a:off x="2628901" y="-2628895"/>
            <a:ext cx="6857999" cy="1211580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B8F922A3-87C4-3077-4011-76641AC1D90A}"/>
              </a:ext>
            </a:extLst>
          </p:cNvPr>
          <p:cNvSpPr>
            <a:spLocks noGrp="1"/>
          </p:cNvSpPr>
          <p:nvPr>
            <p:ph type="ctrTitle"/>
          </p:nvPr>
        </p:nvSpPr>
        <p:spPr/>
        <p:txBody>
          <a:bodyPr/>
          <a:lstStyle/>
          <a:p>
            <a:r>
              <a:rPr lang="en-US" dirty="0"/>
              <a:t>Methodology</a:t>
            </a:r>
          </a:p>
        </p:txBody>
      </p:sp>
      <p:sp>
        <p:nvSpPr>
          <p:cNvPr id="3" name="Slide Number Placeholder 2">
            <a:extLst>
              <a:ext uri="{FF2B5EF4-FFF2-40B4-BE49-F238E27FC236}">
                <a16:creationId xmlns:a16="http://schemas.microsoft.com/office/drawing/2014/main" id="{40D1FE97-CC60-5DF2-9F41-2725943CF39C}"/>
              </a:ext>
            </a:extLst>
          </p:cNvPr>
          <p:cNvSpPr>
            <a:spLocks noGrp="1"/>
          </p:cNvSpPr>
          <p:nvPr>
            <p:ph type="sldNum" sz="quarter" idx="12"/>
          </p:nvPr>
        </p:nvSpPr>
        <p:spPr/>
        <p:txBody>
          <a:bodyPr/>
          <a:lstStyle/>
          <a:p>
            <a:fld id="{1370230A-709D-4205-8636-A3280FD27E74}" type="slidenum">
              <a:rPr lang="en-US" smtClean="0"/>
              <a:t>16</a:t>
            </a:fld>
            <a:endParaRPr lang="en-US"/>
          </a:p>
        </p:txBody>
      </p:sp>
      <p:sp>
        <p:nvSpPr>
          <p:cNvPr id="5" name="Rectangle 4">
            <a:extLst>
              <a:ext uri="{FF2B5EF4-FFF2-40B4-BE49-F238E27FC236}">
                <a16:creationId xmlns:a16="http://schemas.microsoft.com/office/drawing/2014/main" id="{BFF943A8-A6F2-FAE8-2520-5649E1143CCB}"/>
              </a:ext>
            </a:extLst>
          </p:cNvPr>
          <p:cNvSpPr/>
          <p:nvPr/>
        </p:nvSpPr>
        <p:spPr>
          <a:xfrm rot="5400000">
            <a:off x="8740141"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6" name="Straight Connector 5">
            <a:extLst>
              <a:ext uri="{FF2B5EF4-FFF2-40B4-BE49-F238E27FC236}">
                <a16:creationId xmlns:a16="http://schemas.microsoft.com/office/drawing/2014/main" id="{B72C199F-06C8-7187-29D7-C10A04AE94E4}"/>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093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92B9F-568D-4108-A795-4B51DEE9EF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AC1187-4436-4698-AA1D-93E64229AA0F}"/>
              </a:ext>
            </a:extLst>
          </p:cNvPr>
          <p:cNvSpPr>
            <a:spLocks noGrp="1"/>
          </p:cNvSpPr>
          <p:nvPr>
            <p:ph type="title"/>
          </p:nvPr>
        </p:nvSpPr>
        <p:spPr/>
        <p:txBody>
          <a:bodyPr/>
          <a:lstStyle/>
          <a:p>
            <a:r>
              <a:rPr lang="en-US" dirty="0"/>
              <a:t>Raw Data Engineering</a:t>
            </a:r>
            <a:endParaRPr lang="en-US" dirty="0">
              <a:latin typeface="+mn-lt"/>
            </a:endParaRPr>
          </a:p>
        </p:txBody>
      </p:sp>
      <p:sp>
        <p:nvSpPr>
          <p:cNvPr id="4" name="Slide Number Placeholder 3">
            <a:extLst>
              <a:ext uri="{FF2B5EF4-FFF2-40B4-BE49-F238E27FC236}">
                <a16:creationId xmlns:a16="http://schemas.microsoft.com/office/drawing/2014/main" id="{57C2DA1D-4A1A-613C-6B62-8E5670041A6D}"/>
              </a:ext>
            </a:extLst>
          </p:cNvPr>
          <p:cNvSpPr>
            <a:spLocks noGrp="1"/>
          </p:cNvSpPr>
          <p:nvPr>
            <p:ph type="sldNum" sz="quarter" idx="12"/>
          </p:nvPr>
        </p:nvSpPr>
        <p:spPr/>
        <p:txBody>
          <a:bodyPr/>
          <a:lstStyle/>
          <a:p>
            <a:fld id="{1370230A-709D-4205-8636-A3280FD27E74}" type="slidenum">
              <a:rPr lang="en-US" smtClean="0"/>
              <a:t>17</a:t>
            </a:fld>
            <a:endParaRPr lang="en-US"/>
          </a:p>
        </p:txBody>
      </p:sp>
      <p:sp>
        <p:nvSpPr>
          <p:cNvPr id="3" name="Content Placeholder 2">
            <a:extLst>
              <a:ext uri="{FF2B5EF4-FFF2-40B4-BE49-F238E27FC236}">
                <a16:creationId xmlns:a16="http://schemas.microsoft.com/office/drawing/2014/main" id="{34C42339-47A2-6A1C-57B0-7664EAC4A9CD}"/>
              </a:ext>
            </a:extLst>
          </p:cNvPr>
          <p:cNvSpPr>
            <a:spLocks noGrp="1"/>
          </p:cNvSpPr>
          <p:nvPr>
            <p:ph idx="13"/>
          </p:nvPr>
        </p:nvSpPr>
        <p:spPr/>
        <p:txBody>
          <a:bodyPr/>
          <a:lstStyle/>
          <a:p>
            <a:pPr lvl="1"/>
            <a:r>
              <a:rPr lang="en-US" dirty="0"/>
              <a:t> Inputs include date, price, OHLC fields, and volume</a:t>
            </a:r>
          </a:p>
          <a:p>
            <a:pPr lvl="1"/>
            <a:r>
              <a:rPr lang="en-US" dirty="0"/>
              <a:t> T-bill and bond yield quotes are converted into price proxies</a:t>
            </a:r>
          </a:p>
          <a:p>
            <a:pPr lvl="1"/>
            <a:r>
              <a:rPr lang="en-US" dirty="0"/>
              <a:t> USD/EGP and CPI add macro market context</a:t>
            </a:r>
          </a:p>
        </p:txBody>
      </p:sp>
      <p:sp>
        <p:nvSpPr>
          <p:cNvPr id="5" name="Rectangle 4">
            <a:extLst>
              <a:ext uri="{FF2B5EF4-FFF2-40B4-BE49-F238E27FC236}">
                <a16:creationId xmlns:a16="http://schemas.microsoft.com/office/drawing/2014/main" id="{A3643664-BA6E-5CE3-8859-61733F886F39}"/>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C18B0CB0-B963-85F1-72E3-21EE13FC1AD4}"/>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2137712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06813D-05AD-3715-88CA-7E1D30E8A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669A28-3ABA-4DB9-9ED2-E46137373FDF}"/>
              </a:ext>
            </a:extLst>
          </p:cNvPr>
          <p:cNvSpPr>
            <a:spLocks noGrp="1"/>
          </p:cNvSpPr>
          <p:nvPr>
            <p:ph type="title"/>
          </p:nvPr>
        </p:nvSpPr>
        <p:spPr/>
        <p:txBody>
          <a:bodyPr/>
          <a:lstStyle/>
          <a:p>
            <a:r>
              <a:rPr lang="en-US" dirty="0"/>
              <a:t>Point-In-Time Monthly Panel</a:t>
            </a:r>
            <a:endParaRPr lang="en-US" dirty="0">
              <a:latin typeface="+mn-lt"/>
            </a:endParaRPr>
          </a:p>
        </p:txBody>
      </p:sp>
      <p:sp>
        <p:nvSpPr>
          <p:cNvPr id="4" name="Slide Number Placeholder 3">
            <a:extLst>
              <a:ext uri="{FF2B5EF4-FFF2-40B4-BE49-F238E27FC236}">
                <a16:creationId xmlns:a16="http://schemas.microsoft.com/office/drawing/2014/main" id="{D3EDE9B1-4497-D6D4-00D3-C4266EEA3E29}"/>
              </a:ext>
            </a:extLst>
          </p:cNvPr>
          <p:cNvSpPr>
            <a:spLocks noGrp="1"/>
          </p:cNvSpPr>
          <p:nvPr>
            <p:ph type="sldNum" sz="quarter" idx="12"/>
          </p:nvPr>
        </p:nvSpPr>
        <p:spPr/>
        <p:txBody>
          <a:bodyPr/>
          <a:lstStyle/>
          <a:p>
            <a:fld id="{1370230A-709D-4205-8636-A3280FD27E74}" type="slidenum">
              <a:rPr lang="en-US" smtClean="0"/>
              <a:t>18</a:t>
            </a:fld>
            <a:endParaRPr lang="en-US"/>
          </a:p>
        </p:txBody>
      </p:sp>
      <p:sp>
        <p:nvSpPr>
          <p:cNvPr id="3" name="Content Placeholder 2">
            <a:extLst>
              <a:ext uri="{FF2B5EF4-FFF2-40B4-BE49-F238E27FC236}">
                <a16:creationId xmlns:a16="http://schemas.microsoft.com/office/drawing/2014/main" id="{C444C8F2-049A-9C9F-A348-7ED345E4E098}"/>
              </a:ext>
            </a:extLst>
          </p:cNvPr>
          <p:cNvSpPr>
            <a:spLocks noGrp="1"/>
          </p:cNvSpPr>
          <p:nvPr>
            <p:ph idx="13"/>
          </p:nvPr>
        </p:nvSpPr>
        <p:spPr/>
        <p:txBody>
          <a:bodyPr/>
          <a:lstStyle/>
          <a:p>
            <a:pPr lvl="1"/>
            <a:r>
              <a:rPr lang="en-US" dirty="0"/>
              <a:t> Features use only information available up to that month</a:t>
            </a:r>
          </a:p>
          <a:p>
            <a:pPr lvl="1"/>
            <a:r>
              <a:rPr lang="en-US" dirty="0"/>
              <a:t> Assets are not backfilled before they existed</a:t>
            </a:r>
          </a:p>
          <a:p>
            <a:pPr lvl="1"/>
            <a:r>
              <a:rPr lang="en-US" dirty="0"/>
              <a:t> Asset identity stays metadata and is excluded from model inputs</a:t>
            </a:r>
          </a:p>
        </p:txBody>
      </p:sp>
      <p:sp>
        <p:nvSpPr>
          <p:cNvPr id="5" name="Rectangle 4">
            <a:extLst>
              <a:ext uri="{FF2B5EF4-FFF2-40B4-BE49-F238E27FC236}">
                <a16:creationId xmlns:a16="http://schemas.microsoft.com/office/drawing/2014/main" id="{03D6536C-7EF9-4329-5023-9232136D8F93}"/>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C3D776FC-62FE-D243-E73B-8B7851962D13}"/>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61377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1258E-1227-06C4-9B4F-00177BE0B9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57E39C-D42E-9F32-BE24-039AA9992D5D}"/>
              </a:ext>
            </a:extLst>
          </p:cNvPr>
          <p:cNvSpPr>
            <a:spLocks noGrp="1"/>
          </p:cNvSpPr>
          <p:nvPr>
            <p:ph type="title"/>
          </p:nvPr>
        </p:nvSpPr>
        <p:spPr/>
        <p:txBody>
          <a:bodyPr/>
          <a:lstStyle/>
          <a:p>
            <a:r>
              <a:rPr lang="en-US" dirty="0"/>
              <a:t>Feature Families</a:t>
            </a:r>
            <a:endParaRPr lang="en-US" dirty="0">
              <a:latin typeface="+mn-lt"/>
            </a:endParaRPr>
          </a:p>
        </p:txBody>
      </p:sp>
      <p:sp>
        <p:nvSpPr>
          <p:cNvPr id="4" name="Slide Number Placeholder 3">
            <a:extLst>
              <a:ext uri="{FF2B5EF4-FFF2-40B4-BE49-F238E27FC236}">
                <a16:creationId xmlns:a16="http://schemas.microsoft.com/office/drawing/2014/main" id="{DEDF8538-4FEE-CBC3-C41F-55FCFDA20ED3}"/>
              </a:ext>
            </a:extLst>
          </p:cNvPr>
          <p:cNvSpPr>
            <a:spLocks noGrp="1"/>
          </p:cNvSpPr>
          <p:nvPr>
            <p:ph type="sldNum" sz="quarter" idx="12"/>
          </p:nvPr>
        </p:nvSpPr>
        <p:spPr/>
        <p:txBody>
          <a:bodyPr/>
          <a:lstStyle/>
          <a:p>
            <a:fld id="{1370230A-709D-4205-8636-A3280FD27E74}" type="slidenum">
              <a:rPr lang="en-US" smtClean="0"/>
              <a:t>19</a:t>
            </a:fld>
            <a:endParaRPr lang="en-US"/>
          </a:p>
        </p:txBody>
      </p:sp>
      <p:sp>
        <p:nvSpPr>
          <p:cNvPr id="5" name="Rectangle 4">
            <a:extLst>
              <a:ext uri="{FF2B5EF4-FFF2-40B4-BE49-F238E27FC236}">
                <a16:creationId xmlns:a16="http://schemas.microsoft.com/office/drawing/2014/main" id="{28143D78-1A14-9D4F-BED6-82B7C45E7E39}"/>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E6702C11-CDF0-A556-3B95-72D02E0FCE10}"/>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4" name="Picture 13">
            <a:extLst>
              <a:ext uri="{FF2B5EF4-FFF2-40B4-BE49-F238E27FC236}">
                <a16:creationId xmlns:a16="http://schemas.microsoft.com/office/drawing/2014/main" id="{63F43630-6FE8-F9FC-7250-44E11B8D77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98710" y="2609105"/>
            <a:ext cx="9756970" cy="2978935"/>
          </a:xfrm>
          <a:prstGeom prst="rect">
            <a:avLst/>
          </a:prstGeom>
        </p:spPr>
      </p:pic>
    </p:spTree>
    <p:extLst>
      <p:ext uri="{BB962C8B-B14F-4D97-AF65-F5344CB8AC3E}">
        <p14:creationId xmlns:p14="http://schemas.microsoft.com/office/powerpoint/2010/main" val="324199576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09802E-C1FF-91D3-B725-666019C17FDA}"/>
              </a:ext>
            </a:extLst>
          </p:cNvPr>
          <p:cNvSpPr>
            <a:spLocks noGrp="1"/>
          </p:cNvSpPr>
          <p:nvPr>
            <p:ph type="title"/>
          </p:nvPr>
        </p:nvSpPr>
        <p:spPr/>
        <p:txBody>
          <a:bodyPr/>
          <a:lstStyle/>
          <a:p>
            <a:r>
              <a:rPr lang="en-US" dirty="0"/>
              <a:t>Realized Risk Target</a:t>
            </a:r>
          </a:p>
        </p:txBody>
      </p:sp>
      <p:pic>
        <p:nvPicPr>
          <p:cNvPr id="6" name="Content Placeholder 5">
            <a:extLst>
              <a:ext uri="{FF2B5EF4-FFF2-40B4-BE49-F238E27FC236}">
                <a16:creationId xmlns:a16="http://schemas.microsoft.com/office/drawing/2014/main" id="{4B7B3687-83E7-8530-9CD2-BC416C6B2577}"/>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720642" y="2667698"/>
            <a:ext cx="9251518" cy="2685773"/>
          </a:xfrm>
          <a:prstGeom prst="rect">
            <a:avLst/>
          </a:prstGeom>
        </p:spPr>
      </p:pic>
      <p:sp>
        <p:nvSpPr>
          <p:cNvPr id="4" name="Slide Number Placeholder 3">
            <a:extLst>
              <a:ext uri="{FF2B5EF4-FFF2-40B4-BE49-F238E27FC236}">
                <a16:creationId xmlns:a16="http://schemas.microsoft.com/office/drawing/2014/main" id="{737A1787-40A5-4F78-95F6-78D852F5AFAE}"/>
              </a:ext>
            </a:extLst>
          </p:cNvPr>
          <p:cNvSpPr>
            <a:spLocks noGrp="1"/>
          </p:cNvSpPr>
          <p:nvPr>
            <p:ph type="sldNum" sz="quarter" idx="12"/>
          </p:nvPr>
        </p:nvSpPr>
        <p:spPr/>
        <p:txBody>
          <a:bodyPr/>
          <a:lstStyle/>
          <a:p>
            <a:fld id="{1370230A-709D-4205-8636-A3280FD27E74}" type="slidenum">
              <a:rPr lang="en-US" smtClean="0"/>
              <a:t>20</a:t>
            </a:fld>
            <a:endParaRPr lang="en-US"/>
          </a:p>
        </p:txBody>
      </p:sp>
    </p:spTree>
    <p:extLst>
      <p:ext uri="{BB962C8B-B14F-4D97-AF65-F5344CB8AC3E}">
        <p14:creationId xmlns:p14="http://schemas.microsoft.com/office/powerpoint/2010/main" val="39787152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E3AB91-1766-0D38-E3B1-03FF4D2383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E587EB-AC97-6315-5ED3-A84938D89782}"/>
              </a:ext>
            </a:extLst>
          </p:cNvPr>
          <p:cNvSpPr>
            <a:spLocks noGrp="1"/>
          </p:cNvSpPr>
          <p:nvPr>
            <p:ph type="title"/>
          </p:nvPr>
        </p:nvSpPr>
        <p:spPr/>
        <p:txBody>
          <a:bodyPr/>
          <a:lstStyle/>
          <a:p>
            <a:r>
              <a:rPr lang="en-US" dirty="0"/>
              <a:t>What Is Reinforcement Learning</a:t>
            </a:r>
            <a:endParaRPr lang="en-US" dirty="0">
              <a:latin typeface="+mn-lt"/>
            </a:endParaRPr>
          </a:p>
        </p:txBody>
      </p:sp>
      <p:sp>
        <p:nvSpPr>
          <p:cNvPr id="4" name="Slide Number Placeholder 3">
            <a:extLst>
              <a:ext uri="{FF2B5EF4-FFF2-40B4-BE49-F238E27FC236}">
                <a16:creationId xmlns:a16="http://schemas.microsoft.com/office/drawing/2014/main" id="{15E0DC38-C0E1-9715-627D-E55A6F93C796}"/>
              </a:ext>
            </a:extLst>
          </p:cNvPr>
          <p:cNvSpPr>
            <a:spLocks noGrp="1"/>
          </p:cNvSpPr>
          <p:nvPr>
            <p:ph type="sldNum" sz="quarter" idx="12"/>
          </p:nvPr>
        </p:nvSpPr>
        <p:spPr/>
        <p:txBody>
          <a:bodyPr/>
          <a:lstStyle/>
          <a:p>
            <a:fld id="{1370230A-709D-4205-8636-A3280FD27E74}" type="slidenum">
              <a:rPr lang="en-US" smtClean="0"/>
              <a:t>21</a:t>
            </a:fld>
            <a:endParaRPr lang="en-US"/>
          </a:p>
        </p:txBody>
      </p:sp>
      <p:sp>
        <p:nvSpPr>
          <p:cNvPr id="5" name="Rectangle 4">
            <a:extLst>
              <a:ext uri="{FF2B5EF4-FFF2-40B4-BE49-F238E27FC236}">
                <a16:creationId xmlns:a16="http://schemas.microsoft.com/office/drawing/2014/main" id="{E237CFD6-78D1-DE23-8C16-7EADA6883C6F}"/>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6DF58F2A-AC7F-328D-94B0-F2B466BB2609}"/>
              </a:ext>
            </a:extLst>
          </p:cNvPr>
          <p:cNvSpPr/>
          <p:nvPr/>
        </p:nvSpPr>
        <p:spPr>
          <a:xfrm rot="5400000">
            <a:off x="-3108962" y="3406141"/>
            <a:ext cx="6858002" cy="45719"/>
          </a:xfrm>
          <a:prstGeom prst="rect">
            <a:avLst/>
          </a:prstGeom>
          <a:solidFill>
            <a:srgbClr val="00F7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7" name="Picture 6" descr="General RL diagram">
            <a:extLst>
              <a:ext uri="{FF2B5EF4-FFF2-40B4-BE49-F238E27FC236}">
                <a16:creationId xmlns:a16="http://schemas.microsoft.com/office/drawing/2014/main" id="{22C6B923-68B6-40FE-F214-3400A86EF613}"/>
              </a:ext>
            </a:extLst>
          </p:cNvPr>
          <p:cNvPicPr>
            <a:picLocks noChangeAspect="1"/>
          </p:cNvPicPr>
          <p:nvPr/>
        </p:nvPicPr>
        <p:blipFill>
          <a:blip r:embed="rId3"/>
          <a:stretch>
            <a:fillRect/>
          </a:stretch>
        </p:blipFill>
        <p:spPr>
          <a:xfrm>
            <a:off x="1234439" y="2864641"/>
            <a:ext cx="9921241" cy="1784649"/>
          </a:xfrm>
          <a:prstGeom prst="rect">
            <a:avLst/>
          </a:prstGeom>
        </p:spPr>
      </p:pic>
    </p:spTree>
    <p:extLst>
      <p:ext uri="{BB962C8B-B14F-4D97-AF65-F5344CB8AC3E}">
        <p14:creationId xmlns:p14="http://schemas.microsoft.com/office/powerpoint/2010/main" val="315403936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D5FB9-655D-7578-789D-E82EEB2E37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A5FB28-19DF-57DB-A3EA-6D0B7CCEDA6A}"/>
              </a:ext>
            </a:extLst>
          </p:cNvPr>
          <p:cNvSpPr>
            <a:spLocks noGrp="1"/>
          </p:cNvSpPr>
          <p:nvPr>
            <p:ph type="title"/>
          </p:nvPr>
        </p:nvSpPr>
        <p:spPr/>
        <p:txBody>
          <a:bodyPr/>
          <a:lstStyle/>
          <a:p>
            <a:r>
              <a:rPr lang="en-US" dirty="0"/>
              <a:t>Why Reinforcement Learning</a:t>
            </a:r>
            <a:endParaRPr lang="en-US" dirty="0">
              <a:latin typeface="+mn-lt"/>
            </a:endParaRPr>
          </a:p>
        </p:txBody>
      </p:sp>
      <p:sp>
        <p:nvSpPr>
          <p:cNvPr id="4" name="Slide Number Placeholder 3">
            <a:extLst>
              <a:ext uri="{FF2B5EF4-FFF2-40B4-BE49-F238E27FC236}">
                <a16:creationId xmlns:a16="http://schemas.microsoft.com/office/drawing/2014/main" id="{E2F6D4B7-F67A-E1BC-6735-9D17D83A3E5D}"/>
              </a:ext>
            </a:extLst>
          </p:cNvPr>
          <p:cNvSpPr>
            <a:spLocks noGrp="1"/>
          </p:cNvSpPr>
          <p:nvPr>
            <p:ph type="sldNum" sz="quarter" idx="12"/>
          </p:nvPr>
        </p:nvSpPr>
        <p:spPr/>
        <p:txBody>
          <a:bodyPr/>
          <a:lstStyle/>
          <a:p>
            <a:fld id="{1370230A-709D-4205-8636-A3280FD27E74}" type="slidenum">
              <a:rPr lang="en-US" smtClean="0"/>
              <a:t>22</a:t>
            </a:fld>
            <a:endParaRPr lang="en-US"/>
          </a:p>
        </p:txBody>
      </p:sp>
      <p:sp>
        <p:nvSpPr>
          <p:cNvPr id="5" name="Rectangle 4">
            <a:extLst>
              <a:ext uri="{FF2B5EF4-FFF2-40B4-BE49-F238E27FC236}">
                <a16:creationId xmlns:a16="http://schemas.microsoft.com/office/drawing/2014/main" id="{3F06CCF6-D01E-BD39-3E51-D3438CA5B5D6}"/>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6" name="Rectangle 5">
            <a:extLst>
              <a:ext uri="{FF2B5EF4-FFF2-40B4-BE49-F238E27FC236}">
                <a16:creationId xmlns:a16="http://schemas.microsoft.com/office/drawing/2014/main" id="{DDE1FA32-628A-6E21-DB51-0D1321653AF7}"/>
              </a:ext>
            </a:extLst>
          </p:cNvPr>
          <p:cNvSpPr/>
          <p:nvPr/>
        </p:nvSpPr>
        <p:spPr>
          <a:xfrm rot="5400000">
            <a:off x="-3108962" y="3406141"/>
            <a:ext cx="6858002" cy="45719"/>
          </a:xfrm>
          <a:prstGeom prst="rect">
            <a:avLst/>
          </a:prstGeom>
          <a:solidFill>
            <a:srgbClr val="00F700"/>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10" name="Content Placeholder 9">
            <a:extLst>
              <a:ext uri="{FF2B5EF4-FFF2-40B4-BE49-F238E27FC236}">
                <a16:creationId xmlns:a16="http://schemas.microsoft.com/office/drawing/2014/main" id="{A8B84DAD-2395-C906-B679-834D79278ED1}"/>
              </a:ext>
            </a:extLst>
          </p:cNvPr>
          <p:cNvSpPr>
            <a:spLocks noGrp="1"/>
          </p:cNvSpPr>
          <p:nvPr>
            <p:ph idx="1"/>
          </p:nvPr>
        </p:nvSpPr>
        <p:spPr/>
        <p:txBody>
          <a:bodyPr/>
          <a:lstStyle/>
          <a:p>
            <a:pPr>
              <a:buFont typeface="Courier New" panose="02070309020205020404" pitchFamily="49" charset="0"/>
              <a:buChar char="o"/>
            </a:pPr>
            <a:r>
              <a:rPr lang="en-US" dirty="0"/>
              <a:t> Available assets change from month to month</a:t>
            </a:r>
          </a:p>
          <a:p>
            <a:pPr>
              <a:buFont typeface="Courier New" panose="02070309020205020404" pitchFamily="49" charset="0"/>
              <a:buChar char="o"/>
            </a:pPr>
            <a:r>
              <a:rPr lang="en-US" dirty="0"/>
              <a:t> The model scores a full monthly set, not isolated assets</a:t>
            </a:r>
          </a:p>
          <a:p>
            <a:pPr>
              <a:buFont typeface="Courier New" panose="02070309020205020404" pitchFamily="49" charset="0"/>
              <a:buChar char="o"/>
            </a:pPr>
            <a:r>
              <a:rPr lang="en-US" dirty="0"/>
              <a:t> Reward arrives after the complete universe is ranked</a:t>
            </a:r>
          </a:p>
        </p:txBody>
      </p:sp>
      <p:pic>
        <p:nvPicPr>
          <p:cNvPr id="13" name="Picture 12" descr="Thesis RL diagram">
            <a:extLst>
              <a:ext uri="{FF2B5EF4-FFF2-40B4-BE49-F238E27FC236}">
                <a16:creationId xmlns:a16="http://schemas.microsoft.com/office/drawing/2014/main" id="{0FB4D600-BC82-EC4B-4373-F5E4938368BD}"/>
              </a:ext>
            </a:extLst>
          </p:cNvPr>
          <p:cNvPicPr>
            <a:picLocks noChangeAspect="1"/>
          </p:cNvPicPr>
          <p:nvPr/>
        </p:nvPicPr>
        <p:blipFill>
          <a:blip r:embed="rId3"/>
          <a:stretch>
            <a:fillRect/>
          </a:stretch>
        </p:blipFill>
        <p:spPr>
          <a:xfrm>
            <a:off x="1097280" y="2835813"/>
            <a:ext cx="10237803" cy="1952325"/>
          </a:xfrm>
          <a:prstGeom prst="rect">
            <a:avLst/>
          </a:prstGeom>
        </p:spPr>
      </p:pic>
    </p:spTree>
    <p:extLst>
      <p:ext uri="{BB962C8B-B14F-4D97-AF65-F5344CB8AC3E}">
        <p14:creationId xmlns:p14="http://schemas.microsoft.com/office/powerpoint/2010/main" val="1419341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0">
                                            <p:txEl>
                                              <p:pRg st="0" end="0"/>
                                            </p:txEl>
                                          </p:spTgt>
                                        </p:tgtEl>
                                      </p:cBhvr>
                                    </p:animEffect>
                                    <p:set>
                                      <p:cBhvr>
                                        <p:cTn id="7" dur="1" fill="hold">
                                          <p:stCondLst>
                                            <p:cond delay="499"/>
                                          </p:stCondLst>
                                        </p:cTn>
                                        <p:tgtEl>
                                          <p:spTgt spid="10">
                                            <p:txEl>
                                              <p:pRg st="0" end="0"/>
                                            </p:txEl>
                                          </p:spTgt>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0">
                                            <p:txEl>
                                              <p:pRg st="1" end="1"/>
                                            </p:txEl>
                                          </p:spTgt>
                                        </p:tgtEl>
                                      </p:cBhvr>
                                    </p:animEffect>
                                    <p:set>
                                      <p:cBhvr>
                                        <p:cTn id="10" dur="1" fill="hold">
                                          <p:stCondLst>
                                            <p:cond delay="499"/>
                                          </p:stCondLst>
                                        </p:cTn>
                                        <p:tgtEl>
                                          <p:spTgt spid="10">
                                            <p:txEl>
                                              <p:pRg st="1" end="1"/>
                                            </p:txEl>
                                          </p:spTgt>
                                        </p:tgtEl>
                                        <p:attrNameLst>
                                          <p:attrName>style.visibility</p:attrName>
                                        </p:attrNameLst>
                                      </p:cBhvr>
                                      <p:to>
                                        <p:strVal val="hidden"/>
                                      </p:to>
                                    </p:set>
                                  </p:childTnLst>
                                </p:cTn>
                              </p:par>
                              <p:par>
                                <p:cTn id="11" presetID="10" presetClass="exit" presetSubtype="0" fill="hold" grpId="0" nodeType="withEffect">
                                  <p:stCondLst>
                                    <p:cond delay="0"/>
                                  </p:stCondLst>
                                  <p:childTnLst>
                                    <p:animEffect transition="out" filter="fade">
                                      <p:cBhvr>
                                        <p:cTn id="12" dur="500"/>
                                        <p:tgtEl>
                                          <p:spTgt spid="10">
                                            <p:txEl>
                                              <p:pRg st="2" end="2"/>
                                            </p:txEl>
                                          </p:spTgt>
                                        </p:tgtEl>
                                      </p:cBhvr>
                                    </p:animEffect>
                                    <p:set>
                                      <p:cBhvr>
                                        <p:cTn id="13" dur="1" fill="hold">
                                          <p:stCondLst>
                                            <p:cond delay="499"/>
                                          </p:stCondLst>
                                        </p:cTn>
                                        <p:tgtEl>
                                          <p:spTgt spid="10">
                                            <p:txEl>
                                              <p:pRg st="2" end="2"/>
                                            </p:txEl>
                                          </p:spTgt>
                                        </p:tgtEl>
                                        <p:attrNameLst>
                                          <p:attrName>style.visibility</p:attrName>
                                        </p:attrNameLst>
                                      </p:cBhvr>
                                      <p:to>
                                        <p:strVal val="hidden"/>
                                      </p:to>
                                    </p:set>
                                  </p:childTnLst>
                                </p:cTn>
                              </p:par>
                              <p:par>
                                <p:cTn id="14" presetID="2" presetClass="entr" presetSubtype="4" fill="hold" nodeType="withEffect">
                                  <p:stCondLst>
                                    <p:cond delay="0"/>
                                  </p:stCondLst>
                                  <p:childTnLst>
                                    <p:set>
                                      <p:cBhvr>
                                        <p:cTn id="15" dur="1" fill="hold">
                                          <p:stCondLst>
                                            <p:cond delay="0"/>
                                          </p:stCondLst>
                                        </p:cTn>
                                        <p:tgtEl>
                                          <p:spTgt spid="13"/>
                                        </p:tgtEl>
                                        <p:attrNameLst>
                                          <p:attrName>style.visibility</p:attrName>
                                        </p:attrNameLst>
                                      </p:cBhvr>
                                      <p:to>
                                        <p:strVal val="visible"/>
                                      </p:to>
                                    </p:set>
                                    <p:anim calcmode="lin" valueType="num">
                                      <p:cBhvr additive="base">
                                        <p:cTn id="16" dur="500" fill="hold"/>
                                        <p:tgtEl>
                                          <p:spTgt spid="13"/>
                                        </p:tgtEl>
                                        <p:attrNameLst>
                                          <p:attrName>ppt_x</p:attrName>
                                        </p:attrNameLst>
                                      </p:cBhvr>
                                      <p:tavLst>
                                        <p:tav tm="0">
                                          <p:val>
                                            <p:strVal val="#ppt_x"/>
                                          </p:val>
                                        </p:tav>
                                        <p:tav tm="100000">
                                          <p:val>
                                            <p:strVal val="#ppt_x"/>
                                          </p:val>
                                        </p:tav>
                                      </p:tavLst>
                                    </p:anim>
                                    <p:anim calcmode="lin" valueType="num">
                                      <p:cBhvr additive="base">
                                        <p:cTn id="17"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66A58-58B5-032E-1FD1-1C4C583FCFEE}"/>
              </a:ext>
            </a:extLst>
          </p:cNvPr>
          <p:cNvSpPr>
            <a:spLocks noGrp="1"/>
          </p:cNvSpPr>
          <p:nvPr>
            <p:ph type="title"/>
          </p:nvPr>
        </p:nvSpPr>
        <p:spPr/>
        <p:txBody>
          <a:bodyPr/>
          <a:lstStyle/>
          <a:p>
            <a:r>
              <a:rPr lang="en-US" dirty="0"/>
              <a:t>Why PPO</a:t>
            </a:r>
            <a:endParaRPr lang="en-US" dirty="0">
              <a:latin typeface="+mn-lt"/>
            </a:endParaRPr>
          </a:p>
        </p:txBody>
      </p:sp>
      <p:sp>
        <p:nvSpPr>
          <p:cNvPr id="3" name="Content Placeholder 2">
            <a:extLst>
              <a:ext uri="{FF2B5EF4-FFF2-40B4-BE49-F238E27FC236}">
                <a16:creationId xmlns:a16="http://schemas.microsoft.com/office/drawing/2014/main" id="{0631F3C8-AD8A-BA5D-390D-DDBF7EA5B29F}"/>
              </a:ext>
            </a:extLst>
          </p:cNvPr>
          <p:cNvSpPr>
            <a:spLocks noGrp="1"/>
          </p:cNvSpPr>
          <p:nvPr>
            <p:ph idx="1"/>
          </p:nvPr>
        </p:nvSpPr>
        <p:spPr/>
        <p:txBody>
          <a:bodyPr/>
          <a:lstStyle/>
          <a:p>
            <a:pPr>
              <a:buFont typeface="Courier New" panose="02070309020205020404" pitchFamily="49" charset="0"/>
              <a:buChar char="o"/>
            </a:pPr>
            <a:r>
              <a:rPr lang="en-US" dirty="0"/>
              <a:t> Clipping limits unstable policy jumps</a:t>
            </a:r>
          </a:p>
          <a:p>
            <a:pPr>
              <a:buFont typeface="Courier New" panose="02070309020205020404" pitchFamily="49" charset="0"/>
              <a:buChar char="o"/>
            </a:pPr>
            <a:r>
              <a:rPr lang="en-US" dirty="0"/>
              <a:t> Actor-critic structure stabilizes learning</a:t>
            </a:r>
          </a:p>
          <a:p>
            <a:pPr>
              <a:buFont typeface="Courier New" panose="02070309020205020404" pitchFamily="49" charset="0"/>
              <a:buChar char="o"/>
            </a:pPr>
            <a:r>
              <a:rPr lang="en-US" dirty="0"/>
              <a:t> Suitable for month-level reward feedback</a:t>
            </a:r>
          </a:p>
        </p:txBody>
      </p:sp>
      <p:sp>
        <p:nvSpPr>
          <p:cNvPr id="4" name="Slide Number Placeholder 3">
            <a:extLst>
              <a:ext uri="{FF2B5EF4-FFF2-40B4-BE49-F238E27FC236}">
                <a16:creationId xmlns:a16="http://schemas.microsoft.com/office/drawing/2014/main" id="{00C825F1-8604-469E-49B6-0D009C0E0025}"/>
              </a:ext>
            </a:extLst>
          </p:cNvPr>
          <p:cNvSpPr>
            <a:spLocks noGrp="1"/>
          </p:cNvSpPr>
          <p:nvPr>
            <p:ph type="sldNum" sz="quarter" idx="12"/>
          </p:nvPr>
        </p:nvSpPr>
        <p:spPr/>
        <p:txBody>
          <a:bodyPr/>
          <a:lstStyle/>
          <a:p>
            <a:fld id="{1370230A-709D-4205-8636-A3280FD27E74}" type="slidenum">
              <a:rPr lang="en-US" smtClean="0"/>
              <a:t>23</a:t>
            </a:fld>
            <a:endParaRPr lang="en-US"/>
          </a:p>
        </p:txBody>
      </p:sp>
    </p:spTree>
    <p:extLst>
      <p:ext uri="{BB962C8B-B14F-4D97-AF65-F5344CB8AC3E}">
        <p14:creationId xmlns:p14="http://schemas.microsoft.com/office/powerpoint/2010/main" val="42401905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F45F40-33EC-74B1-24E0-DD3839B564C6}"/>
              </a:ext>
            </a:extLst>
          </p:cNvPr>
          <p:cNvSpPr>
            <a:spLocks noGrp="1"/>
          </p:cNvSpPr>
          <p:nvPr>
            <p:ph type="title"/>
          </p:nvPr>
        </p:nvSpPr>
        <p:spPr/>
        <p:txBody>
          <a:bodyPr/>
          <a:lstStyle/>
          <a:p>
            <a:r>
              <a:rPr lang="en-US" dirty="0"/>
              <a:t>PPO Episode Format</a:t>
            </a:r>
          </a:p>
        </p:txBody>
      </p:sp>
      <p:sp>
        <p:nvSpPr>
          <p:cNvPr id="4" name="Slide Number Placeholder 3">
            <a:extLst>
              <a:ext uri="{FF2B5EF4-FFF2-40B4-BE49-F238E27FC236}">
                <a16:creationId xmlns:a16="http://schemas.microsoft.com/office/drawing/2014/main" id="{10D1C4AB-58CF-63A4-C592-073990DEC13D}"/>
              </a:ext>
            </a:extLst>
          </p:cNvPr>
          <p:cNvSpPr>
            <a:spLocks noGrp="1"/>
          </p:cNvSpPr>
          <p:nvPr>
            <p:ph type="sldNum" sz="quarter" idx="12"/>
          </p:nvPr>
        </p:nvSpPr>
        <p:spPr/>
        <p:txBody>
          <a:bodyPr/>
          <a:lstStyle/>
          <a:p>
            <a:fld id="{1370230A-709D-4205-8636-A3280FD27E74}" type="slidenum">
              <a:rPr lang="en-US" smtClean="0"/>
              <a:t>24</a:t>
            </a:fld>
            <a:endParaRPr lang="en-US"/>
          </a:p>
        </p:txBody>
      </p:sp>
      <p:pic>
        <p:nvPicPr>
          <p:cNvPr id="11" name="Content Placeholder 10" descr="Transparent Slide 19 figure">
            <a:extLst>
              <a:ext uri="{FF2B5EF4-FFF2-40B4-BE49-F238E27FC236}">
                <a16:creationId xmlns:a16="http://schemas.microsoft.com/office/drawing/2014/main" id="{249564CE-FBC4-BBD5-7E5B-3BDB20AB70D8}"/>
              </a:ext>
            </a:extLst>
          </p:cNvPr>
          <p:cNvPicPr>
            <a:picLocks noGrp="1" noChangeAspect="1"/>
          </p:cNvPicPr>
          <p:nvPr>
            <p:ph idx="1"/>
          </p:nvPr>
        </p:nvPicPr>
        <p:blipFill>
          <a:blip r:embed="rId3"/>
          <a:stretch>
            <a:fillRect/>
          </a:stretch>
        </p:blipFill>
        <p:spPr>
          <a:xfrm>
            <a:off x="1342969" y="2172005"/>
            <a:ext cx="9506062" cy="3853135"/>
          </a:xfrm>
          <a:prstGeom prst="rect">
            <a:avLst/>
          </a:prstGeom>
        </p:spPr>
      </p:pic>
    </p:spTree>
    <p:extLst>
      <p:ext uri="{BB962C8B-B14F-4D97-AF65-F5344CB8AC3E}">
        <p14:creationId xmlns:p14="http://schemas.microsoft.com/office/powerpoint/2010/main" val="38949439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9B1419-242B-2B1A-40AA-49E5B9DDBD50}"/>
              </a:ext>
            </a:extLst>
          </p:cNvPr>
          <p:cNvSpPr>
            <a:spLocks noGrp="1"/>
          </p:cNvSpPr>
          <p:nvPr>
            <p:ph type="title"/>
          </p:nvPr>
        </p:nvSpPr>
        <p:spPr/>
        <p:txBody>
          <a:bodyPr/>
          <a:lstStyle/>
          <a:p>
            <a:r>
              <a:rPr lang="en-US" dirty="0"/>
              <a:t>Variable Universe &amp; Masking</a:t>
            </a:r>
          </a:p>
        </p:txBody>
      </p:sp>
      <p:sp>
        <p:nvSpPr>
          <p:cNvPr id="3" name="Content Placeholder 2">
            <a:extLst>
              <a:ext uri="{FF2B5EF4-FFF2-40B4-BE49-F238E27FC236}">
                <a16:creationId xmlns:a16="http://schemas.microsoft.com/office/drawing/2014/main" id="{0DE8F983-B60A-FCA4-9D14-9D688116A2FE}"/>
              </a:ext>
            </a:extLst>
          </p:cNvPr>
          <p:cNvSpPr>
            <a:spLocks noGrp="1"/>
          </p:cNvSpPr>
          <p:nvPr>
            <p:ph idx="1"/>
          </p:nvPr>
        </p:nvSpPr>
        <p:spPr/>
        <p:txBody>
          <a:bodyPr/>
          <a:lstStyle/>
          <a:p>
            <a:pPr>
              <a:buFont typeface="Courier New" panose="02070309020205020404" pitchFamily="49" charset="0"/>
              <a:buChar char="o"/>
            </a:pPr>
            <a:r>
              <a:rPr lang="en-US" dirty="0"/>
              <a:t> Padding gives a consistent tensor shape</a:t>
            </a:r>
          </a:p>
          <a:p>
            <a:pPr>
              <a:buFont typeface="Courier New" panose="02070309020205020404" pitchFamily="49" charset="0"/>
              <a:buChar char="o"/>
            </a:pPr>
            <a:r>
              <a:rPr lang="en-US" dirty="0"/>
              <a:t> The mask separates real asset rows from padding rows</a:t>
            </a:r>
          </a:p>
          <a:p>
            <a:pPr>
              <a:buFont typeface="Courier New" panose="02070309020205020404" pitchFamily="49" charset="0"/>
              <a:buChar char="o"/>
            </a:pPr>
            <a:r>
              <a:rPr lang="en-US" dirty="0"/>
              <a:t> Padded rows do not affect actions, learning, or reward calculations</a:t>
            </a:r>
          </a:p>
        </p:txBody>
      </p:sp>
      <p:sp>
        <p:nvSpPr>
          <p:cNvPr id="4" name="Slide Number Placeholder 3">
            <a:extLst>
              <a:ext uri="{FF2B5EF4-FFF2-40B4-BE49-F238E27FC236}">
                <a16:creationId xmlns:a16="http://schemas.microsoft.com/office/drawing/2014/main" id="{B0DD9651-C539-FCD1-7FF1-E36DE3CAE94D}"/>
              </a:ext>
            </a:extLst>
          </p:cNvPr>
          <p:cNvSpPr>
            <a:spLocks noGrp="1"/>
          </p:cNvSpPr>
          <p:nvPr>
            <p:ph type="sldNum" sz="quarter" idx="12"/>
          </p:nvPr>
        </p:nvSpPr>
        <p:spPr/>
        <p:txBody>
          <a:bodyPr/>
          <a:lstStyle/>
          <a:p>
            <a:fld id="{1370230A-709D-4205-8636-A3280FD27E74}" type="slidenum">
              <a:rPr lang="en-US" smtClean="0"/>
              <a:t>25</a:t>
            </a:fld>
            <a:endParaRPr lang="en-US"/>
          </a:p>
        </p:txBody>
      </p:sp>
    </p:spTree>
    <p:extLst>
      <p:ext uri="{BB962C8B-B14F-4D97-AF65-F5344CB8AC3E}">
        <p14:creationId xmlns:p14="http://schemas.microsoft.com/office/powerpoint/2010/main" val="22481404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9C5566-35C0-300D-8A06-A5582BEB3948}"/>
              </a:ext>
            </a:extLst>
          </p:cNvPr>
          <p:cNvSpPr>
            <a:spLocks noGrp="1"/>
          </p:cNvSpPr>
          <p:nvPr>
            <p:ph type="title"/>
          </p:nvPr>
        </p:nvSpPr>
        <p:spPr/>
        <p:txBody>
          <a:bodyPr/>
          <a:lstStyle/>
          <a:p>
            <a:r>
              <a:rPr lang="en-US" dirty="0"/>
              <a:t>Actor-Critic Architecture</a:t>
            </a:r>
          </a:p>
        </p:txBody>
      </p:sp>
      <p:sp>
        <p:nvSpPr>
          <p:cNvPr id="4" name="Slide Number Placeholder 3">
            <a:extLst>
              <a:ext uri="{FF2B5EF4-FFF2-40B4-BE49-F238E27FC236}">
                <a16:creationId xmlns:a16="http://schemas.microsoft.com/office/drawing/2014/main" id="{F42EDE92-38D2-A14E-DFCF-B4DF6FB3BF81}"/>
              </a:ext>
            </a:extLst>
          </p:cNvPr>
          <p:cNvSpPr>
            <a:spLocks noGrp="1"/>
          </p:cNvSpPr>
          <p:nvPr>
            <p:ph type="sldNum" sz="quarter" idx="12"/>
          </p:nvPr>
        </p:nvSpPr>
        <p:spPr/>
        <p:txBody>
          <a:bodyPr/>
          <a:lstStyle/>
          <a:p>
            <a:fld id="{1370230A-709D-4205-8636-A3280FD27E74}" type="slidenum">
              <a:rPr lang="en-US" smtClean="0"/>
              <a:t>26</a:t>
            </a:fld>
            <a:endParaRPr lang="en-US"/>
          </a:p>
        </p:txBody>
      </p:sp>
      <p:pic>
        <p:nvPicPr>
          <p:cNvPr id="15" name="Content Placeholder 14">
            <a:extLst>
              <a:ext uri="{FF2B5EF4-FFF2-40B4-BE49-F238E27FC236}">
                <a16:creationId xmlns:a16="http://schemas.microsoft.com/office/drawing/2014/main" id="{3D260489-4889-36A7-67EC-FC7DB1B26BB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373132" y="2118103"/>
            <a:ext cx="9506062" cy="3479044"/>
          </a:xfrm>
          <a:prstGeom prst="rect">
            <a:avLst/>
          </a:prstGeom>
        </p:spPr>
      </p:pic>
    </p:spTree>
    <p:extLst>
      <p:ext uri="{BB962C8B-B14F-4D97-AF65-F5344CB8AC3E}">
        <p14:creationId xmlns:p14="http://schemas.microsoft.com/office/powerpoint/2010/main" val="39812611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5E8B20-4902-592A-E6A4-1710CD3BEDA5}"/>
              </a:ext>
            </a:extLst>
          </p:cNvPr>
          <p:cNvSpPr>
            <a:spLocks noGrp="1"/>
          </p:cNvSpPr>
          <p:nvPr>
            <p:ph type="title"/>
          </p:nvPr>
        </p:nvSpPr>
        <p:spPr/>
        <p:txBody>
          <a:bodyPr/>
          <a:lstStyle/>
          <a:p>
            <a:r>
              <a:rPr lang="en-US" dirty="0"/>
              <a:t>Reward Definition</a:t>
            </a:r>
          </a:p>
        </p:txBody>
      </p:sp>
      <p:pic>
        <p:nvPicPr>
          <p:cNvPr id="5" name="Content Placeholder 4" descr="Reward Definition Diagram">
            <a:extLst>
              <a:ext uri="{FF2B5EF4-FFF2-40B4-BE49-F238E27FC236}">
                <a16:creationId xmlns:a16="http://schemas.microsoft.com/office/drawing/2014/main" id="{4DE1CC63-D3AF-D1F1-73C7-B8AED4CDD2DF}"/>
              </a:ext>
            </a:extLst>
          </p:cNvPr>
          <p:cNvPicPr>
            <a:picLocks noGrp="1" noChangeAspect="1"/>
          </p:cNvPicPr>
          <p:nvPr>
            <p:ph idx="1"/>
          </p:nvPr>
        </p:nvPicPr>
        <p:blipFill>
          <a:blip r:embed="rId3"/>
          <a:stretch>
            <a:fillRect/>
          </a:stretch>
        </p:blipFill>
        <p:spPr>
          <a:xfrm>
            <a:off x="1372517" y="3257768"/>
            <a:ext cx="10085622" cy="1681608"/>
          </a:xfrm>
          <a:prstGeom prst="rect">
            <a:avLst/>
          </a:prstGeom>
        </p:spPr>
      </p:pic>
      <p:sp>
        <p:nvSpPr>
          <p:cNvPr id="4" name="Slide Number Placeholder 3">
            <a:extLst>
              <a:ext uri="{FF2B5EF4-FFF2-40B4-BE49-F238E27FC236}">
                <a16:creationId xmlns:a16="http://schemas.microsoft.com/office/drawing/2014/main" id="{7E2776AE-5E1A-E61A-46A4-6401FBB130A6}"/>
              </a:ext>
            </a:extLst>
          </p:cNvPr>
          <p:cNvSpPr>
            <a:spLocks noGrp="1"/>
          </p:cNvSpPr>
          <p:nvPr>
            <p:ph type="sldNum" sz="quarter" idx="12"/>
          </p:nvPr>
        </p:nvSpPr>
        <p:spPr/>
        <p:txBody>
          <a:bodyPr/>
          <a:lstStyle/>
          <a:p>
            <a:fld id="{1370230A-709D-4205-8636-A3280FD27E74}" type="slidenum">
              <a:rPr lang="en-US" smtClean="0"/>
              <a:t>27</a:t>
            </a:fld>
            <a:endParaRPr lang="en-US"/>
          </a:p>
        </p:txBody>
      </p:sp>
    </p:spTree>
    <p:extLst>
      <p:ext uri="{BB962C8B-B14F-4D97-AF65-F5344CB8AC3E}">
        <p14:creationId xmlns:p14="http://schemas.microsoft.com/office/powerpoint/2010/main" val="29767888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B995-EC36-092F-82D2-6BC2A9DE62AD}"/>
              </a:ext>
            </a:extLst>
          </p:cNvPr>
          <p:cNvSpPr>
            <a:spLocks noGrp="1"/>
          </p:cNvSpPr>
          <p:nvPr>
            <p:ph type="title"/>
          </p:nvPr>
        </p:nvSpPr>
        <p:spPr/>
        <p:txBody>
          <a:bodyPr/>
          <a:lstStyle/>
          <a:p>
            <a:r>
              <a:rPr lang="en-US" dirty="0"/>
              <a:t>Profile-Specific Asset Universes</a:t>
            </a:r>
          </a:p>
        </p:txBody>
      </p:sp>
      <p:sp>
        <p:nvSpPr>
          <p:cNvPr id="4" name="Slide Number Placeholder 3">
            <a:extLst>
              <a:ext uri="{FF2B5EF4-FFF2-40B4-BE49-F238E27FC236}">
                <a16:creationId xmlns:a16="http://schemas.microsoft.com/office/drawing/2014/main" id="{B488CFD4-A7DF-5E64-A38B-E9274796D09D}"/>
              </a:ext>
            </a:extLst>
          </p:cNvPr>
          <p:cNvSpPr>
            <a:spLocks noGrp="1"/>
          </p:cNvSpPr>
          <p:nvPr>
            <p:ph type="sldNum" sz="quarter" idx="12"/>
          </p:nvPr>
        </p:nvSpPr>
        <p:spPr/>
        <p:txBody>
          <a:bodyPr/>
          <a:lstStyle/>
          <a:p>
            <a:fld id="{1370230A-709D-4205-8636-A3280FD27E74}" type="slidenum">
              <a:rPr lang="en-US" smtClean="0"/>
              <a:t>28</a:t>
            </a:fld>
            <a:endParaRPr lang="en-US"/>
          </a:p>
        </p:txBody>
      </p:sp>
      <p:sp>
        <p:nvSpPr>
          <p:cNvPr id="5" name="Content Placeholder 4">
            <a:extLst>
              <a:ext uri="{FF2B5EF4-FFF2-40B4-BE49-F238E27FC236}">
                <a16:creationId xmlns:a16="http://schemas.microsoft.com/office/drawing/2014/main" id="{C210F727-8011-89B1-ED08-1642566A03DD}"/>
              </a:ext>
            </a:extLst>
          </p:cNvPr>
          <p:cNvSpPr>
            <a:spLocks noGrp="1"/>
          </p:cNvSpPr>
          <p:nvPr>
            <p:ph idx="13"/>
          </p:nvPr>
        </p:nvSpPr>
        <p:spPr/>
        <p:txBody>
          <a:bodyPr/>
          <a:lstStyle/>
          <a:p>
            <a:pPr>
              <a:buFont typeface="Courier New" panose="02070309020205020404" pitchFamily="49" charset="0"/>
              <a:buChar char="o"/>
            </a:pPr>
            <a:r>
              <a:rPr lang="en-US" dirty="0"/>
              <a:t> Conservative: lowest 30% predicted-risk assets</a:t>
            </a:r>
          </a:p>
          <a:p>
            <a:pPr>
              <a:buFont typeface="Courier New" panose="02070309020205020404" pitchFamily="49" charset="0"/>
              <a:buChar char="o"/>
            </a:pPr>
            <a:r>
              <a:rPr lang="en-US" dirty="0"/>
              <a:t> Balanced: 20% to 80% predicted-risk band</a:t>
            </a:r>
          </a:p>
          <a:p>
            <a:pPr>
              <a:buFont typeface="Courier New" panose="02070309020205020404" pitchFamily="49" charset="0"/>
              <a:buChar char="o"/>
            </a:pPr>
            <a:r>
              <a:rPr lang="en-US" dirty="0"/>
              <a:t> Aggressive: highest 30% predicted-risk assets</a:t>
            </a:r>
          </a:p>
        </p:txBody>
      </p:sp>
      <p:sp>
        <p:nvSpPr>
          <p:cNvPr id="6" name="Rectangle 5">
            <a:extLst>
              <a:ext uri="{FF2B5EF4-FFF2-40B4-BE49-F238E27FC236}">
                <a16:creationId xmlns:a16="http://schemas.microsoft.com/office/drawing/2014/main" id="{B724DE56-D989-68D8-7928-15973BCA0B14}"/>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87D23333-B4A1-2581-F631-227BA4315DBC}"/>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40254276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21652C7-CF7E-BDF7-9827-DFF0B7F62F98}"/>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E20CE8F4-3705-6B06-CC76-B1EA488C6018}"/>
              </a:ext>
            </a:extLst>
          </p:cNvPr>
          <p:cNvSpPr>
            <a:spLocks noGrp="1"/>
          </p:cNvSpPr>
          <p:nvPr>
            <p:ph type="ctrTitle"/>
          </p:nvPr>
        </p:nvSpPr>
        <p:spPr/>
        <p:txBody>
          <a:bodyPr/>
          <a:lstStyle/>
          <a:p>
            <a:r>
              <a:rPr lang="en-US" dirty="0"/>
              <a:t>Experiments</a:t>
            </a:r>
          </a:p>
        </p:txBody>
      </p:sp>
      <p:sp>
        <p:nvSpPr>
          <p:cNvPr id="3" name="Slide Number Placeholder 2">
            <a:extLst>
              <a:ext uri="{FF2B5EF4-FFF2-40B4-BE49-F238E27FC236}">
                <a16:creationId xmlns:a16="http://schemas.microsoft.com/office/drawing/2014/main" id="{73E8A48F-E91E-FB87-7266-943926EF1202}"/>
              </a:ext>
            </a:extLst>
          </p:cNvPr>
          <p:cNvSpPr>
            <a:spLocks noGrp="1"/>
          </p:cNvSpPr>
          <p:nvPr>
            <p:ph type="sldNum" sz="quarter" idx="12"/>
          </p:nvPr>
        </p:nvSpPr>
        <p:spPr/>
        <p:txBody>
          <a:bodyPr/>
          <a:lstStyle/>
          <a:p>
            <a:fld id="{1370230A-709D-4205-8636-A3280FD27E74}" type="slidenum">
              <a:rPr lang="en-US" smtClean="0"/>
              <a:t>29</a:t>
            </a:fld>
            <a:endParaRPr lang="en-US"/>
          </a:p>
        </p:txBody>
      </p:sp>
      <p:sp>
        <p:nvSpPr>
          <p:cNvPr id="9" name="Rectangle 8">
            <a:extLst>
              <a:ext uri="{FF2B5EF4-FFF2-40B4-BE49-F238E27FC236}">
                <a16:creationId xmlns:a16="http://schemas.microsoft.com/office/drawing/2014/main" id="{C3B185C7-8C44-6040-60F9-FD6C593AD464}"/>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10" name="Straight Connector 9">
            <a:extLst>
              <a:ext uri="{FF2B5EF4-FFF2-40B4-BE49-F238E27FC236}">
                <a16:creationId xmlns:a16="http://schemas.microsoft.com/office/drawing/2014/main" id="{3A930D45-5B29-8D2A-5E45-6F7B5D7E00C0}"/>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54548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2C2D4-17A0-E99D-DB7C-D449F6817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D2F02-E00A-3898-6645-E5466681B69E}"/>
              </a:ext>
            </a:extLst>
          </p:cNvPr>
          <p:cNvSpPr>
            <a:spLocks noGrp="1"/>
          </p:cNvSpPr>
          <p:nvPr>
            <p:ph type="title"/>
          </p:nvPr>
        </p:nvSpPr>
        <p:spPr/>
        <p:txBody>
          <a:bodyPr/>
          <a:lstStyle/>
          <a:p>
            <a:r>
              <a:rPr lang="en-US" dirty="0"/>
              <a:t>Chronological Split Design</a:t>
            </a:r>
          </a:p>
        </p:txBody>
      </p:sp>
      <p:sp>
        <p:nvSpPr>
          <p:cNvPr id="4" name="Slide Number Placeholder 3">
            <a:extLst>
              <a:ext uri="{FF2B5EF4-FFF2-40B4-BE49-F238E27FC236}">
                <a16:creationId xmlns:a16="http://schemas.microsoft.com/office/drawing/2014/main" id="{5342CA1E-FA32-A082-7F24-4332D587C1A7}"/>
              </a:ext>
            </a:extLst>
          </p:cNvPr>
          <p:cNvSpPr>
            <a:spLocks noGrp="1"/>
          </p:cNvSpPr>
          <p:nvPr>
            <p:ph type="sldNum" sz="quarter" idx="12"/>
          </p:nvPr>
        </p:nvSpPr>
        <p:spPr/>
        <p:txBody>
          <a:bodyPr/>
          <a:lstStyle/>
          <a:p>
            <a:fld id="{1370230A-709D-4205-8636-A3280FD27E74}" type="slidenum">
              <a:rPr lang="en-US" smtClean="0"/>
              <a:t>30</a:t>
            </a:fld>
            <a:endParaRPr lang="en-US"/>
          </a:p>
        </p:txBody>
      </p:sp>
      <p:sp>
        <p:nvSpPr>
          <p:cNvPr id="6" name="Rectangle 5">
            <a:extLst>
              <a:ext uri="{FF2B5EF4-FFF2-40B4-BE49-F238E27FC236}">
                <a16:creationId xmlns:a16="http://schemas.microsoft.com/office/drawing/2014/main" id="{69CB8845-E940-9541-F809-48774DE91E44}"/>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DF84CC5D-13CA-9480-8088-B05259C442A0}"/>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pic>
        <p:nvPicPr>
          <p:cNvPr id="14" name="Content Placeholder 13" descr="Rebalanced Chronological Split Timeline">
            <a:extLst>
              <a:ext uri="{FF2B5EF4-FFF2-40B4-BE49-F238E27FC236}">
                <a16:creationId xmlns:a16="http://schemas.microsoft.com/office/drawing/2014/main" id="{7862B04F-4D52-EEAB-F01E-8BE3FFA551CE}"/>
              </a:ext>
            </a:extLst>
          </p:cNvPr>
          <p:cNvPicPr>
            <a:picLocks noGrp="1" noChangeAspect="1"/>
          </p:cNvPicPr>
          <p:nvPr>
            <p:ph idx="13"/>
          </p:nvPr>
        </p:nvPicPr>
        <p:blipFill>
          <a:blip r:embed="rId3"/>
          <a:stretch>
            <a:fillRect/>
          </a:stretch>
        </p:blipFill>
        <p:spPr>
          <a:xfrm>
            <a:off x="1097280" y="3073589"/>
            <a:ext cx="10242666" cy="2047052"/>
          </a:xfrm>
          <a:prstGeom prst="rect">
            <a:avLst/>
          </a:prstGeom>
        </p:spPr>
      </p:pic>
    </p:spTree>
    <p:extLst>
      <p:ext uri="{BB962C8B-B14F-4D97-AF65-F5344CB8AC3E}">
        <p14:creationId xmlns:p14="http://schemas.microsoft.com/office/powerpoint/2010/main" val="213047196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140FFC-1AF0-8D4A-D5C5-57BAC3B39EA9}"/>
              </a:ext>
            </a:extLst>
          </p:cNvPr>
          <p:cNvSpPr>
            <a:spLocks noGrp="1"/>
          </p:cNvSpPr>
          <p:nvPr>
            <p:ph type="title"/>
          </p:nvPr>
        </p:nvSpPr>
        <p:spPr/>
        <p:txBody>
          <a:bodyPr/>
          <a:lstStyle/>
          <a:p>
            <a:r>
              <a:rPr lang="en-US" dirty="0"/>
              <a:t>Framework Selection</a:t>
            </a:r>
          </a:p>
        </p:txBody>
      </p:sp>
      <p:sp>
        <p:nvSpPr>
          <p:cNvPr id="3" name="Content Placeholder 2">
            <a:extLst>
              <a:ext uri="{FF2B5EF4-FFF2-40B4-BE49-F238E27FC236}">
                <a16:creationId xmlns:a16="http://schemas.microsoft.com/office/drawing/2014/main" id="{EF4075D1-A271-7CA2-30A6-881A8B5A34E0}"/>
              </a:ext>
            </a:extLst>
          </p:cNvPr>
          <p:cNvSpPr>
            <a:spLocks noGrp="1"/>
          </p:cNvSpPr>
          <p:nvPr>
            <p:ph idx="1"/>
          </p:nvPr>
        </p:nvSpPr>
        <p:spPr/>
        <p:txBody>
          <a:bodyPr/>
          <a:lstStyle/>
          <a:p>
            <a:pPr>
              <a:buFont typeface="Courier New" panose="02070309020205020404" pitchFamily="49" charset="0"/>
              <a:buChar char="o"/>
            </a:pPr>
            <a:r>
              <a:rPr lang="en-US" dirty="0"/>
              <a:t> Compared one-month versus three-month feature windows</a:t>
            </a:r>
          </a:p>
          <a:p>
            <a:pPr>
              <a:buFont typeface="Courier New" panose="02070309020205020404" pitchFamily="49" charset="0"/>
              <a:buChar char="o"/>
            </a:pPr>
            <a:r>
              <a:rPr lang="en-US" dirty="0"/>
              <a:t> Evaluated the inclusion of pooled active-universe context</a:t>
            </a:r>
          </a:p>
          <a:p>
            <a:pPr>
              <a:buFont typeface="Courier New" panose="02070309020205020404" pitchFamily="49" charset="0"/>
              <a:buChar char="o"/>
            </a:pPr>
            <a:r>
              <a:rPr lang="en-US" dirty="0"/>
              <a:t> Evaluated the addition of Daily price variants</a:t>
            </a:r>
          </a:p>
        </p:txBody>
      </p:sp>
      <p:sp>
        <p:nvSpPr>
          <p:cNvPr id="4" name="Slide Number Placeholder 3">
            <a:extLst>
              <a:ext uri="{FF2B5EF4-FFF2-40B4-BE49-F238E27FC236}">
                <a16:creationId xmlns:a16="http://schemas.microsoft.com/office/drawing/2014/main" id="{73160541-65C9-4E93-86A4-3FCC447B174A}"/>
              </a:ext>
            </a:extLst>
          </p:cNvPr>
          <p:cNvSpPr>
            <a:spLocks noGrp="1"/>
          </p:cNvSpPr>
          <p:nvPr>
            <p:ph type="sldNum" sz="quarter" idx="12"/>
          </p:nvPr>
        </p:nvSpPr>
        <p:spPr/>
        <p:txBody>
          <a:bodyPr/>
          <a:lstStyle/>
          <a:p>
            <a:fld id="{1370230A-709D-4205-8636-A3280FD27E74}" type="slidenum">
              <a:rPr lang="en-US" smtClean="0"/>
              <a:t>31</a:t>
            </a:fld>
            <a:endParaRPr lang="en-US"/>
          </a:p>
        </p:txBody>
      </p:sp>
    </p:spTree>
    <p:extLst>
      <p:ext uri="{BB962C8B-B14F-4D97-AF65-F5344CB8AC3E}">
        <p14:creationId xmlns:p14="http://schemas.microsoft.com/office/powerpoint/2010/main" val="30790767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5713C-F5B5-1A8D-96AC-B88E0F319B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2A60BF-ECE8-4B81-7810-F2B8B4B99C63}"/>
              </a:ext>
            </a:extLst>
          </p:cNvPr>
          <p:cNvSpPr>
            <a:spLocks noGrp="1"/>
          </p:cNvSpPr>
          <p:nvPr>
            <p:ph type="title"/>
          </p:nvPr>
        </p:nvSpPr>
        <p:spPr/>
        <p:txBody>
          <a:bodyPr/>
          <a:lstStyle/>
          <a:p>
            <a:r>
              <a:rPr lang="en-US" dirty="0"/>
              <a:t>Feature and Hyperparameters</a:t>
            </a:r>
          </a:p>
        </p:txBody>
      </p:sp>
      <p:sp>
        <p:nvSpPr>
          <p:cNvPr id="3" name="Content Placeholder 2">
            <a:extLst>
              <a:ext uri="{FF2B5EF4-FFF2-40B4-BE49-F238E27FC236}">
                <a16:creationId xmlns:a16="http://schemas.microsoft.com/office/drawing/2014/main" id="{201E0DF1-D1EF-EC8D-9810-C071BADA3074}"/>
              </a:ext>
            </a:extLst>
          </p:cNvPr>
          <p:cNvSpPr>
            <a:spLocks noGrp="1"/>
          </p:cNvSpPr>
          <p:nvPr>
            <p:ph idx="1"/>
          </p:nvPr>
        </p:nvSpPr>
        <p:spPr/>
        <p:txBody>
          <a:bodyPr/>
          <a:lstStyle/>
          <a:p>
            <a:pPr>
              <a:buFont typeface="Courier New" panose="02070309020205020404" pitchFamily="49" charset="0"/>
              <a:buChar char="o"/>
            </a:pPr>
            <a:r>
              <a:rPr lang="en-US" dirty="0"/>
              <a:t> Ran drop-one ablations on the base set to identify which feature families contributed signal</a:t>
            </a:r>
          </a:p>
          <a:p>
            <a:pPr>
              <a:buFont typeface="Courier New" panose="02070309020205020404" pitchFamily="49" charset="0"/>
              <a:buChar char="o"/>
            </a:pPr>
            <a:r>
              <a:rPr lang="en-US" dirty="0"/>
              <a:t> Stress-tested the chosen set across seed configuration, redesigned feature families, and incremental additions before locking the final inputs</a:t>
            </a:r>
          </a:p>
          <a:p>
            <a:pPr>
              <a:buFont typeface="Courier New" panose="02070309020205020404" pitchFamily="49" charset="0"/>
              <a:buChar char="o"/>
            </a:pPr>
            <a:r>
              <a:rPr lang="en-US" dirty="0"/>
              <a:t> Used Optuna validation trials to tune PPO hyperparameters and select the configuration that generalized best</a:t>
            </a:r>
          </a:p>
        </p:txBody>
      </p:sp>
      <p:sp>
        <p:nvSpPr>
          <p:cNvPr id="4" name="Slide Number Placeholder 3">
            <a:extLst>
              <a:ext uri="{FF2B5EF4-FFF2-40B4-BE49-F238E27FC236}">
                <a16:creationId xmlns:a16="http://schemas.microsoft.com/office/drawing/2014/main" id="{64EBEEB3-1563-10EB-788F-B7B39F2B2C22}"/>
              </a:ext>
            </a:extLst>
          </p:cNvPr>
          <p:cNvSpPr>
            <a:spLocks noGrp="1"/>
          </p:cNvSpPr>
          <p:nvPr>
            <p:ph type="sldNum" sz="quarter" idx="12"/>
          </p:nvPr>
        </p:nvSpPr>
        <p:spPr/>
        <p:txBody>
          <a:bodyPr/>
          <a:lstStyle/>
          <a:p>
            <a:fld id="{1370230A-709D-4205-8636-A3280FD27E74}" type="slidenum">
              <a:rPr lang="en-US" smtClean="0"/>
              <a:t>32</a:t>
            </a:fld>
            <a:endParaRPr lang="en-US"/>
          </a:p>
        </p:txBody>
      </p:sp>
    </p:spTree>
    <p:extLst>
      <p:ext uri="{BB962C8B-B14F-4D97-AF65-F5344CB8AC3E}">
        <p14:creationId xmlns:p14="http://schemas.microsoft.com/office/powerpoint/2010/main" val="24264278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3CA72-16E7-DDAA-1628-E260466B4F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0DDADE-FFE6-D12E-5534-DA5D9380E36E}"/>
              </a:ext>
            </a:extLst>
          </p:cNvPr>
          <p:cNvSpPr>
            <a:spLocks noGrp="1"/>
          </p:cNvSpPr>
          <p:nvPr>
            <p:ph type="title"/>
          </p:nvPr>
        </p:nvSpPr>
        <p:spPr/>
        <p:txBody>
          <a:bodyPr/>
          <a:lstStyle/>
          <a:p>
            <a:r>
              <a:rPr lang="en-US" dirty="0"/>
              <a:t>Evaluation Logic</a:t>
            </a:r>
          </a:p>
        </p:txBody>
      </p:sp>
      <p:sp>
        <p:nvSpPr>
          <p:cNvPr id="4" name="Slide Number Placeholder 3">
            <a:extLst>
              <a:ext uri="{FF2B5EF4-FFF2-40B4-BE49-F238E27FC236}">
                <a16:creationId xmlns:a16="http://schemas.microsoft.com/office/drawing/2014/main" id="{B37ABEF5-B5EB-D612-B0C2-A327DCC3B91A}"/>
              </a:ext>
            </a:extLst>
          </p:cNvPr>
          <p:cNvSpPr>
            <a:spLocks noGrp="1"/>
          </p:cNvSpPr>
          <p:nvPr>
            <p:ph type="sldNum" sz="quarter" idx="12"/>
          </p:nvPr>
        </p:nvSpPr>
        <p:spPr/>
        <p:txBody>
          <a:bodyPr/>
          <a:lstStyle/>
          <a:p>
            <a:fld id="{1370230A-709D-4205-8636-A3280FD27E74}" type="slidenum">
              <a:rPr lang="en-US" smtClean="0"/>
              <a:t>33</a:t>
            </a:fld>
            <a:endParaRPr lang="en-US"/>
          </a:p>
        </p:txBody>
      </p:sp>
      <p:grpSp>
        <p:nvGrpSpPr>
          <p:cNvPr id="8" name="Group 7">
            <a:extLst>
              <a:ext uri="{FF2B5EF4-FFF2-40B4-BE49-F238E27FC236}">
                <a16:creationId xmlns:a16="http://schemas.microsoft.com/office/drawing/2014/main" id="{5C3FC93A-1F7D-DA5C-91E6-970EB8F48611}"/>
              </a:ext>
            </a:extLst>
          </p:cNvPr>
          <p:cNvGrpSpPr/>
          <p:nvPr/>
        </p:nvGrpSpPr>
        <p:grpSpPr>
          <a:xfrm>
            <a:off x="1306271" y="2497063"/>
            <a:ext cx="9579458" cy="2741407"/>
            <a:chOff x="1098927" y="2449561"/>
            <a:chExt cx="9579458" cy="2741407"/>
          </a:xfrm>
        </p:grpSpPr>
        <p:sp>
          <p:nvSpPr>
            <p:cNvPr id="9" name="Rectangle: Rounded Corners 8">
              <a:extLst>
                <a:ext uri="{FF2B5EF4-FFF2-40B4-BE49-F238E27FC236}">
                  <a16:creationId xmlns:a16="http://schemas.microsoft.com/office/drawing/2014/main" id="{44A569CE-0BE7-3346-52E6-C63858281192}"/>
                </a:ext>
              </a:extLst>
            </p:cNvPr>
            <p:cNvSpPr/>
            <p:nvPr/>
          </p:nvSpPr>
          <p:spPr>
            <a:xfrm>
              <a:off x="2299659" y="3095240"/>
              <a:ext cx="3142022" cy="2095728"/>
            </a:xfrm>
            <a:prstGeom prst="roundRect">
              <a:avLst/>
            </a:pr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02724" tIns="184912" rIns="184912" bIns="184912" numCol="1" spcCol="1270" anchor="ctr" anchorCtr="0">
              <a:noAutofit/>
            </a:bodyPr>
            <a:lstStyle/>
            <a:p>
              <a:pPr marL="0" lvl="0" indent="0" algn="l" defTabSz="1155700">
                <a:lnSpc>
                  <a:spcPct val="90000"/>
                </a:lnSpc>
                <a:spcBef>
                  <a:spcPct val="0"/>
                </a:spcBef>
                <a:spcAft>
                  <a:spcPct val="35000"/>
                </a:spcAft>
                <a:buNone/>
              </a:pPr>
              <a:r>
                <a:rPr lang="en-US" sz="2600" b="0" i="0" kern="1200" dirty="0"/>
                <a:t>compare predicted ranks with realized risk ranks</a:t>
              </a:r>
              <a:endParaRPr lang="en-US" sz="2600" kern="1200" dirty="0"/>
            </a:p>
          </p:txBody>
        </p:sp>
        <p:sp>
          <p:nvSpPr>
            <p:cNvPr id="10" name="Freeform: Shape 9">
              <a:extLst>
                <a:ext uri="{FF2B5EF4-FFF2-40B4-BE49-F238E27FC236}">
                  <a16:creationId xmlns:a16="http://schemas.microsoft.com/office/drawing/2014/main" id="{126D8EE1-B5A1-5B48-C3BD-0E0CDE98963A}"/>
                </a:ext>
              </a:extLst>
            </p:cNvPr>
            <p:cNvSpPr/>
            <p:nvPr/>
          </p:nvSpPr>
          <p:spPr>
            <a:xfrm>
              <a:off x="1098927" y="2449561"/>
              <a:ext cx="1635551" cy="1635551"/>
            </a:xfrm>
            <a:custGeom>
              <a:avLst/>
              <a:gdLst>
                <a:gd name="csX0" fmla="*/ 0 w 2094681"/>
                <a:gd name="csY0" fmla="*/ 1047341 h 2094681"/>
                <a:gd name="csX1" fmla="*/ 1047341 w 2094681"/>
                <a:gd name="csY1" fmla="*/ 0 h 2094681"/>
                <a:gd name="csX2" fmla="*/ 2094682 w 2094681"/>
                <a:gd name="csY2" fmla="*/ 1047341 h 2094681"/>
                <a:gd name="csX3" fmla="*/ 1047341 w 2094681"/>
                <a:gd name="csY3" fmla="*/ 2094682 h 2094681"/>
                <a:gd name="csX4" fmla="*/ 0 w 2094681"/>
                <a:gd name="csY4" fmla="*/ 1047341 h 2094681"/>
              </a:gdLst>
              <a:ahLst/>
              <a:cxnLst>
                <a:cxn ang="0">
                  <a:pos x="csX0" y="csY0"/>
                </a:cxn>
                <a:cxn ang="0">
                  <a:pos x="csX1" y="csY1"/>
                </a:cxn>
                <a:cxn ang="0">
                  <a:pos x="csX2" y="csY2"/>
                </a:cxn>
                <a:cxn ang="0">
                  <a:pos x="csX3" y="csY3"/>
                </a:cxn>
                <a:cxn ang="0">
                  <a:pos x="csX4" y="csY4"/>
                </a:cxn>
              </a:cxnLst>
              <a:rect l="l" t="t" r="r" b="b"/>
              <a:pathLst>
                <a:path w="2094681" h="2094681">
                  <a:moveTo>
                    <a:pt x="0" y="1047341"/>
                  </a:moveTo>
                  <a:cubicBezTo>
                    <a:pt x="0" y="468911"/>
                    <a:pt x="468911" y="0"/>
                    <a:pt x="1047341" y="0"/>
                  </a:cubicBezTo>
                  <a:cubicBezTo>
                    <a:pt x="1625771" y="0"/>
                    <a:pt x="2094682" y="468911"/>
                    <a:pt x="2094682" y="1047341"/>
                  </a:cubicBezTo>
                  <a:cubicBezTo>
                    <a:pt x="2094682" y="1625771"/>
                    <a:pt x="1625771" y="2094682"/>
                    <a:pt x="1047341" y="2094682"/>
                  </a:cubicBezTo>
                  <a:cubicBezTo>
                    <a:pt x="468911" y="2094682"/>
                    <a:pt x="0" y="1625771"/>
                    <a:pt x="0" y="1047341"/>
                  </a:cubicBezTo>
                  <a:close/>
                </a:path>
              </a:pathLst>
            </a:cu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306759" tIns="306759" rIns="306759" bIns="306759" numCol="1" spcCol="1270" anchor="ctr" anchorCtr="0">
              <a:noAutofit/>
            </a:bodyPr>
            <a:lstStyle/>
            <a:p>
              <a:pPr marL="0" lvl="0" indent="0" algn="ctr" defTabSz="2311400">
                <a:lnSpc>
                  <a:spcPct val="90000"/>
                </a:lnSpc>
                <a:spcBef>
                  <a:spcPct val="0"/>
                </a:spcBef>
                <a:spcAft>
                  <a:spcPct val="35000"/>
                </a:spcAft>
                <a:buNone/>
              </a:pPr>
              <a:r>
                <a:rPr lang="en-US" sz="3600" kern="1200" dirty="0"/>
                <a:t>Stage 1</a:t>
              </a:r>
            </a:p>
          </p:txBody>
        </p:sp>
        <p:sp>
          <p:nvSpPr>
            <p:cNvPr id="11" name="Rectangle: Rounded Corners 10">
              <a:extLst>
                <a:ext uri="{FF2B5EF4-FFF2-40B4-BE49-F238E27FC236}">
                  <a16:creationId xmlns:a16="http://schemas.microsoft.com/office/drawing/2014/main" id="{33F023E7-CE32-2DE4-401D-4BCCEFFF5D36}"/>
                </a:ext>
              </a:extLst>
            </p:cNvPr>
            <p:cNvSpPr/>
            <p:nvPr/>
          </p:nvSpPr>
          <p:spPr>
            <a:xfrm>
              <a:off x="7536363" y="3095240"/>
              <a:ext cx="3142022" cy="2095728"/>
            </a:xfrm>
            <a:prstGeom prst="roundRect">
              <a:avLst/>
            </a:prstGeom>
          </p:spPr>
          <p:style>
            <a:lnRef idx="2">
              <a:schemeClr val="accent3">
                <a:alpha val="90000"/>
                <a:tint val="40000"/>
                <a:hueOff val="0"/>
                <a:satOff val="0"/>
                <a:lumOff val="0"/>
                <a:alphaOff val="0"/>
              </a:schemeClr>
            </a:lnRef>
            <a:fillRef idx="1">
              <a:schemeClr val="accent3">
                <a:alpha val="90000"/>
                <a:tint val="40000"/>
                <a:hueOff val="0"/>
                <a:satOff val="0"/>
                <a:lumOff val="0"/>
                <a:alphaOff val="0"/>
              </a:schemeClr>
            </a:fillRef>
            <a:effectRef idx="0">
              <a:schemeClr val="accent3">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502723" tIns="184912" rIns="184913" bIns="184912" numCol="1" spcCol="1270" anchor="ctr" anchorCtr="0">
              <a:noAutofit/>
            </a:bodyPr>
            <a:lstStyle/>
            <a:p>
              <a:pPr marL="0" lvl="0" indent="0" algn="l" defTabSz="1155700">
                <a:lnSpc>
                  <a:spcPct val="90000"/>
                </a:lnSpc>
                <a:spcBef>
                  <a:spcPct val="0"/>
                </a:spcBef>
                <a:spcAft>
                  <a:spcPct val="35000"/>
                </a:spcAft>
                <a:buNone/>
              </a:pPr>
              <a:r>
                <a:rPr lang="en-US" sz="2600" b="0" i="0" kern="1200" dirty="0"/>
                <a:t>compare profile universes with the full active universe</a:t>
              </a:r>
              <a:endParaRPr lang="en-US" sz="2600" kern="1200" dirty="0"/>
            </a:p>
          </p:txBody>
        </p:sp>
        <p:sp>
          <p:nvSpPr>
            <p:cNvPr id="12" name="Freeform: Shape 11">
              <a:extLst>
                <a:ext uri="{FF2B5EF4-FFF2-40B4-BE49-F238E27FC236}">
                  <a16:creationId xmlns:a16="http://schemas.microsoft.com/office/drawing/2014/main" id="{DA06E568-9AA0-58AD-C18F-7D9C61EA2AC8}"/>
                </a:ext>
              </a:extLst>
            </p:cNvPr>
            <p:cNvSpPr/>
            <p:nvPr/>
          </p:nvSpPr>
          <p:spPr>
            <a:xfrm>
              <a:off x="6335631" y="2449561"/>
              <a:ext cx="1635551" cy="1635551"/>
            </a:xfrm>
            <a:custGeom>
              <a:avLst/>
              <a:gdLst>
                <a:gd name="csX0" fmla="*/ 0 w 2094681"/>
                <a:gd name="csY0" fmla="*/ 1047341 h 2094681"/>
                <a:gd name="csX1" fmla="*/ 1047341 w 2094681"/>
                <a:gd name="csY1" fmla="*/ 0 h 2094681"/>
                <a:gd name="csX2" fmla="*/ 2094682 w 2094681"/>
                <a:gd name="csY2" fmla="*/ 1047341 h 2094681"/>
                <a:gd name="csX3" fmla="*/ 1047341 w 2094681"/>
                <a:gd name="csY3" fmla="*/ 2094682 h 2094681"/>
                <a:gd name="csX4" fmla="*/ 0 w 2094681"/>
                <a:gd name="csY4" fmla="*/ 1047341 h 2094681"/>
              </a:gdLst>
              <a:ahLst/>
              <a:cxnLst>
                <a:cxn ang="0">
                  <a:pos x="csX0" y="csY0"/>
                </a:cxn>
                <a:cxn ang="0">
                  <a:pos x="csX1" y="csY1"/>
                </a:cxn>
                <a:cxn ang="0">
                  <a:pos x="csX2" y="csY2"/>
                </a:cxn>
                <a:cxn ang="0">
                  <a:pos x="csX3" y="csY3"/>
                </a:cxn>
                <a:cxn ang="0">
                  <a:pos x="csX4" y="csY4"/>
                </a:cxn>
              </a:cxnLst>
              <a:rect l="l" t="t" r="r" b="b"/>
              <a:pathLst>
                <a:path w="2094681" h="2094681">
                  <a:moveTo>
                    <a:pt x="0" y="1047341"/>
                  </a:moveTo>
                  <a:cubicBezTo>
                    <a:pt x="0" y="468911"/>
                    <a:pt x="468911" y="0"/>
                    <a:pt x="1047341" y="0"/>
                  </a:cubicBezTo>
                  <a:cubicBezTo>
                    <a:pt x="1625771" y="0"/>
                    <a:pt x="2094682" y="468911"/>
                    <a:pt x="2094682" y="1047341"/>
                  </a:cubicBezTo>
                  <a:cubicBezTo>
                    <a:pt x="2094682" y="1625771"/>
                    <a:pt x="1625771" y="2094682"/>
                    <a:pt x="1047341" y="2094682"/>
                  </a:cubicBezTo>
                  <a:cubicBezTo>
                    <a:pt x="468911" y="2094682"/>
                    <a:pt x="0" y="1625771"/>
                    <a:pt x="0" y="1047341"/>
                  </a:cubicBezTo>
                  <a:close/>
                </a:path>
              </a:pathLst>
            </a:custGeom>
          </p:spPr>
          <p:style>
            <a:lnRef idx="3">
              <a:schemeClr val="lt1">
                <a:hueOff val="0"/>
                <a:satOff val="0"/>
                <a:lumOff val="0"/>
                <a:alphaOff val="0"/>
              </a:schemeClr>
            </a:lnRef>
            <a:fillRef idx="1">
              <a:schemeClr val="accent3">
                <a:hueOff val="0"/>
                <a:satOff val="0"/>
                <a:lumOff val="0"/>
                <a:alphaOff val="0"/>
              </a:schemeClr>
            </a:fillRef>
            <a:effectRef idx="1">
              <a:schemeClr val="accent3">
                <a:hueOff val="0"/>
                <a:satOff val="0"/>
                <a:lumOff val="0"/>
                <a:alphaOff val="0"/>
              </a:schemeClr>
            </a:effectRef>
            <a:fontRef idx="minor">
              <a:schemeClr val="lt1"/>
            </a:fontRef>
          </p:style>
          <p:txBody>
            <a:bodyPr spcFirstLastPara="0" vert="horz" wrap="square" lIns="306759" tIns="306759" rIns="306759" bIns="306759" numCol="1" spcCol="1270" anchor="ctr" anchorCtr="0">
              <a:noAutofit/>
            </a:bodyPr>
            <a:lstStyle/>
            <a:p>
              <a:pPr marL="0" lvl="0" indent="0" algn="ctr" defTabSz="2311400">
                <a:lnSpc>
                  <a:spcPct val="90000"/>
                </a:lnSpc>
                <a:spcBef>
                  <a:spcPct val="0"/>
                </a:spcBef>
                <a:spcAft>
                  <a:spcPct val="35000"/>
                </a:spcAft>
                <a:buNone/>
              </a:pPr>
              <a:r>
                <a:rPr lang="en-US" sz="3600" kern="1200" dirty="0"/>
                <a:t>Stage 2</a:t>
              </a:r>
            </a:p>
          </p:txBody>
        </p:sp>
      </p:grpSp>
      <p:sp>
        <p:nvSpPr>
          <p:cNvPr id="6" name="Rectangle 5">
            <a:extLst>
              <a:ext uri="{FF2B5EF4-FFF2-40B4-BE49-F238E27FC236}">
                <a16:creationId xmlns:a16="http://schemas.microsoft.com/office/drawing/2014/main" id="{A9BDA3D6-C967-B8E8-2D4A-F66F6E3C0212}"/>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21D48F79-F52D-B7D7-4058-64FFC71D4612}"/>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19543695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115A5-7F2E-112D-E47C-2FE80C94359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E14B2536-ECA8-EC81-8CFA-0D628B138722}"/>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1544701C-F628-6F3F-F940-B52C93C2A22F}"/>
              </a:ext>
            </a:extLst>
          </p:cNvPr>
          <p:cNvSpPr>
            <a:spLocks noGrp="1"/>
          </p:cNvSpPr>
          <p:nvPr>
            <p:ph type="ctrTitle"/>
          </p:nvPr>
        </p:nvSpPr>
        <p:spPr/>
        <p:txBody>
          <a:bodyPr/>
          <a:lstStyle/>
          <a:p>
            <a:r>
              <a:rPr lang="en-US" dirty="0"/>
              <a:t>Results</a:t>
            </a:r>
          </a:p>
        </p:txBody>
      </p:sp>
      <p:sp>
        <p:nvSpPr>
          <p:cNvPr id="3" name="Slide Number Placeholder 2">
            <a:extLst>
              <a:ext uri="{FF2B5EF4-FFF2-40B4-BE49-F238E27FC236}">
                <a16:creationId xmlns:a16="http://schemas.microsoft.com/office/drawing/2014/main" id="{253B747F-2A86-5BCD-3D7C-3E55DC07C81B}"/>
              </a:ext>
            </a:extLst>
          </p:cNvPr>
          <p:cNvSpPr>
            <a:spLocks noGrp="1"/>
          </p:cNvSpPr>
          <p:nvPr>
            <p:ph type="sldNum" sz="quarter" idx="12"/>
          </p:nvPr>
        </p:nvSpPr>
        <p:spPr/>
        <p:txBody>
          <a:bodyPr/>
          <a:lstStyle/>
          <a:p>
            <a:fld id="{1370230A-709D-4205-8636-A3280FD27E74}" type="slidenum">
              <a:rPr lang="en-US" smtClean="0"/>
              <a:t>34</a:t>
            </a:fld>
            <a:endParaRPr lang="en-US"/>
          </a:p>
        </p:txBody>
      </p:sp>
      <p:sp>
        <p:nvSpPr>
          <p:cNvPr id="9" name="Rectangle 8">
            <a:extLst>
              <a:ext uri="{FF2B5EF4-FFF2-40B4-BE49-F238E27FC236}">
                <a16:creationId xmlns:a16="http://schemas.microsoft.com/office/drawing/2014/main" id="{42830F7D-8751-F5D7-1627-87D68BE83F14}"/>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2750F8D5-BBD4-82EB-75DD-505AB8341A3E}"/>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569758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763674-5DE0-20CA-0FE9-47D472065C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B6A65-814F-D5B0-BA17-9B2667BFC20B}"/>
              </a:ext>
            </a:extLst>
          </p:cNvPr>
          <p:cNvSpPr>
            <a:spLocks noGrp="1"/>
          </p:cNvSpPr>
          <p:nvPr>
            <p:ph type="title"/>
          </p:nvPr>
        </p:nvSpPr>
        <p:spPr/>
        <p:txBody>
          <a:bodyPr/>
          <a:lstStyle/>
          <a:p>
            <a:r>
              <a:rPr lang="en-US" dirty="0"/>
              <a:t>Ranking Quality</a:t>
            </a:r>
          </a:p>
        </p:txBody>
      </p:sp>
      <p:sp>
        <p:nvSpPr>
          <p:cNvPr id="4" name="Slide Number Placeholder 3">
            <a:extLst>
              <a:ext uri="{FF2B5EF4-FFF2-40B4-BE49-F238E27FC236}">
                <a16:creationId xmlns:a16="http://schemas.microsoft.com/office/drawing/2014/main" id="{7799C7BA-C4B8-BBB1-124C-EBD24C0E9E84}"/>
              </a:ext>
            </a:extLst>
          </p:cNvPr>
          <p:cNvSpPr>
            <a:spLocks noGrp="1"/>
          </p:cNvSpPr>
          <p:nvPr>
            <p:ph type="sldNum" sz="quarter" idx="12"/>
          </p:nvPr>
        </p:nvSpPr>
        <p:spPr/>
        <p:txBody>
          <a:bodyPr/>
          <a:lstStyle/>
          <a:p>
            <a:fld id="{1370230A-709D-4205-8636-A3280FD27E74}" type="slidenum">
              <a:rPr lang="en-US" smtClean="0"/>
              <a:t>35</a:t>
            </a:fld>
            <a:endParaRPr lang="en-US"/>
          </a:p>
        </p:txBody>
      </p:sp>
      <p:sp>
        <p:nvSpPr>
          <p:cNvPr id="5" name="Content Placeholder 4">
            <a:extLst>
              <a:ext uri="{FF2B5EF4-FFF2-40B4-BE49-F238E27FC236}">
                <a16:creationId xmlns:a16="http://schemas.microsoft.com/office/drawing/2014/main" id="{3935092D-F458-CB02-8775-C179B11795C0}"/>
              </a:ext>
            </a:extLst>
          </p:cNvPr>
          <p:cNvSpPr>
            <a:spLocks noGrp="1"/>
          </p:cNvSpPr>
          <p:nvPr>
            <p:ph idx="13"/>
          </p:nvPr>
        </p:nvSpPr>
        <p:spPr/>
        <p:txBody>
          <a:bodyPr/>
          <a:lstStyle/>
          <a:p>
            <a:endParaRPr lang="en-US"/>
          </a:p>
        </p:txBody>
      </p:sp>
      <p:sp>
        <p:nvSpPr>
          <p:cNvPr id="6" name="Rectangle 5">
            <a:extLst>
              <a:ext uri="{FF2B5EF4-FFF2-40B4-BE49-F238E27FC236}">
                <a16:creationId xmlns:a16="http://schemas.microsoft.com/office/drawing/2014/main" id="{BEF09A94-88DB-DACE-40EA-8F7007B66C17}"/>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D38F5017-6895-12B4-CA1B-C74D895CA3EA}"/>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31963730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58EC8-24B5-7FA3-1936-5089DDD0039D}"/>
              </a:ext>
            </a:extLst>
          </p:cNvPr>
          <p:cNvSpPr>
            <a:spLocks noGrp="1"/>
          </p:cNvSpPr>
          <p:nvPr>
            <p:ph type="title"/>
          </p:nvPr>
        </p:nvSpPr>
        <p:spPr/>
        <p:txBody>
          <a:bodyPr/>
          <a:lstStyle/>
          <a:p>
            <a:r>
              <a:rPr lang="en-US" dirty="0"/>
              <a:t>Profile-Universe Risk Separation</a:t>
            </a:r>
          </a:p>
        </p:txBody>
      </p:sp>
      <p:sp>
        <p:nvSpPr>
          <p:cNvPr id="3" name="Content Placeholder 2">
            <a:extLst>
              <a:ext uri="{FF2B5EF4-FFF2-40B4-BE49-F238E27FC236}">
                <a16:creationId xmlns:a16="http://schemas.microsoft.com/office/drawing/2014/main" id="{0B62919B-8733-14E5-C798-859021FF39C1}"/>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8B8E5BC4-0926-59FA-A9AF-74C4FBA7225B}"/>
              </a:ext>
            </a:extLst>
          </p:cNvPr>
          <p:cNvSpPr>
            <a:spLocks noGrp="1"/>
          </p:cNvSpPr>
          <p:nvPr>
            <p:ph type="sldNum" sz="quarter" idx="12"/>
          </p:nvPr>
        </p:nvSpPr>
        <p:spPr/>
        <p:txBody>
          <a:bodyPr/>
          <a:lstStyle/>
          <a:p>
            <a:fld id="{1370230A-709D-4205-8636-A3280FD27E74}" type="slidenum">
              <a:rPr lang="en-US" smtClean="0"/>
              <a:t>36</a:t>
            </a:fld>
            <a:endParaRPr lang="en-US"/>
          </a:p>
        </p:txBody>
      </p:sp>
    </p:spTree>
    <p:extLst>
      <p:ext uri="{BB962C8B-B14F-4D97-AF65-F5344CB8AC3E}">
        <p14:creationId xmlns:p14="http://schemas.microsoft.com/office/powerpoint/2010/main" val="398251413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DE1B7F-8345-7D68-AD20-A4736C36E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2BA707-3F67-90D9-987D-70286401A8AF}"/>
              </a:ext>
            </a:extLst>
          </p:cNvPr>
          <p:cNvSpPr>
            <a:spLocks noGrp="1"/>
          </p:cNvSpPr>
          <p:nvPr>
            <p:ph type="title"/>
          </p:nvPr>
        </p:nvSpPr>
        <p:spPr/>
        <p:txBody>
          <a:bodyPr/>
          <a:lstStyle/>
          <a:p>
            <a:r>
              <a:rPr lang="en-US" dirty="0"/>
              <a:t>Economic Diagnostics</a:t>
            </a:r>
          </a:p>
        </p:txBody>
      </p:sp>
      <p:sp>
        <p:nvSpPr>
          <p:cNvPr id="3" name="Content Placeholder 2">
            <a:extLst>
              <a:ext uri="{FF2B5EF4-FFF2-40B4-BE49-F238E27FC236}">
                <a16:creationId xmlns:a16="http://schemas.microsoft.com/office/drawing/2014/main" id="{FBFD4520-D56F-0476-AB9C-934BDCA3D21E}"/>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B376CD98-5B1A-0E15-DB2C-4414F5C37CD0}"/>
              </a:ext>
            </a:extLst>
          </p:cNvPr>
          <p:cNvSpPr>
            <a:spLocks noGrp="1"/>
          </p:cNvSpPr>
          <p:nvPr>
            <p:ph type="sldNum" sz="quarter" idx="12"/>
          </p:nvPr>
        </p:nvSpPr>
        <p:spPr/>
        <p:txBody>
          <a:bodyPr/>
          <a:lstStyle/>
          <a:p>
            <a:fld id="{1370230A-709D-4205-8636-A3280FD27E74}" type="slidenum">
              <a:rPr lang="en-US" smtClean="0"/>
              <a:t>37</a:t>
            </a:fld>
            <a:endParaRPr lang="en-US"/>
          </a:p>
        </p:txBody>
      </p:sp>
    </p:spTree>
    <p:extLst>
      <p:ext uri="{BB962C8B-B14F-4D97-AF65-F5344CB8AC3E}">
        <p14:creationId xmlns:p14="http://schemas.microsoft.com/office/powerpoint/2010/main" val="22263068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AB5DB-24D8-D1AE-E3A5-09372C4AB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DD4CA9-F0FC-5ACE-28E7-FEF4BC5F854C}"/>
              </a:ext>
            </a:extLst>
          </p:cNvPr>
          <p:cNvSpPr>
            <a:spLocks noGrp="1"/>
          </p:cNvSpPr>
          <p:nvPr>
            <p:ph type="title"/>
          </p:nvPr>
        </p:nvSpPr>
        <p:spPr/>
        <p:txBody>
          <a:bodyPr/>
          <a:lstStyle/>
          <a:p>
            <a:r>
              <a:rPr lang="en-US" dirty="0"/>
              <a:t>Baseline Comparison</a:t>
            </a:r>
          </a:p>
        </p:txBody>
      </p:sp>
      <p:sp>
        <p:nvSpPr>
          <p:cNvPr id="4" name="Slide Number Placeholder 3">
            <a:extLst>
              <a:ext uri="{FF2B5EF4-FFF2-40B4-BE49-F238E27FC236}">
                <a16:creationId xmlns:a16="http://schemas.microsoft.com/office/drawing/2014/main" id="{C402A42C-5C49-66F5-FFDE-73431AA4CE65}"/>
              </a:ext>
            </a:extLst>
          </p:cNvPr>
          <p:cNvSpPr>
            <a:spLocks noGrp="1"/>
          </p:cNvSpPr>
          <p:nvPr>
            <p:ph type="sldNum" sz="quarter" idx="12"/>
          </p:nvPr>
        </p:nvSpPr>
        <p:spPr/>
        <p:txBody>
          <a:bodyPr/>
          <a:lstStyle/>
          <a:p>
            <a:fld id="{1370230A-709D-4205-8636-A3280FD27E74}" type="slidenum">
              <a:rPr lang="en-US" smtClean="0"/>
              <a:t>38</a:t>
            </a:fld>
            <a:endParaRPr lang="en-US"/>
          </a:p>
        </p:txBody>
      </p:sp>
      <p:sp>
        <p:nvSpPr>
          <p:cNvPr id="5" name="Content Placeholder 4">
            <a:extLst>
              <a:ext uri="{FF2B5EF4-FFF2-40B4-BE49-F238E27FC236}">
                <a16:creationId xmlns:a16="http://schemas.microsoft.com/office/drawing/2014/main" id="{124EC728-2E9D-CF69-DB68-D039CFD3D6A5}"/>
              </a:ext>
            </a:extLst>
          </p:cNvPr>
          <p:cNvSpPr>
            <a:spLocks noGrp="1"/>
          </p:cNvSpPr>
          <p:nvPr>
            <p:ph idx="13"/>
          </p:nvPr>
        </p:nvSpPr>
        <p:spPr/>
        <p:txBody>
          <a:bodyPr/>
          <a:lstStyle/>
          <a:p>
            <a:endParaRPr lang="en-US"/>
          </a:p>
        </p:txBody>
      </p:sp>
      <p:sp>
        <p:nvSpPr>
          <p:cNvPr id="6" name="Rectangle 5">
            <a:extLst>
              <a:ext uri="{FF2B5EF4-FFF2-40B4-BE49-F238E27FC236}">
                <a16:creationId xmlns:a16="http://schemas.microsoft.com/office/drawing/2014/main" id="{5AD70B5F-48C9-83BF-E364-ABCFE597276C}"/>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D6BD6CDF-5287-B242-E27D-70C130C9F2E7}"/>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24994060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2D9D52-CC5A-BF16-5B9F-E79D96702C2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7999BEAF-2E72-73DF-E73D-D84116C055D9}"/>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8C43F0D8-DA27-6AEB-A485-6F1095613986}"/>
              </a:ext>
            </a:extLst>
          </p:cNvPr>
          <p:cNvSpPr>
            <a:spLocks noGrp="1"/>
          </p:cNvSpPr>
          <p:nvPr>
            <p:ph type="ctrTitle"/>
          </p:nvPr>
        </p:nvSpPr>
        <p:spPr/>
        <p:txBody>
          <a:bodyPr/>
          <a:lstStyle/>
          <a:p>
            <a:r>
              <a:rPr lang="en-US" dirty="0"/>
              <a:t>Conclusion</a:t>
            </a:r>
          </a:p>
        </p:txBody>
      </p:sp>
      <p:sp>
        <p:nvSpPr>
          <p:cNvPr id="3" name="Slide Number Placeholder 2">
            <a:extLst>
              <a:ext uri="{FF2B5EF4-FFF2-40B4-BE49-F238E27FC236}">
                <a16:creationId xmlns:a16="http://schemas.microsoft.com/office/drawing/2014/main" id="{6E9C0BEA-4E3D-1E19-6481-4578A8D183C8}"/>
              </a:ext>
            </a:extLst>
          </p:cNvPr>
          <p:cNvSpPr>
            <a:spLocks noGrp="1"/>
          </p:cNvSpPr>
          <p:nvPr>
            <p:ph type="sldNum" sz="quarter" idx="12"/>
          </p:nvPr>
        </p:nvSpPr>
        <p:spPr/>
        <p:txBody>
          <a:bodyPr/>
          <a:lstStyle/>
          <a:p>
            <a:fld id="{1370230A-709D-4205-8636-A3280FD27E74}" type="slidenum">
              <a:rPr lang="en-US" smtClean="0"/>
              <a:t>39</a:t>
            </a:fld>
            <a:endParaRPr lang="en-US"/>
          </a:p>
        </p:txBody>
      </p:sp>
      <p:sp>
        <p:nvSpPr>
          <p:cNvPr id="9" name="Rectangle 8">
            <a:extLst>
              <a:ext uri="{FF2B5EF4-FFF2-40B4-BE49-F238E27FC236}">
                <a16:creationId xmlns:a16="http://schemas.microsoft.com/office/drawing/2014/main" id="{72B75C39-476C-E33D-53C4-E2D02CC52168}"/>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C3DF6A21-F194-49D4-3A9A-D47DF55AE682}"/>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966625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BE34F-4A33-28A7-0170-9B1372B054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7A2604-B93C-8903-C2CC-C64CB3B1C31C}"/>
              </a:ext>
            </a:extLst>
          </p:cNvPr>
          <p:cNvSpPr>
            <a:spLocks noGrp="1"/>
          </p:cNvSpPr>
          <p:nvPr>
            <p:ph type="title"/>
          </p:nvPr>
        </p:nvSpPr>
        <p:spPr/>
        <p:txBody>
          <a:bodyPr/>
          <a:lstStyle/>
          <a:p>
            <a:r>
              <a:rPr lang="en-US" dirty="0"/>
              <a:t>Research Question Answers</a:t>
            </a:r>
          </a:p>
        </p:txBody>
      </p:sp>
      <p:sp>
        <p:nvSpPr>
          <p:cNvPr id="4" name="Slide Number Placeholder 3">
            <a:extLst>
              <a:ext uri="{FF2B5EF4-FFF2-40B4-BE49-F238E27FC236}">
                <a16:creationId xmlns:a16="http://schemas.microsoft.com/office/drawing/2014/main" id="{E9B19D73-7C6D-EF3D-4F51-F27F65CD2C2F}"/>
              </a:ext>
            </a:extLst>
          </p:cNvPr>
          <p:cNvSpPr>
            <a:spLocks noGrp="1"/>
          </p:cNvSpPr>
          <p:nvPr>
            <p:ph type="sldNum" sz="quarter" idx="12"/>
          </p:nvPr>
        </p:nvSpPr>
        <p:spPr/>
        <p:txBody>
          <a:bodyPr/>
          <a:lstStyle/>
          <a:p>
            <a:fld id="{1370230A-709D-4205-8636-A3280FD27E74}" type="slidenum">
              <a:rPr lang="en-US" smtClean="0"/>
              <a:t>40</a:t>
            </a:fld>
            <a:endParaRPr lang="en-US"/>
          </a:p>
        </p:txBody>
      </p:sp>
      <p:sp>
        <p:nvSpPr>
          <p:cNvPr id="5" name="Content Placeholder 4">
            <a:extLst>
              <a:ext uri="{FF2B5EF4-FFF2-40B4-BE49-F238E27FC236}">
                <a16:creationId xmlns:a16="http://schemas.microsoft.com/office/drawing/2014/main" id="{E00AD2B8-222C-569A-1433-588B477310D1}"/>
              </a:ext>
            </a:extLst>
          </p:cNvPr>
          <p:cNvSpPr>
            <a:spLocks noGrp="1"/>
          </p:cNvSpPr>
          <p:nvPr>
            <p:ph idx="13"/>
          </p:nvPr>
        </p:nvSpPr>
        <p:spPr/>
        <p:txBody>
          <a:bodyPr/>
          <a:lstStyle/>
          <a:p>
            <a:endParaRPr lang="en-US"/>
          </a:p>
        </p:txBody>
      </p:sp>
      <p:sp>
        <p:nvSpPr>
          <p:cNvPr id="6" name="Rectangle 5">
            <a:extLst>
              <a:ext uri="{FF2B5EF4-FFF2-40B4-BE49-F238E27FC236}">
                <a16:creationId xmlns:a16="http://schemas.microsoft.com/office/drawing/2014/main" id="{9A5A719C-6953-E763-E8A8-04E8AAEE4BA2}"/>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60E768D6-85A6-F903-CDFD-56166A158578}"/>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89585916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FD1AC-5DDE-CF93-0946-1D789193E2D1}"/>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5EA2AA5A-7712-CE85-0446-44BBDFFF900B}"/>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83CC2137-B381-6765-3EA2-9F4FC2B9276A}"/>
              </a:ext>
            </a:extLst>
          </p:cNvPr>
          <p:cNvSpPr>
            <a:spLocks noGrp="1"/>
          </p:cNvSpPr>
          <p:nvPr>
            <p:ph type="ctrTitle"/>
          </p:nvPr>
        </p:nvSpPr>
        <p:spPr/>
        <p:txBody>
          <a:bodyPr/>
          <a:lstStyle/>
          <a:p>
            <a:r>
              <a:rPr lang="en-US" dirty="0"/>
              <a:t>Future Work</a:t>
            </a:r>
          </a:p>
        </p:txBody>
      </p:sp>
      <p:sp>
        <p:nvSpPr>
          <p:cNvPr id="3" name="Slide Number Placeholder 2">
            <a:extLst>
              <a:ext uri="{FF2B5EF4-FFF2-40B4-BE49-F238E27FC236}">
                <a16:creationId xmlns:a16="http://schemas.microsoft.com/office/drawing/2014/main" id="{9A3F4243-6829-3577-F4D1-9AFDDDF06F9D}"/>
              </a:ext>
            </a:extLst>
          </p:cNvPr>
          <p:cNvSpPr>
            <a:spLocks noGrp="1"/>
          </p:cNvSpPr>
          <p:nvPr>
            <p:ph type="sldNum" sz="quarter" idx="12"/>
          </p:nvPr>
        </p:nvSpPr>
        <p:spPr/>
        <p:txBody>
          <a:bodyPr/>
          <a:lstStyle/>
          <a:p>
            <a:fld id="{1370230A-709D-4205-8636-A3280FD27E74}" type="slidenum">
              <a:rPr lang="en-US" smtClean="0"/>
              <a:t>41</a:t>
            </a:fld>
            <a:endParaRPr lang="en-US"/>
          </a:p>
        </p:txBody>
      </p:sp>
      <p:sp>
        <p:nvSpPr>
          <p:cNvPr id="9" name="Rectangle 8">
            <a:extLst>
              <a:ext uri="{FF2B5EF4-FFF2-40B4-BE49-F238E27FC236}">
                <a16:creationId xmlns:a16="http://schemas.microsoft.com/office/drawing/2014/main" id="{26791D62-E96F-A213-85E8-8B9E380A8EBA}"/>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36FC8B30-4035-3013-7C1B-AAFD322C2C8E}"/>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6430544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C72CD-1FA5-5BD7-7549-C6FD2F6074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B5452-E424-5FA2-53E3-40E0B407B62F}"/>
              </a:ext>
            </a:extLst>
          </p:cNvPr>
          <p:cNvSpPr>
            <a:spLocks noGrp="1"/>
          </p:cNvSpPr>
          <p:nvPr>
            <p:ph type="title"/>
          </p:nvPr>
        </p:nvSpPr>
        <p:spPr/>
        <p:txBody>
          <a:bodyPr/>
          <a:lstStyle/>
          <a:p>
            <a:r>
              <a:rPr lang="en-US" dirty="0"/>
              <a:t>Live Data and Forward Testing</a:t>
            </a:r>
          </a:p>
        </p:txBody>
      </p:sp>
      <p:sp>
        <p:nvSpPr>
          <p:cNvPr id="4" name="Slide Number Placeholder 3">
            <a:extLst>
              <a:ext uri="{FF2B5EF4-FFF2-40B4-BE49-F238E27FC236}">
                <a16:creationId xmlns:a16="http://schemas.microsoft.com/office/drawing/2014/main" id="{13A43503-5E3E-E433-D210-5B4F5261A98D}"/>
              </a:ext>
            </a:extLst>
          </p:cNvPr>
          <p:cNvSpPr>
            <a:spLocks noGrp="1"/>
          </p:cNvSpPr>
          <p:nvPr>
            <p:ph type="sldNum" sz="quarter" idx="12"/>
          </p:nvPr>
        </p:nvSpPr>
        <p:spPr/>
        <p:txBody>
          <a:bodyPr/>
          <a:lstStyle/>
          <a:p>
            <a:fld id="{1370230A-709D-4205-8636-A3280FD27E74}" type="slidenum">
              <a:rPr lang="en-US" smtClean="0"/>
              <a:t>42</a:t>
            </a:fld>
            <a:endParaRPr lang="en-US"/>
          </a:p>
        </p:txBody>
      </p:sp>
      <p:sp>
        <p:nvSpPr>
          <p:cNvPr id="5" name="Content Placeholder 4">
            <a:extLst>
              <a:ext uri="{FF2B5EF4-FFF2-40B4-BE49-F238E27FC236}">
                <a16:creationId xmlns:a16="http://schemas.microsoft.com/office/drawing/2014/main" id="{2121E37A-21E4-8CB3-EC45-E325A9F0DD42}"/>
              </a:ext>
            </a:extLst>
          </p:cNvPr>
          <p:cNvSpPr>
            <a:spLocks noGrp="1"/>
          </p:cNvSpPr>
          <p:nvPr>
            <p:ph idx="13"/>
          </p:nvPr>
        </p:nvSpPr>
        <p:spPr/>
        <p:txBody>
          <a:bodyPr/>
          <a:lstStyle/>
          <a:p>
            <a:endParaRPr lang="en-US"/>
          </a:p>
        </p:txBody>
      </p:sp>
      <p:sp>
        <p:nvSpPr>
          <p:cNvPr id="6" name="Rectangle 5">
            <a:extLst>
              <a:ext uri="{FF2B5EF4-FFF2-40B4-BE49-F238E27FC236}">
                <a16:creationId xmlns:a16="http://schemas.microsoft.com/office/drawing/2014/main" id="{AD33A49E-1CD1-153B-22DC-E540F739E85E}"/>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8EF3B326-6448-9FAF-A8B1-0BCE259CE63D}"/>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995057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4AFBC-57C1-671C-2937-91C00058F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B2DC4-A870-7360-7669-9DABB4FC4571}"/>
              </a:ext>
            </a:extLst>
          </p:cNvPr>
          <p:cNvSpPr>
            <a:spLocks noGrp="1"/>
          </p:cNvSpPr>
          <p:nvPr>
            <p:ph type="title"/>
          </p:nvPr>
        </p:nvSpPr>
        <p:spPr/>
        <p:txBody>
          <a:bodyPr/>
          <a:lstStyle/>
          <a:p>
            <a:r>
              <a:rPr lang="en-US" dirty="0"/>
              <a:t>Return-Aware Suitability</a:t>
            </a:r>
          </a:p>
        </p:txBody>
      </p:sp>
      <p:sp>
        <p:nvSpPr>
          <p:cNvPr id="4" name="Slide Number Placeholder 3">
            <a:extLst>
              <a:ext uri="{FF2B5EF4-FFF2-40B4-BE49-F238E27FC236}">
                <a16:creationId xmlns:a16="http://schemas.microsoft.com/office/drawing/2014/main" id="{2DA583BF-2BDE-633A-5C25-AACDDF9110B7}"/>
              </a:ext>
            </a:extLst>
          </p:cNvPr>
          <p:cNvSpPr>
            <a:spLocks noGrp="1"/>
          </p:cNvSpPr>
          <p:nvPr>
            <p:ph type="sldNum" sz="quarter" idx="12"/>
          </p:nvPr>
        </p:nvSpPr>
        <p:spPr/>
        <p:txBody>
          <a:bodyPr/>
          <a:lstStyle/>
          <a:p>
            <a:fld id="{1370230A-709D-4205-8636-A3280FD27E74}" type="slidenum">
              <a:rPr lang="en-US" smtClean="0"/>
              <a:t>43</a:t>
            </a:fld>
            <a:endParaRPr lang="en-US"/>
          </a:p>
        </p:txBody>
      </p:sp>
      <p:sp>
        <p:nvSpPr>
          <p:cNvPr id="5" name="Content Placeholder 4">
            <a:extLst>
              <a:ext uri="{FF2B5EF4-FFF2-40B4-BE49-F238E27FC236}">
                <a16:creationId xmlns:a16="http://schemas.microsoft.com/office/drawing/2014/main" id="{4950A82A-1DBF-2F2D-E1E9-9E84E4B1D5A5}"/>
              </a:ext>
            </a:extLst>
          </p:cNvPr>
          <p:cNvSpPr>
            <a:spLocks noGrp="1"/>
          </p:cNvSpPr>
          <p:nvPr>
            <p:ph idx="13"/>
          </p:nvPr>
        </p:nvSpPr>
        <p:spPr/>
        <p:txBody>
          <a:bodyPr/>
          <a:lstStyle/>
          <a:p>
            <a:endParaRPr lang="en-US"/>
          </a:p>
        </p:txBody>
      </p:sp>
      <p:sp>
        <p:nvSpPr>
          <p:cNvPr id="6" name="Rectangle 5">
            <a:extLst>
              <a:ext uri="{FF2B5EF4-FFF2-40B4-BE49-F238E27FC236}">
                <a16:creationId xmlns:a16="http://schemas.microsoft.com/office/drawing/2014/main" id="{D92A5F04-BDCD-CC33-C444-D39B844EC847}"/>
              </a:ext>
            </a:extLst>
          </p:cNvPr>
          <p:cNvSpPr/>
          <p:nvPr/>
        </p:nvSpPr>
        <p:spPr>
          <a:xfrm rot="5400000">
            <a:off x="-3297182" y="3294122"/>
            <a:ext cx="6857999" cy="269764"/>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7" name="Rectangle 6">
            <a:extLst>
              <a:ext uri="{FF2B5EF4-FFF2-40B4-BE49-F238E27FC236}">
                <a16:creationId xmlns:a16="http://schemas.microsoft.com/office/drawing/2014/main" id="{509B7C6A-99D8-352A-0D4F-B4DCCCC179D7}"/>
              </a:ext>
            </a:extLst>
          </p:cNvPr>
          <p:cNvSpPr/>
          <p:nvPr/>
        </p:nvSpPr>
        <p:spPr>
          <a:xfrm rot="5400000">
            <a:off x="-3108962" y="3406141"/>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68717508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598AFA-39AD-9513-D64C-AEFDB678BF73}"/>
              </a:ext>
            </a:extLst>
          </p:cNvPr>
          <p:cNvSpPr>
            <a:spLocks noGrp="1"/>
          </p:cNvSpPr>
          <p:nvPr>
            <p:ph type="title"/>
          </p:nvPr>
        </p:nvSpPr>
        <p:spPr/>
        <p:txBody>
          <a:bodyPr/>
          <a:lstStyle/>
          <a:p>
            <a:r>
              <a:rPr lang="en-US" dirty="0"/>
              <a:t>Key References</a:t>
            </a:r>
          </a:p>
        </p:txBody>
      </p:sp>
      <p:sp>
        <p:nvSpPr>
          <p:cNvPr id="3" name="Content Placeholder 2">
            <a:extLst>
              <a:ext uri="{FF2B5EF4-FFF2-40B4-BE49-F238E27FC236}">
                <a16:creationId xmlns:a16="http://schemas.microsoft.com/office/drawing/2014/main" id="{14B3B53E-0784-1A28-DBDC-2874E84D5AA2}"/>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C9822F69-DAAD-B8E5-58DF-15BED3BBA8F6}"/>
              </a:ext>
            </a:extLst>
          </p:cNvPr>
          <p:cNvSpPr>
            <a:spLocks noGrp="1"/>
          </p:cNvSpPr>
          <p:nvPr>
            <p:ph type="sldNum" sz="quarter" idx="12"/>
          </p:nvPr>
        </p:nvSpPr>
        <p:spPr/>
        <p:txBody>
          <a:bodyPr/>
          <a:lstStyle/>
          <a:p>
            <a:fld id="{1370230A-709D-4205-8636-A3280FD27E74}" type="slidenum">
              <a:rPr lang="en-US" smtClean="0"/>
              <a:t>44</a:t>
            </a:fld>
            <a:endParaRPr lang="en-US"/>
          </a:p>
        </p:txBody>
      </p:sp>
    </p:spTree>
    <p:extLst>
      <p:ext uri="{BB962C8B-B14F-4D97-AF65-F5344CB8AC3E}">
        <p14:creationId xmlns:p14="http://schemas.microsoft.com/office/powerpoint/2010/main" val="4607155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37EE6-31DC-CF8C-3527-3455145C11C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8DCD7553-10BB-6B70-CE9C-6873E1E0FDBD}"/>
              </a:ext>
            </a:extLst>
          </p:cNvPr>
          <p:cNvSpPr/>
          <p:nvPr/>
        </p:nvSpPr>
        <p:spPr>
          <a:xfrm rot="5400000">
            <a:off x="2587337" y="-2587332"/>
            <a:ext cx="6857999" cy="12032677"/>
          </a:xfrm>
          <a:prstGeom prst="rect">
            <a:avLst/>
          </a:prstGeom>
          <a:solidFill>
            <a:schemeClr val="dk1"/>
          </a:solidFill>
          <a:ln>
            <a:noFill/>
          </a:ln>
        </p:spPr>
        <p:style>
          <a:lnRef idx="0">
            <a:scrgbClr r="0" g="0" b="0"/>
          </a:lnRef>
          <a:fillRef idx="0">
            <a:scrgbClr r="0" g="0" b="0"/>
          </a:fillRef>
          <a:effectRef idx="0">
            <a:scrgbClr r="0" g="0" b="0"/>
          </a:effectRef>
          <a:fontRef idx="minor">
            <a:schemeClr val="lt1"/>
          </a:fontRef>
        </p:style>
        <p:txBody>
          <a:bodyPr/>
          <a:lstStyle/>
          <a:p>
            <a:endParaRPr lang="en-US">
              <a:solidFill>
                <a:schemeClr val="tx1"/>
              </a:solidFill>
            </a:endParaRPr>
          </a:p>
        </p:txBody>
      </p:sp>
      <p:sp>
        <p:nvSpPr>
          <p:cNvPr id="2" name="Title 1">
            <a:extLst>
              <a:ext uri="{FF2B5EF4-FFF2-40B4-BE49-F238E27FC236}">
                <a16:creationId xmlns:a16="http://schemas.microsoft.com/office/drawing/2014/main" id="{8D01E4A5-C67C-4F9F-0930-AFE7DB6D02F4}"/>
              </a:ext>
            </a:extLst>
          </p:cNvPr>
          <p:cNvSpPr>
            <a:spLocks noGrp="1"/>
          </p:cNvSpPr>
          <p:nvPr>
            <p:ph type="ctrTitle"/>
          </p:nvPr>
        </p:nvSpPr>
        <p:spPr/>
        <p:txBody>
          <a:bodyPr/>
          <a:lstStyle/>
          <a:p>
            <a:r>
              <a:rPr lang="en-US" dirty="0"/>
              <a:t>Q&amp;A</a:t>
            </a:r>
          </a:p>
        </p:txBody>
      </p:sp>
      <p:sp>
        <p:nvSpPr>
          <p:cNvPr id="3" name="Slide Number Placeholder 2">
            <a:extLst>
              <a:ext uri="{FF2B5EF4-FFF2-40B4-BE49-F238E27FC236}">
                <a16:creationId xmlns:a16="http://schemas.microsoft.com/office/drawing/2014/main" id="{A72EF5A2-72A1-C1FD-7C49-8FE02533DD3D}"/>
              </a:ext>
            </a:extLst>
          </p:cNvPr>
          <p:cNvSpPr>
            <a:spLocks noGrp="1"/>
          </p:cNvSpPr>
          <p:nvPr>
            <p:ph type="sldNum" sz="quarter" idx="12"/>
          </p:nvPr>
        </p:nvSpPr>
        <p:spPr/>
        <p:txBody>
          <a:bodyPr/>
          <a:lstStyle/>
          <a:p>
            <a:fld id="{1370230A-709D-4205-8636-A3280FD27E74}" type="slidenum">
              <a:rPr lang="en-US" smtClean="0"/>
              <a:t>45</a:t>
            </a:fld>
            <a:endParaRPr lang="en-US"/>
          </a:p>
        </p:txBody>
      </p:sp>
      <p:sp>
        <p:nvSpPr>
          <p:cNvPr id="9" name="Rectangle 8">
            <a:extLst>
              <a:ext uri="{FF2B5EF4-FFF2-40B4-BE49-F238E27FC236}">
                <a16:creationId xmlns:a16="http://schemas.microsoft.com/office/drawing/2014/main" id="{887E2BE3-BC4F-9CE7-1C9E-45709A45E2C1}"/>
              </a:ext>
            </a:extLst>
          </p:cNvPr>
          <p:cNvSpPr/>
          <p:nvPr/>
        </p:nvSpPr>
        <p:spPr>
          <a:xfrm rot="5400000">
            <a:off x="8657014" y="3406143"/>
            <a:ext cx="6858002" cy="457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cxnSp>
        <p:nvCxnSpPr>
          <p:cNvPr id="4" name="Straight Connector 3">
            <a:extLst>
              <a:ext uri="{FF2B5EF4-FFF2-40B4-BE49-F238E27FC236}">
                <a16:creationId xmlns:a16="http://schemas.microsoft.com/office/drawing/2014/main" id="{3E4F9760-FA75-20B0-B1FD-60A6EA00284F}"/>
              </a:ext>
            </a:extLst>
          </p:cNvPr>
          <p:cNvCxnSpPr>
            <a:cxnSpLocks/>
          </p:cNvCxnSpPr>
          <p:nvPr/>
        </p:nvCxnSpPr>
        <p:spPr>
          <a:xfrm>
            <a:off x="1186070" y="5212080"/>
            <a:ext cx="9939130" cy="0"/>
          </a:xfrm>
          <a:prstGeom prst="line">
            <a:avLst/>
          </a:prstGeom>
          <a:ln>
            <a:solidFill>
              <a:schemeClr val="tx1">
                <a:lumMod val="25000"/>
                <a:lumOff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030836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C719DD-D800-0D7A-C7CE-1FA0D0345929}"/>
              </a:ext>
            </a:extLst>
          </p:cNvPr>
          <p:cNvSpPr>
            <a:spLocks noGrp="1"/>
          </p:cNvSpPr>
          <p:nvPr>
            <p:ph type="ctrTitle"/>
          </p:nvPr>
        </p:nvSpPr>
        <p:spPr/>
        <p:txBody>
          <a:bodyPr/>
          <a:lstStyle/>
          <a:p>
            <a:r>
              <a:rPr lang="en-US" dirty="0"/>
              <a:t>Thank You</a:t>
            </a:r>
          </a:p>
        </p:txBody>
      </p:sp>
      <p:sp>
        <p:nvSpPr>
          <p:cNvPr id="3" name="Slide Number Placeholder 2">
            <a:extLst>
              <a:ext uri="{FF2B5EF4-FFF2-40B4-BE49-F238E27FC236}">
                <a16:creationId xmlns:a16="http://schemas.microsoft.com/office/drawing/2014/main" id="{828648F4-4DB9-7651-9CC5-CBEFF75BBF41}"/>
              </a:ext>
            </a:extLst>
          </p:cNvPr>
          <p:cNvSpPr>
            <a:spLocks noGrp="1"/>
          </p:cNvSpPr>
          <p:nvPr>
            <p:ph type="sldNum" sz="quarter" idx="12"/>
          </p:nvPr>
        </p:nvSpPr>
        <p:spPr/>
        <p:txBody>
          <a:bodyPr/>
          <a:lstStyle/>
          <a:p>
            <a:fld id="{1370230A-709D-4205-8636-A3280FD27E74}" type="slidenum">
              <a:rPr lang="en-US" smtClean="0"/>
              <a:t>46</a:t>
            </a:fld>
            <a:endParaRPr lang="en-US"/>
          </a:p>
        </p:txBody>
      </p:sp>
    </p:spTree>
    <p:extLst>
      <p:ext uri="{BB962C8B-B14F-4D97-AF65-F5344CB8AC3E}">
        <p14:creationId xmlns:p14="http://schemas.microsoft.com/office/powerpoint/2010/main" val="283058717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Retrospect">
  <a:themeElements>
    <a:clrScheme name="Custom 4">
      <a:dk1>
        <a:srgbClr val="0C171F"/>
      </a:dk1>
      <a:lt1>
        <a:srgbClr val="F8F8F8"/>
      </a:lt1>
      <a:dk2>
        <a:srgbClr val="0C171F"/>
      </a:dk2>
      <a:lt2>
        <a:srgbClr val="F8F8F8"/>
      </a:lt2>
      <a:accent1>
        <a:srgbClr val="00F700"/>
      </a:accent1>
      <a:accent2>
        <a:srgbClr val="00F700"/>
      </a:accent2>
      <a:accent3>
        <a:srgbClr val="1F394D"/>
      </a:accent3>
      <a:accent4>
        <a:srgbClr val="9B8357"/>
      </a:accent4>
      <a:accent5>
        <a:srgbClr val="C2BC80"/>
      </a:accent5>
      <a:accent6>
        <a:srgbClr val="94A088"/>
      </a:accent6>
      <a:hlink>
        <a:srgbClr val="2998E3"/>
      </a:hlink>
      <a:folHlink>
        <a:srgbClr val="8C8C8C"/>
      </a:folHlink>
    </a:clrScheme>
    <a:fontScheme name="Advansys">
      <a:majorFont>
        <a:latin typeface="Century Gothic"/>
        <a:ea typeface=""/>
        <a:cs typeface=""/>
      </a:majorFont>
      <a:minorFont>
        <a:latin typeface="Calibri"/>
        <a:ea typeface=""/>
        <a:cs typeface=""/>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3">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5F3695E-1BAD-43B2-8A26-56D2BC4DA976}">
  <we:reference id="wa200010215" version="2.0.0.0" store="en-US" storeType="OMEX"/>
  <we:alternateReferences>
    <we:reference id="wa200010215" version="2.0.0.0" store="wa200010215"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Retrospect</Template>
  <TotalTime>1381</TotalTime>
  <Words>4422</Words>
  <Application>Microsoft Office PowerPoint</Application>
  <PresentationFormat>Widescreen</PresentationFormat>
  <Paragraphs>378</Paragraphs>
  <Slides>46</Slides>
  <Notes>35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46</vt:i4>
      </vt:variant>
    </vt:vector>
  </HeadingPairs>
  <TitlesOfParts>
    <vt:vector size="51" baseType="lpstr">
      <vt:lpstr>Aptos</vt:lpstr>
      <vt:lpstr>Calibri</vt:lpstr>
      <vt:lpstr>Century Gothic</vt:lpstr>
      <vt:lpstr>Courier New</vt:lpstr>
      <vt:lpstr>Retrospect</vt:lpstr>
      <vt:lpstr>AI Portfolio Optimization</vt:lpstr>
      <vt:lpstr>Roadmap</vt:lpstr>
      <vt:lpstr>Problem Definition</vt:lpstr>
      <vt:lpstr>The Fixed-Universe Assumption</vt:lpstr>
      <vt:lpstr>Why Universe Selection Matters?</vt:lpstr>
      <vt:lpstr>Scope and Asset Universe</vt:lpstr>
      <vt:lpstr>Research Questions</vt:lpstr>
      <vt:lpstr>Literature Review</vt:lpstr>
      <vt:lpstr>Classical Allocation Context</vt:lpstr>
      <vt:lpstr>AI/ML Preselection Context</vt:lpstr>
      <vt:lpstr>DEA Preselection Paper</vt:lpstr>
      <vt:lpstr>RL And Investor Personalization</vt:lpstr>
      <vt:lpstr>Proposed Solution</vt:lpstr>
      <vt:lpstr>Contribution In One View</vt:lpstr>
      <vt:lpstr>What does the Model Predict ?</vt:lpstr>
      <vt:lpstr>Methodology</vt:lpstr>
      <vt:lpstr>Raw Data Engineering</vt:lpstr>
      <vt:lpstr>Point-In-Time Monthly Panel</vt:lpstr>
      <vt:lpstr>Feature Families</vt:lpstr>
      <vt:lpstr>Realized Risk Target</vt:lpstr>
      <vt:lpstr>What Is Reinforcement Learning</vt:lpstr>
      <vt:lpstr>Why Reinforcement Learning</vt:lpstr>
      <vt:lpstr>Why PPO</vt:lpstr>
      <vt:lpstr>PPO Episode Format</vt:lpstr>
      <vt:lpstr>Variable Universe &amp; Masking</vt:lpstr>
      <vt:lpstr>Actor-Critic Architecture</vt:lpstr>
      <vt:lpstr>Reward Definition</vt:lpstr>
      <vt:lpstr>Profile-Specific Asset Universes</vt:lpstr>
      <vt:lpstr>Experiments</vt:lpstr>
      <vt:lpstr>Chronological Split Design</vt:lpstr>
      <vt:lpstr>Framework Selection</vt:lpstr>
      <vt:lpstr>Feature and Hyperparameters</vt:lpstr>
      <vt:lpstr>Evaluation Logic</vt:lpstr>
      <vt:lpstr>Results</vt:lpstr>
      <vt:lpstr>Ranking Quality</vt:lpstr>
      <vt:lpstr>Profile-Universe Risk Separation</vt:lpstr>
      <vt:lpstr>Economic Diagnostics</vt:lpstr>
      <vt:lpstr>Baseline Comparison</vt:lpstr>
      <vt:lpstr>Conclusion</vt:lpstr>
      <vt:lpstr>Research Question Answers</vt:lpstr>
      <vt:lpstr>Future Work</vt:lpstr>
      <vt:lpstr>Live Data and Forward Testing</vt:lpstr>
      <vt:lpstr>Return-Aware Suitability</vt:lpstr>
      <vt:lpstr>Key References</vt:lpstr>
      <vt:lpstr>Q&amp;A</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Abuelkheir</dc:creator>
  <cp:lastModifiedBy>Ali Abuelkheir</cp:lastModifiedBy>
  <cp:revision>4</cp:revision>
  <dcterms:created xsi:type="dcterms:W3CDTF">2026-06-04T02:00:01Z</dcterms:created>
  <dcterms:modified xsi:type="dcterms:W3CDTF">2026-06-07T14:26:34Z</dcterms:modified>
</cp:coreProperties>
</file>