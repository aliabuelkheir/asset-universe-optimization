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8.xml" ContentType="application/vnd.openxmlformats-officedocument.presentationml.notesSlide+xml"/>
  <Override PartName="/ppt/charts/chart2.xml" ContentType="application/vnd.openxmlformats-officedocument.drawingml.chart+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1"/>
  </p:notesMasterIdLst>
  <p:sldIdLst>
    <p:sldId id="256" r:id="rId2"/>
    <p:sldId id="359" r:id="rId3"/>
    <p:sldId id="258" r:id="rId4"/>
    <p:sldId id="360" r:id="rId5"/>
    <p:sldId id="398" r:id="rId6"/>
    <p:sldId id="361" r:id="rId7"/>
    <p:sldId id="362" r:id="rId8"/>
    <p:sldId id="363" r:id="rId9"/>
    <p:sldId id="264" r:id="rId10"/>
    <p:sldId id="364" r:id="rId11"/>
    <p:sldId id="365" r:id="rId12"/>
    <p:sldId id="366" r:id="rId13"/>
    <p:sldId id="367" r:id="rId14"/>
    <p:sldId id="269" r:id="rId15"/>
    <p:sldId id="368" r:id="rId16"/>
    <p:sldId id="272" r:id="rId17"/>
    <p:sldId id="382" r:id="rId18"/>
    <p:sldId id="370" r:id="rId19"/>
    <p:sldId id="371" r:id="rId20"/>
    <p:sldId id="372" r:id="rId21"/>
    <p:sldId id="373" r:id="rId22"/>
    <p:sldId id="374" r:id="rId23"/>
    <p:sldId id="375" r:id="rId24"/>
    <p:sldId id="376" r:id="rId25"/>
    <p:sldId id="377" r:id="rId26"/>
    <p:sldId id="378" r:id="rId27"/>
    <p:sldId id="379" r:id="rId28"/>
    <p:sldId id="380" r:id="rId29"/>
    <p:sldId id="381" r:id="rId30"/>
    <p:sldId id="286" r:id="rId31"/>
    <p:sldId id="383" r:id="rId32"/>
    <p:sldId id="384" r:id="rId33"/>
    <p:sldId id="396" r:id="rId34"/>
    <p:sldId id="385" r:id="rId35"/>
    <p:sldId id="317" r:id="rId36"/>
    <p:sldId id="386" r:id="rId37"/>
    <p:sldId id="387" r:id="rId38"/>
    <p:sldId id="388" r:id="rId39"/>
    <p:sldId id="389" r:id="rId40"/>
    <p:sldId id="324" r:id="rId41"/>
    <p:sldId id="390" r:id="rId42"/>
    <p:sldId id="326" r:id="rId43"/>
    <p:sldId id="397" r:id="rId44"/>
    <p:sldId id="391" r:id="rId45"/>
    <p:sldId id="392" r:id="rId46"/>
    <p:sldId id="393" r:id="rId47"/>
    <p:sldId id="337" r:id="rId48"/>
    <p:sldId id="336" r:id="rId49"/>
    <p:sldId id="395" r:id="rId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168" userDrawn="1">
          <p15:clr>
            <a:srgbClr val="A4A3A4"/>
          </p15:clr>
        </p15:guide>
        <p15:guide id="3" pos="21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76" autoAdjust="0"/>
    <p:restoredTop sz="76930" autoAdjust="0"/>
  </p:normalViewPr>
  <p:slideViewPr>
    <p:cSldViewPr snapToGrid="0">
      <p:cViewPr varScale="1">
        <p:scale>
          <a:sx n="74" d="100"/>
          <a:sy n="74" d="100"/>
        </p:scale>
        <p:origin x="1700" y="44"/>
      </p:cViewPr>
      <p:guideLst>
        <p:guide orient="horz" pos="2160"/>
        <p:guide pos="168"/>
        <p:guide pos="216"/>
      </p:guideLst>
    </p:cSldViewPr>
  </p:slideViewPr>
  <p:outlineViewPr>
    <p:cViewPr>
      <p:scale>
        <a:sx n="33" d="100"/>
        <a:sy n="33" d="100"/>
      </p:scale>
      <p:origin x="0" y="-11880"/>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72" d="100"/>
          <a:sy n="72" d="100"/>
        </p:scale>
        <p:origin x="3524" y="7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800" b="1" i="0" u="none" strike="noStrike" kern="1200" baseline="0">
                <a:solidFill>
                  <a:schemeClr val="tx1"/>
                </a:solidFill>
                <a:latin typeface="+mn-lt"/>
                <a:ea typeface="+mn-ea"/>
                <a:cs typeface="+mn-cs"/>
              </a:defRPr>
            </a:pPr>
            <a:r>
              <a:rPr lang="en-US" sz="1800" dirty="0"/>
              <a:t>Mean realized risk (%)</a:t>
            </a:r>
          </a:p>
        </c:rich>
      </c:tx>
      <c:overlay val="0"/>
      <c:spPr>
        <a:noFill/>
        <a:ln>
          <a:noFill/>
        </a:ln>
        <a:effectLst/>
      </c:spPr>
      <c:txPr>
        <a:bodyPr rot="0" spcFirstLastPara="1" vertOverflow="ellipsis" vert="horz" wrap="square" anchor="ctr" anchorCtr="1"/>
        <a:lstStyle/>
        <a:p>
          <a:pPr>
            <a:defRPr sz="1800" b="1" i="0" u="none" strike="noStrike" kern="1200" baseline="0">
              <a:solidFill>
                <a:schemeClr val="tx1"/>
              </a:solidFill>
              <a:latin typeface="+mn-lt"/>
              <a:ea typeface="+mn-ea"/>
              <a:cs typeface="+mn-cs"/>
            </a:defRPr>
          </a:pPr>
          <a:endParaRPr lang="en-US"/>
        </a:p>
      </c:txPr>
    </c:title>
    <c:autoTitleDeleted val="0"/>
    <c:plotArea>
      <c:layout/>
      <c:barChart>
        <c:barDir val="col"/>
        <c:grouping val="clustered"/>
        <c:varyColors val="0"/>
        <c:ser>
          <c:idx val="0"/>
          <c:order val="0"/>
          <c:tx>
            <c:v>Mean realized risk</c:v>
          </c:tx>
          <c:spPr>
            <a:solidFill>
              <a:srgbClr val="1F394D"/>
            </a:solidFill>
            <a:ln>
              <a:noFill/>
            </a:ln>
            <a:effectLst/>
          </c:spPr>
          <c:invertIfNegative val="1"/>
          <c:dLbls>
            <c:numFmt formatCode="0.0" sourceLinked="0"/>
            <c:spPr>
              <a:noFill/>
              <a:ln>
                <a:noFill/>
              </a:ln>
              <a:effectLst/>
            </c:spPr>
            <c:txPr>
              <a:bodyPr rot="0" spcFirstLastPara="1" vertOverflow="ellipsis" vert="horz" wrap="square" anchor="ctr" anchorCtr="1"/>
              <a:lstStyle/>
              <a:p>
                <a:pPr>
                  <a:defRPr sz="95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Conservative</c:v>
              </c:pt>
              <c:pt idx="1">
                <c:v>Full Universe</c:v>
              </c:pt>
              <c:pt idx="2">
                <c:v>Balanced</c:v>
              </c:pt>
              <c:pt idx="3">
                <c:v>Aggressive</c:v>
              </c:pt>
            </c:strLit>
          </c:cat>
          <c:val>
            <c:numLit>
              <c:formatCode>0.0</c:formatCode>
              <c:ptCount val="4"/>
              <c:pt idx="0">
                <c:v>23.9</c:v>
              </c:pt>
              <c:pt idx="1">
                <c:v>50</c:v>
              </c:pt>
              <c:pt idx="2">
                <c:v>53.6</c:v>
              </c:pt>
              <c:pt idx="3">
                <c:v>68.8</c:v>
              </c:pt>
            </c:numLit>
          </c:val>
          <c:extLst>
            <c:ext xmlns:c14="http://schemas.microsoft.com/office/drawing/2007/8/2/chart" uri="{6F2FDCE9-48DA-4B69-8628-5D25D57E5C99}">
              <c14:invertSolidFillFmt>
                <c14:spPr xmlns:c14="http://schemas.microsoft.com/office/drawing/2007/8/2/chart">
                  <a:solidFill>
                    <a:srgbClr val="FFFFFF"/>
                  </a:solidFill>
                  <a:ln>
                    <a:noFill/>
                  </a:ln>
                  <a:effectLst/>
                </c14:spPr>
              </c14:invertSolidFillFmt>
            </c:ext>
            <c:ext xmlns:c16="http://schemas.microsoft.com/office/drawing/2014/chart" uri="{C3380CC4-5D6E-409C-BE32-E72D297353CC}">
              <c16:uniqueId val="{00000000-2969-4A03-9F25-B533251479B4}"/>
            </c:ext>
          </c:extLst>
        </c:ser>
        <c:dLbls>
          <c:showLegendKey val="0"/>
          <c:showVal val="0"/>
          <c:showCatName val="0"/>
          <c:showSerName val="0"/>
          <c:showPercent val="0"/>
          <c:showBubbleSize val="0"/>
        </c:dLbls>
        <c:gapWidth val="70"/>
        <c:axId val="901"/>
        <c:axId val="902"/>
      </c:barChart>
      <c:catAx>
        <c:axId val="901"/>
        <c:scaling>
          <c:orientation val="minMax"/>
        </c:scaling>
        <c:delete val="0"/>
        <c:axPos val="b"/>
        <c:numFmt formatCode="General" sourceLinked="0"/>
        <c:majorTickMark val="none"/>
        <c:minorTickMark val="none"/>
        <c:tickLblPos val="nextTo"/>
        <c:spPr>
          <a:noFill/>
          <a:ln w="12700" cap="flat" cmpd="sng" algn="ctr">
            <a:solidFill>
              <a:schemeClr val="tx1"/>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902"/>
        <c:crosses val="autoZero"/>
        <c:auto val="1"/>
        <c:lblAlgn val="ctr"/>
        <c:lblOffset val="100"/>
        <c:noMultiLvlLbl val="1"/>
      </c:catAx>
      <c:valAx>
        <c:axId val="902"/>
        <c:scaling>
          <c:orientation val="minMax"/>
          <c:max val="80"/>
          <c:min val="0"/>
        </c:scaling>
        <c:delete val="0"/>
        <c:axPos val="l"/>
        <c:majorGridlines>
          <c:spPr>
            <a:ln w="12700" cap="flat" cmpd="sng" algn="ctr">
              <a:solidFill>
                <a:schemeClr val="tx1"/>
              </a:solidFill>
              <a:prstDash val="solid"/>
              <a:round/>
            </a:ln>
            <a:effectLst/>
          </c:spPr>
        </c:majorGridlines>
        <c:numFmt formatCode="0" sourceLinked="0"/>
        <c:majorTickMark val="none"/>
        <c:minorTickMark val="none"/>
        <c:tickLblPos val="nextTo"/>
        <c:spPr>
          <a:noFill/>
          <a:ln w="12700" cap="flat" cmpd="sng" algn="ctr">
            <a:solidFill>
              <a:schemeClr val="tx1"/>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901"/>
        <c:crosses val="autoZero"/>
        <c:crossBetween val="between"/>
        <c:majorUnit val="20"/>
      </c:valAx>
      <c:spPr>
        <a:noFill/>
        <a:ln>
          <a:noFill/>
        </a:ln>
        <a:effectLst/>
      </c:spPr>
    </c:plotArea>
    <c:plotVisOnly val="1"/>
    <c:dispBlanksAs val="gap"/>
    <c:showDLblsOverMax val="1"/>
  </c:chart>
  <c:spPr>
    <a:noFill/>
    <a:ln w="12700" cap="flat" cmpd="sng" algn="ctr">
      <a:noFill/>
      <a:prstDash val="solid"/>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r>
              <a:rPr lang="en-US" dirty="0"/>
              <a:t>Cumulative Return in Test Window</a:t>
            </a:r>
          </a:p>
        </c:rich>
      </c:tx>
      <c:overlay val="0"/>
      <c:spPr>
        <a:noFill/>
        <a:ln>
          <a:noFill/>
        </a:ln>
        <a:effectLst/>
      </c:spPr>
    </c:title>
    <c:autoTitleDeleted val="0"/>
    <c:plotArea>
      <c:layout/>
      <c:barChart>
        <c:barDir val="col"/>
        <c:grouping val="clustered"/>
        <c:varyColors val="0"/>
        <c:ser>
          <c:idx val="0"/>
          <c:order val="0"/>
          <c:tx>
            <c:strRef>
              <c:f>Sheet1!$B$1</c:f>
              <c:strCache>
                <c:ptCount val="1"/>
                <c:pt idx="0">
                  <c:v>Mean return</c:v>
                </c:pt>
              </c:strCache>
            </c:strRef>
          </c:tx>
          <c:spPr>
            <a:solidFill>
              <a:srgbClr val="1F394D"/>
            </a:solidFill>
            <a:ln>
              <a:noFill/>
            </a:ln>
            <a:effectLst/>
          </c:spPr>
          <c:invertIfNegative val="1"/>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Conservative</c:v>
                </c:pt>
                <c:pt idx="1">
                  <c:v>Full Universe</c:v>
                </c:pt>
                <c:pt idx="2">
                  <c:v>Balanced</c:v>
                </c:pt>
                <c:pt idx="3">
                  <c:v>Aggressive</c:v>
                </c:pt>
              </c:strCache>
            </c:strRef>
          </c:cat>
          <c:val>
            <c:numRef>
              <c:f>Sheet1!$B$2:$B$5</c:f>
              <c:numCache>
                <c:formatCode>General</c:formatCode>
                <c:ptCount val="4"/>
                <c:pt idx="0">
                  <c:v>29.91</c:v>
                </c:pt>
                <c:pt idx="1">
                  <c:v>49.59</c:v>
                </c:pt>
                <c:pt idx="2">
                  <c:v>50.17</c:v>
                </c:pt>
                <c:pt idx="3">
                  <c:v>86.24</c:v>
                </c:pt>
              </c:numCache>
            </c:numRef>
          </c:val>
          <c:extLst>
            <c:ext xmlns:c14="http://schemas.microsoft.com/office/drawing/2007/8/2/chart" uri="{6F2FDCE9-48DA-4B69-8628-5D25D57E5C99}">
              <c14:invertSolidFillFmt>
                <c14:spPr xmlns:c14="http://schemas.microsoft.com/office/drawing/2007/8/2/chart">
                  <a:solidFill>
                    <a:srgbClr val="FFFFFF"/>
                  </a:solidFill>
                  <a:ln>
                    <a:noFill/>
                  </a:ln>
                  <a:effectLst/>
                </c14:spPr>
              </c14:invertSolidFillFmt>
            </c:ext>
            <c:ext xmlns:c16="http://schemas.microsoft.com/office/drawing/2014/chart" uri="{C3380CC4-5D6E-409C-BE32-E72D297353CC}">
              <c16:uniqueId val="{00000000-433B-4CFE-ADE7-8EE3FA3DD072}"/>
            </c:ext>
          </c:extLst>
        </c:ser>
        <c:dLbls>
          <c:showLegendKey val="0"/>
          <c:showVal val="0"/>
          <c:showCatName val="0"/>
          <c:showSerName val="0"/>
          <c:showPercent val="0"/>
          <c:showBubbleSize val="0"/>
        </c:dLbls>
        <c:gapWidth val="199"/>
        <c:axId val="901"/>
        <c:axId val="902"/>
      </c:barChart>
      <c:catAx>
        <c:axId val="901"/>
        <c:scaling>
          <c:orientation val="minMax"/>
        </c:scaling>
        <c:delete val="0"/>
        <c:axPos val="b"/>
        <c:numFmt formatCode="General" sourceLinked="0"/>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cap="none" spc="0" normalizeH="0" baseline="0">
                <a:solidFill>
                  <a:schemeClr val="tx1">
                    <a:lumMod val="65000"/>
                    <a:lumOff val="35000"/>
                  </a:schemeClr>
                </a:solidFill>
                <a:latin typeface="+mn-lt"/>
                <a:ea typeface="+mn-ea"/>
                <a:cs typeface="+mn-cs"/>
              </a:defRPr>
            </a:pPr>
            <a:endParaRPr lang="en-US"/>
          </a:p>
        </c:txPr>
        <c:crossAx val="902"/>
        <c:crosses val="autoZero"/>
        <c:auto val="1"/>
        <c:lblAlgn val="ctr"/>
        <c:lblOffset val="100"/>
        <c:tickMarkSkip val="1"/>
        <c:noMultiLvlLbl val="1"/>
      </c:catAx>
      <c:valAx>
        <c:axId val="902"/>
        <c:scaling>
          <c:orientation val="minMax"/>
          <c:max val="100"/>
          <c:min val="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901"/>
        <c:crosses val="autoZero"/>
        <c:crossBetween val="between"/>
        <c:majorUnit val="20"/>
        <c:minorUnit val="10"/>
      </c:valAx>
      <c:spPr>
        <a:noFill/>
        <a:ln>
          <a:noFill/>
        </a:ln>
        <a:effectLst/>
      </c:spPr>
    </c:plotArea>
    <c:plotVisOnly val="1"/>
    <c:dispBlanksAs val="gap"/>
    <c:showDLblsOverMax val="1"/>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Reversed" id="23">
  <a:schemeClr val="accent3"/>
</cs:colorStyle>
</file>

<file path=ppt/charts/style1.xml><?xml version="1.0" encoding="utf-8"?>
<cs:chartStyle xmlns:cs="http://schemas.microsoft.com/office/drawing/2012/chartStyle" xmlns:a="http://schemas.openxmlformats.org/drawingml/2006/main" id="2">
  <cs:axisTitle>
    <cs:lnRef idx="0"/>
    <cs:fillRef idx="0"/>
    <cs:effectRef idx="0"/>
    <cs:fontRef idx="minor">
      <a:schemeClr val="tx1"/>
    </cs:fontRef>
    <cs:defRPr sz="1000" b="1" kern="1200"/>
  </cs:axisTitle>
  <cs:categoryAxis>
    <cs:lnRef idx="1">
      <a:schemeClr val="tx1"/>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0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DEDEA3-BF81-406B-B89D-36228EDB0072}"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CA434D-5B9B-4A22-BB04-DCAA38E4D51D}" type="slidenum">
              <a:rPr lang="en-US" smtClean="0"/>
              <a:t>‹#›</a:t>
            </a:fld>
            <a:endParaRPr lang="en-US"/>
          </a:p>
        </p:txBody>
      </p:sp>
    </p:spTree>
    <p:extLst>
      <p:ext uri="{BB962C8B-B14F-4D97-AF65-F5344CB8AC3E}">
        <p14:creationId xmlns:p14="http://schemas.microsoft.com/office/powerpoint/2010/main" val="26857822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b="0" kern="1200" dirty="0">
                <a:solidFill>
                  <a:schemeClr val="tx1"/>
                </a:solidFill>
                <a:effectLst/>
                <a:latin typeface="+mn-lt"/>
                <a:ea typeface="+mn-ea"/>
                <a:cs typeface="+mn-cs"/>
              </a:rPr>
              <a:t>Good morning. My name is Ali, and this presentation covers my bachelor thesis on Asset Universe Selection based on Investor Profile in Portfolio Optimization.</a:t>
            </a:r>
          </a:p>
          <a:p>
            <a:r>
              <a:rPr lang="en-US" sz="1600" b="0" kern="1200" dirty="0">
                <a:solidFill>
                  <a:schemeClr val="tx1"/>
                </a:solidFill>
                <a:effectLst/>
                <a:latin typeface="+mn-lt"/>
                <a:ea typeface="+mn-ea"/>
                <a:cs typeface="+mn-cs"/>
              </a:rPr>
              <a:t>The core idea is simple. Portfolio construction starts with two connected questions: which assets should be considered in the first place, and then how much should be allocated to each asset?</a:t>
            </a:r>
          </a:p>
          <a:p>
            <a:r>
              <a:rPr lang="en-US" sz="1600" b="0" kern="1200" dirty="0">
                <a:solidFill>
                  <a:schemeClr val="tx1"/>
                </a:solidFill>
                <a:effectLst/>
                <a:latin typeface="+mn-lt"/>
                <a:ea typeface="+mn-ea"/>
                <a:cs typeface="+mn-cs"/>
              </a:rPr>
              <a:t>My thesis studies that earlier selection stage. It ranks assets according to their predicted risk behavior, then uses that ranking to build candidate universes that match the investor profile.</a:t>
            </a:r>
          </a:p>
          <a:p>
            <a:r>
              <a:rPr lang="en-US" sz="1600" b="1" kern="1200" dirty="0">
                <a:solidFill>
                  <a:schemeClr val="tx1"/>
                </a:solidFill>
                <a:effectLst/>
                <a:latin typeface="+mn-lt"/>
                <a:ea typeface="+mn-ea"/>
                <a:cs typeface="+mn-cs"/>
              </a:rPr>
              <a:t>Transition</a:t>
            </a:r>
            <a:endParaRPr lang="en-US" sz="1600" b="0" kern="1200" dirty="0">
              <a:solidFill>
                <a:schemeClr val="tx1"/>
              </a:solidFill>
              <a:effectLst/>
              <a:latin typeface="+mn-lt"/>
              <a:ea typeface="+mn-ea"/>
              <a:cs typeface="+mn-cs"/>
            </a:endParaRPr>
          </a:p>
          <a:p>
            <a:r>
              <a:rPr lang="en-US" sz="1600" b="0" kern="1200" dirty="0">
                <a:solidFill>
                  <a:schemeClr val="tx1"/>
                </a:solidFill>
                <a:effectLst/>
                <a:latin typeface="+mn-lt"/>
                <a:ea typeface="+mn-ea"/>
                <a:cs typeface="+mn-cs"/>
              </a:rPr>
              <a:t>I'll start with a quick roadmap</a:t>
            </a:r>
            <a:r>
              <a:rPr lang="en-US" sz="28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56CA434D-5B9B-4A22-BB04-DCAA38E4D51D}" type="slidenum">
              <a:rPr lang="en-US" smtClean="0"/>
              <a:t>1</a:t>
            </a:fld>
            <a:endParaRPr lang="en-US"/>
          </a:p>
        </p:txBody>
      </p:sp>
    </p:spTree>
    <p:extLst>
      <p:ext uri="{BB962C8B-B14F-4D97-AF65-F5344CB8AC3E}">
        <p14:creationId xmlns:p14="http://schemas.microsoft.com/office/powerpoint/2010/main" val="31782770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I will begin with the problem definition, then the literature gap, then the proposed solution, followed by methodology, experiments, results, conclusion, and future work.</a:t>
            </a:r>
          </a:p>
          <a:p>
            <a:r>
              <a:rPr lang="en-US" dirty="0"/>
              <a:t>Transition: So firstly, what is the actual portfolio problem I am trying to solve?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CA434D-5B9B-4A22-BB04-DCAA38E4D51D}" type="slidenum">
              <a:rPr lang="en-US" smtClean="0"/>
              <a:t>3</a:t>
            </a:fld>
            <a:endParaRPr lang="en-US"/>
          </a:p>
        </p:txBody>
      </p:sp>
    </p:spTree>
    <p:extLst>
      <p:ext uri="{BB962C8B-B14F-4D97-AF65-F5344CB8AC3E}">
        <p14:creationId xmlns:p14="http://schemas.microsoft.com/office/powerpoint/2010/main" val="15191620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Many portfolio optimization methods assume a fixed asset universe. After that assumption is made, the main task becomes how to allocate weights inside that predefined universe.</a:t>
            </a:r>
          </a:p>
          <a:p>
            <a:r>
              <a:rPr lang="en-US" dirty="0"/>
              <a:t>But there is an earlier decision that also matters: which assets should enter the allocation stage. If that first decision is weak, even a strong optimizer is limited by the menu of assets it receives.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In the Egyptian investment market, inflation, currency movements, and changing economic conditions can alter the volatility and behavior of different assets. For example, an asset suitable for a conservative investor in one period may not remain suitable under different conditions.</a:t>
            </a:r>
          </a:p>
          <a:p>
            <a:r>
              <a:rPr lang="en-US" sz="1200" b="0" i="0" kern="1200" dirty="0">
                <a:solidFill>
                  <a:schemeClr val="tx1"/>
                </a:solidFill>
                <a:effectLst/>
                <a:latin typeface="+mn-lt"/>
                <a:ea typeface="+mn-ea"/>
                <a:cs typeface="+mn-cs"/>
              </a:rPr>
              <a:t>This video shows it directly. The x axis represent the assets, and its height is its risk rank in that month. As the months advance, watch the ranking reshuffle.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Transition: As seen in the video, asset's risk rank is not persistent which is exactly why the investable universe has to be selected based on market conditions.</a:t>
            </a:r>
          </a:p>
          <a:p>
            <a:endParaRPr lang="en-US" dirty="0"/>
          </a:p>
        </p:txBody>
      </p:sp>
      <p:sp>
        <p:nvSpPr>
          <p:cNvPr id="4" name="Slide Number Placeholder 3"/>
          <p:cNvSpPr>
            <a:spLocks noGrp="1"/>
          </p:cNvSpPr>
          <p:nvPr>
            <p:ph type="sldNum" sz="quarter" idx="5"/>
          </p:nvPr>
        </p:nvSpPr>
        <p:spPr/>
        <p:txBody>
          <a:bodyPr/>
          <a:lstStyle/>
          <a:p>
            <a:fld id="{56CA434D-5B9B-4A22-BB04-DCAA38E4D51D}" type="slidenum">
              <a:rPr lang="en-US" smtClean="0"/>
              <a:t>5</a:t>
            </a:fld>
            <a:endParaRPr lang="en-US"/>
          </a:p>
        </p:txBody>
      </p:sp>
    </p:spTree>
    <p:extLst>
      <p:ext uri="{BB962C8B-B14F-4D97-AF65-F5344CB8AC3E}">
        <p14:creationId xmlns:p14="http://schemas.microsoft.com/office/powerpoint/2010/main" val="15855376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Therefore, this thesis takes a risk-first view on suitability to ensure that only assets consistent with the investor’s risk tolerance are considered. The resulting filtered universe provides the foundation for the next portfolio construction decisions involving other suitability metrics like returns and diversification.</a:t>
            </a:r>
            <a:endParaRPr lang="en-US" sz="1200" b="0" i="0" kern="1200" dirty="0">
              <a:solidFill>
                <a:schemeClr val="tx1"/>
              </a:solidFill>
              <a:effectLst/>
              <a:latin typeface="+mn-lt"/>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sz="1200" b="0" i="0" kern="1200" dirty="0">
                <a:solidFill>
                  <a:schemeClr val="tx1"/>
                </a:solidFill>
                <a:effectLst/>
                <a:latin typeface="+mn-lt"/>
                <a:ea typeface="+mn-ea"/>
                <a:cs typeface="+mn-cs"/>
              </a:rPr>
              <a:t>The thesis works with a mixed Egyptian asset universe rather than focusing only on equities. The universe includes fixed-income securities represented by 91-day treasury bills and 5-year government bonds. Egyptian equities are represented by individual EGX30 companies, while the EGX30 index is included separately as the overall market benchmark. The universe also includes real-estate exposure through a EGX Real Estate index and gold exposure through the price of 24-karat gold in Egypt.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Transition</a:t>
            </a:r>
          </a:p>
          <a:p>
            <a:r>
              <a:rPr lang="en-US" sz="1200" b="0" i="0" kern="1200" dirty="0">
                <a:solidFill>
                  <a:schemeClr val="tx1"/>
                </a:solidFill>
                <a:effectLst/>
                <a:latin typeface="+mn-lt"/>
                <a:ea typeface="+mn-ea"/>
                <a:cs typeface="+mn-cs"/>
              </a:rPr>
              <a:t>With the raw asset universe now defined, the thesis asks three direct research questions.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The first question asks whether Reinforcement learning can support dynamic asset-universe selection before allocation using predicted risk behavior.</a:t>
            </a:r>
          </a:p>
          <a:p>
            <a:r>
              <a:rPr lang="en-US" dirty="0"/>
              <a:t>The second asks whether the selected universes actually align with conservative, balanced, and aggressive investor profiles.</a:t>
            </a:r>
          </a:p>
          <a:p>
            <a:r>
              <a:rPr lang="en-US" dirty="0"/>
              <a:t>The third asks how the candidate Universes compare with the full active universe when both are evaluated under the same allocation rule.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Transition: Before presenting my method, Lets dig into the Literature review.</a:t>
            </a:r>
          </a:p>
          <a:p>
            <a:endParaRPr lang="en-US" dirty="0"/>
          </a:p>
        </p:txBody>
      </p:sp>
      <p:sp>
        <p:nvSpPr>
          <p:cNvPr id="4" name="Slide Number Placeholder 3"/>
          <p:cNvSpPr>
            <a:spLocks noGrp="1"/>
          </p:cNvSpPr>
          <p:nvPr>
            <p:ph type="sldNum" sz="quarter" idx="5"/>
          </p:nvPr>
        </p:nvSpPr>
        <p:spPr/>
        <p:txBody>
          <a:bodyPr/>
          <a:lstStyle/>
          <a:p>
            <a:fld id="{56CA434D-5B9B-4A22-BB04-DCAA38E4D51D}" type="slidenum">
              <a:rPr lang="en-US" smtClean="0"/>
              <a:t>9</a:t>
            </a:fld>
            <a:endParaRPr lang="en-US"/>
          </a:p>
        </p:txBody>
      </p:sp>
    </p:spTree>
    <p:extLst>
      <p:ext uri="{BB962C8B-B14F-4D97-AF65-F5344CB8AC3E}">
        <p14:creationId xmlns:p14="http://schemas.microsoft.com/office/powerpoint/2010/main" val="5063934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Classical portfolio construction usually treats the problem as a return-risk weighting problem. Markowitz and later allocation methods mainly study how to divide weights once the asset universe is already known.</a:t>
            </a:r>
          </a:p>
          <a:p>
            <a:r>
              <a:rPr lang="en-US" dirty="0"/>
              <a:t>That literature is still important here because it gives the benchmark logic behind equal-weight allocation comparisons.</a:t>
            </a:r>
          </a:p>
          <a:p>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In the literature, AI and machine learning have already been used as a filtering step before portfolio optimization. The model helps decide which stocks should enter the portfolio construction stage.</a:t>
            </a:r>
          </a:p>
          <a:p>
            <a:r>
              <a:rPr lang="en-US" dirty="0"/>
              <a:t>However, these papers select assets using expected price, expected return, profitability, etc. After that, the selected universe move into the allocation optimizer where risk measures such as Sharpe ratio, volatility or drawdown usually appear. That is why the literature gap remains open for risk-oriented universe selection.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sz="1200" b="0" i="0" kern="1200" dirty="0">
                <a:solidFill>
                  <a:schemeClr val="tx1"/>
                </a:solidFill>
                <a:effectLst/>
                <a:latin typeface="+mn-lt"/>
                <a:ea typeface="+mn-ea"/>
                <a:cs typeface="+mn-cs"/>
              </a:rPr>
              <a:t>One useful exception is the paper by Atta Mills and </a:t>
            </a:r>
            <a:r>
              <a:rPr lang="en-US" sz="1200" b="0" i="0" kern="1200" dirty="0" err="1">
                <a:solidFill>
                  <a:schemeClr val="tx1"/>
                </a:solidFill>
                <a:effectLst/>
                <a:latin typeface="+mn-lt"/>
                <a:ea typeface="+mn-ea"/>
                <a:cs typeface="+mn-cs"/>
              </a:rPr>
              <a:t>Anyomi</a:t>
            </a:r>
            <a:r>
              <a:rPr lang="en-US" sz="1200" b="0" i="0" kern="1200" dirty="0">
                <a:solidFill>
                  <a:schemeClr val="tx1"/>
                </a:solidFill>
                <a:effectLst/>
                <a:latin typeface="+mn-lt"/>
                <a:ea typeface="+mn-ea"/>
                <a:cs typeface="+mn-cs"/>
              </a:rPr>
              <a:t>, which uses Data Envelopment Analysis, or DEA, to rank candidate stocks using multiple efficiency metrics.</a:t>
            </a:r>
          </a:p>
          <a:p>
            <a:r>
              <a:rPr lang="en-US" sz="1200" b="0" i="0" kern="1200" dirty="0">
                <a:solidFill>
                  <a:schemeClr val="tx1"/>
                </a:solidFill>
                <a:effectLst/>
                <a:latin typeface="+mn-lt"/>
                <a:ea typeface="+mn-ea"/>
                <a:cs typeface="+mn-cs"/>
              </a:rPr>
              <a:t>Among these metrics, standard deviation is the only risk-related input.</a:t>
            </a:r>
          </a:p>
          <a:p>
            <a:r>
              <a:rPr lang="en-US" sz="1200" b="0" i="0" kern="1200" dirty="0">
                <a:solidFill>
                  <a:schemeClr val="tx1"/>
                </a:solidFill>
                <a:effectLst/>
                <a:latin typeface="+mn-lt"/>
                <a:ea typeface="+mn-ea"/>
                <a:cs typeface="+mn-cs"/>
              </a:rPr>
              <a:t>The paper therefore supports screening assets before portfolio allocation, but its main objective remains efficiency. It also uses a statistical approach rather than an AI model that learns predicted risk behavior.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RL in finance is often used for trading decisions or direct allocation weights. Personalization research often maps investor profiles to advice, products, funds, or full portfolio choices.</a:t>
            </a:r>
          </a:p>
          <a:p>
            <a:r>
              <a:rPr lang="en-US" dirty="0"/>
              <a:t>My thesis connects these two directions differently. It predicts asset risk behavior first using Reinforcement Learning, then uses that prediction to build personalized asset universes.</a:t>
            </a:r>
          </a:p>
          <a:p>
            <a:r>
              <a:rPr lang="en-US" dirty="0"/>
              <a:t>Transition: </a:t>
            </a:r>
            <a:br>
              <a:rPr lang="en-US" dirty="0"/>
            </a:br>
            <a:r>
              <a:rPr lang="en-US" dirty="0"/>
              <a:t>Now I can show the whole contribution before going into technical details.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CA434D-5B9B-4A22-BB04-DCAA38E4D51D}" type="slidenum">
              <a:rPr lang="en-US" smtClean="0"/>
              <a:t>14</a:t>
            </a:fld>
            <a:endParaRPr lang="en-US"/>
          </a:p>
        </p:txBody>
      </p:sp>
    </p:spTree>
    <p:extLst>
      <p:ext uri="{BB962C8B-B14F-4D97-AF65-F5344CB8AC3E}">
        <p14:creationId xmlns:p14="http://schemas.microsoft.com/office/powerpoint/2010/main" val="17740438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sz="1200" b="0" i="0" kern="1200" dirty="0">
                <a:solidFill>
                  <a:schemeClr val="tx1"/>
                </a:solidFill>
                <a:effectLst/>
                <a:latin typeface="+mn-lt"/>
                <a:ea typeface="+mn-ea"/>
                <a:cs typeface="+mn-cs"/>
              </a:rPr>
              <a:t>The full pipeline has four linked parts:</a:t>
            </a:r>
          </a:p>
          <a:p>
            <a:r>
              <a:rPr lang="en-US" sz="1200" b="1" i="0" kern="1200" dirty="0">
                <a:solidFill>
                  <a:schemeClr val="tx1"/>
                </a:solidFill>
                <a:effectLst/>
                <a:latin typeface="+mn-lt"/>
                <a:ea typeface="+mn-ea"/>
                <a:cs typeface="+mn-cs"/>
              </a:rPr>
              <a:t>Data and Construction Layer:</a:t>
            </a:r>
            <a:r>
              <a:rPr lang="en-US" sz="1200" b="0" i="0" kern="1200" dirty="0">
                <a:solidFill>
                  <a:schemeClr val="tx1"/>
                </a:solidFill>
                <a:effectLst/>
                <a:latin typeface="+mn-lt"/>
                <a:ea typeface="+mn-ea"/>
                <a:cs typeface="+mn-cs"/>
              </a:rPr>
              <a:t> Collects, cleans, and transforms the raw financial data into the model input.</a:t>
            </a:r>
          </a:p>
          <a:p>
            <a:r>
              <a:rPr lang="en-US" sz="1200" b="1" i="0" kern="1200" dirty="0">
                <a:solidFill>
                  <a:schemeClr val="tx1"/>
                </a:solidFill>
                <a:effectLst/>
                <a:latin typeface="+mn-lt"/>
                <a:ea typeface="+mn-ea"/>
                <a:cs typeface="+mn-cs"/>
              </a:rPr>
              <a:t>Learning Layer:</a:t>
            </a:r>
            <a:r>
              <a:rPr lang="en-US" sz="1200" b="0" i="0" kern="1200" dirty="0">
                <a:solidFill>
                  <a:schemeClr val="tx1"/>
                </a:solidFill>
                <a:effectLst/>
                <a:latin typeface="+mn-lt"/>
                <a:ea typeface="+mn-ea"/>
                <a:cs typeface="+mn-cs"/>
              </a:rPr>
              <a:t> The model estimates each asset’s future risk behavior and ranks the assets accordingly. This ranking becomes the foundation used in the Selection layer</a:t>
            </a:r>
          </a:p>
          <a:p>
            <a:r>
              <a:rPr lang="en-US" sz="1200" b="1" i="0" kern="1200" dirty="0">
                <a:solidFill>
                  <a:schemeClr val="tx1"/>
                </a:solidFill>
                <a:effectLst/>
                <a:latin typeface="+mn-lt"/>
                <a:ea typeface="+mn-ea"/>
                <a:cs typeface="+mn-cs"/>
              </a:rPr>
              <a:t>Asset Universe Selection Layer:</a:t>
            </a:r>
            <a:r>
              <a:rPr lang="en-US" sz="1200" b="0" i="0" kern="1200" dirty="0">
                <a:solidFill>
                  <a:schemeClr val="tx1"/>
                </a:solidFill>
                <a:effectLst/>
                <a:latin typeface="+mn-lt"/>
                <a:ea typeface="+mn-ea"/>
                <a:cs typeface="+mn-cs"/>
              </a:rPr>
              <a:t> Uses the investor’s profile to select the appropriate group of assets from the ranking.</a:t>
            </a:r>
          </a:p>
          <a:p>
            <a:r>
              <a:rPr lang="en-US" sz="1200" b="1" i="0" kern="1200" dirty="0">
                <a:solidFill>
                  <a:schemeClr val="tx1"/>
                </a:solidFill>
                <a:effectLst/>
                <a:latin typeface="+mn-lt"/>
                <a:ea typeface="+mn-ea"/>
                <a:cs typeface="+mn-cs"/>
              </a:rPr>
              <a:t>Evaluation Layer:</a:t>
            </a:r>
            <a:r>
              <a:rPr lang="en-US" sz="1200" b="0" i="0" kern="1200" dirty="0">
                <a:solidFill>
                  <a:schemeClr val="tx1"/>
                </a:solidFill>
                <a:effectLst/>
                <a:latin typeface="+mn-lt"/>
                <a:ea typeface="+mn-ea"/>
                <a:cs typeface="+mn-cs"/>
              </a:rPr>
              <a:t> Tests the resulting portfolios using historical data..</a:t>
            </a:r>
          </a:p>
          <a:p>
            <a:r>
              <a:rPr lang="en-US" sz="1200" b="1" i="0" kern="1200" dirty="0">
                <a:solidFill>
                  <a:schemeClr val="tx1"/>
                </a:solidFill>
                <a:effectLst/>
                <a:latin typeface="+mn-lt"/>
                <a:ea typeface="+mn-ea"/>
                <a:cs typeface="+mn-cs"/>
              </a:rPr>
              <a:t>Transition:</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ready to go deeper into the technical details</a:t>
            </a:r>
          </a:p>
        </p:txBody>
      </p:sp>
      <p:sp>
        <p:nvSpPr>
          <p:cNvPr id="4" name="Slide Number Placeholder 3"/>
          <p:cNvSpPr>
            <a:spLocks noGrp="1"/>
          </p:cNvSpPr>
          <p:nvPr>
            <p:ph type="sldNum" sz="quarter" idx="5"/>
          </p:nvPr>
        </p:nvSpPr>
        <p:spPr/>
        <p:txBody>
          <a:bodyPr/>
          <a:lstStyle/>
          <a:p>
            <a:fld id="{56CA434D-5B9B-4A22-BB04-DCAA38E4D51D}" type="slidenum">
              <a:rPr lang="en-US" smtClean="0"/>
              <a:t>16</a:t>
            </a:fld>
            <a:endParaRPr lang="en-US"/>
          </a:p>
        </p:txBody>
      </p:sp>
    </p:spTree>
    <p:extLst>
      <p:ext uri="{BB962C8B-B14F-4D97-AF65-F5344CB8AC3E}">
        <p14:creationId xmlns:p14="http://schemas.microsoft.com/office/powerpoint/2010/main" val="5933669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I will first define how the data was divided. The split is strictly chronological.</a:t>
            </a:r>
          </a:p>
          <a:p>
            <a:r>
              <a:rPr lang="en-US" dirty="0"/>
              <a:t>The training period is where the model learns. The inner-validation period is used to select the strongest checkpoint from a training run. The main validation period is then used to compare framework choices, features, bucket mappings, and hyperparameters. Finally, the test period is reserved for final reporting.</a:t>
            </a:r>
          </a:p>
          <a:p>
            <a:endParaRPr lang="en-US" dirty="0"/>
          </a:p>
          <a:p>
            <a:r>
              <a:rPr lang="en-US" dirty="0"/>
              <a:t>I will now explain how se data were transformed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I collected the raw financial input for each asset individually including date, price, OHLC fields, and volume.</a:t>
            </a:r>
          </a:p>
          <a:p>
            <a:r>
              <a:rPr lang="en-US" dirty="0"/>
              <a:t>An important detail is that treasury bill and bonds are quoted as yields. So before calculating returns, those yields are converted into price proxies.</a:t>
            </a:r>
          </a:p>
          <a:p>
            <a:r>
              <a:rPr lang="en-US" dirty="0"/>
              <a:t>I also include macroeconomic context through USD/EGP conversion rate and Consumer Price Index, or CPI, because market conditions influence how risky the active universe is in each month.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Transition: From those inputs, I build a monthly panel for the model.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One row in the panel means one active asset in a specific month, so the model only sees active assets for a specific month.</a:t>
            </a:r>
          </a:p>
          <a:p>
            <a:r>
              <a:rPr lang="en-US" dirty="0"/>
              <a:t>Features for a specific row only use information available up to that point in time, and assets are never backfilled before they truly existed.</a:t>
            </a:r>
          </a:p>
          <a:p>
            <a:r>
              <a:rPr lang="en-US" dirty="0"/>
              <a:t>The panel keeps asset identity as metadata which is hidden from the model’s input. That helps the policy learn behavior patterns across the universe instead of memorizing specific asset behavior.</a:t>
            </a:r>
          </a:p>
          <a:p>
            <a:r>
              <a:rPr lang="en-US" dirty="0"/>
              <a:t>Transition: </a:t>
            </a:r>
          </a:p>
          <a:p>
            <a:r>
              <a:rPr lang="en-US" dirty="0"/>
              <a:t>Once the panel exists, the next question is what information each row actually contains.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Rather than presenting the model inputs as one long list, I group them by the type of behavior they describe.</a:t>
            </a:r>
          </a:p>
          <a:p>
            <a:r>
              <a:rPr lang="en-US" dirty="0"/>
              <a:t>Risk behavior captures recent instability and the severity of harmful losses. Liquidity describes how actively the asset trades. Technical state summarizes recent price behavior, including range, momentum, and position relative to previous highs. Market sensitivity describes how strongly the asset is correlated with the broader equity market. Finally, macro context captures shared currency and inflation conditions affecting every active asset.</a:t>
            </a:r>
          </a:p>
          <a:p>
            <a:r>
              <a:rPr lang="en-US" dirty="0"/>
              <a:t>Transition: The next step is defining the realized risk used in the ordering that the model should learn.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The realized-risk target combines realized volatility, downside deviation, and maximum drawdown. Each component is rank-normalized within the same month. This means an asset is compared only with the other assets that were active at that time, rather than being judged using an absolute scale. </a:t>
            </a:r>
          </a:p>
          <a:p>
            <a:endParaRPr lang="en-US" dirty="0"/>
          </a:p>
          <a:p>
            <a:r>
              <a:rPr lang="en-US" dirty="0"/>
              <a:t>The three ranks are averaged equally to form the realized risk target. I also tested alternative formulas, but they produced weak sensitivity to the weights. Therefore, Equal weights was promoted as the most transparent and balanced definition.</a:t>
            </a:r>
          </a:p>
          <a:p>
            <a:endParaRPr lang="en-US" dirty="0"/>
          </a:p>
          <a:p>
            <a:r>
              <a:rPr lang="en-US" dirty="0"/>
              <a:t>Transition: I will quickly explain reinforcement learning.</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Reinforcement learning is a learning setup where a model improves through interaction and feedback. The model observes a state, takes an action, receives a reward, and then updates its policy.</a:t>
            </a:r>
          </a:p>
          <a:p>
            <a:r>
              <a:rPr lang="en-US" dirty="0"/>
              <a:t>The policy is basically the model's decision rule. The reward function tells the model what behavior should improve. If an action leads to a better reward, the model adjusts its internal policy so similar actions become more likely in the future.</a:t>
            </a:r>
          </a:p>
          <a:p>
            <a:r>
              <a:rPr lang="en-US" dirty="0"/>
              <a:t>Transition: With that idea clear, I can explain how this problem fits reinforcement learning.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The figure shows how these ideas form one monthly decision environment. The state is the active asset universe and its features. The action is assigning one risk score to every active asset.</a:t>
            </a:r>
          </a:p>
          <a:p>
            <a:r>
              <a:rPr lang="en-US" dirty="0"/>
              <a:t>The predicted ranking is then compared with the realized-risk ranking to calculate the reward. That feedback is used to update the scoring policy, so it can produce better rankings in future decision months.</a:t>
            </a:r>
          </a:p>
          <a:p>
            <a:r>
              <a:rPr lang="en-US" dirty="0"/>
              <a:t>Transition: Among reinforcement learning methods, I used PPO because it gives a more controlled training update.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sz="1200" b="0" i="0" kern="1200" dirty="0">
                <a:solidFill>
                  <a:schemeClr val="tx1"/>
                </a:solidFill>
                <a:effectLst/>
                <a:latin typeface="+mn-lt"/>
                <a:ea typeface="+mn-ea"/>
                <a:cs typeface="+mn-cs"/>
              </a:rPr>
              <a:t>Financial months can differ significantly, and an unusually difficult month could cause the model to change its behavior too aggressively. PPO reduces this risk through clipping, which limits how far the updated policy can move from the previous policy during one training update.</a:t>
            </a:r>
          </a:p>
          <a:p>
            <a:r>
              <a:rPr lang="en-US" sz="1200" b="0" i="0" kern="1200" dirty="0">
                <a:solidFill>
                  <a:schemeClr val="tx1"/>
                </a:solidFill>
                <a:effectLst/>
                <a:latin typeface="+mn-lt"/>
                <a:ea typeface="+mn-ea"/>
                <a:cs typeface="+mn-cs"/>
              </a:rPr>
              <a:t>PPO also uses an actor-critic architecture. The actor makes decisions, while the critic evaluates them and provides a learning signal that helps train the model more reliably.</a:t>
            </a:r>
          </a:p>
          <a:p>
            <a:r>
              <a:rPr lang="en-US" dirty="0"/>
              <a:t>Transition: Before explaining the actor-critic architecture in more details, I first need to define what one PPO decision looks like.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One PPO episode equals one monthly decision. The observation is a tensor of all asset features, together with a mask that marks which rows are real assets. This setup supports a different number of available assets depending on the decision month.</a:t>
            </a:r>
          </a:p>
          <a:p>
            <a:r>
              <a:rPr lang="en-US" dirty="0"/>
              <a:t>The action is one continuous risk score for each real asset row, between zero and one. After the model scores the month, the assets are sorted and compared with the realized-risk ordering for that same month.</a:t>
            </a:r>
          </a:p>
          <a:p>
            <a:r>
              <a:rPr lang="en-US" dirty="0"/>
              <a:t>So the reward is based on how well the full monthly ranking matches reality.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The practical challenge is that every month has a different number of active assets. A neural network still needs a consistent tensor shape, so the input is padded to a fixed size.</a:t>
            </a:r>
          </a:p>
          <a:p>
            <a:r>
              <a:rPr lang="en-US" dirty="0"/>
              <a:t>The mask tells the model which rows are real and which rows are just padding. That way, padded rows do not pollute learning, or reward calculations.</a:t>
            </a:r>
          </a:p>
          <a:p>
            <a:r>
              <a:rPr lang="en-US" dirty="0"/>
              <a:t>Transition: Now I will explain the actor-critic architecture.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This architecture contains three MLP neural networks.</a:t>
            </a:r>
          </a:p>
          <a:p>
            <a:r>
              <a:rPr lang="en-US" dirty="0"/>
              <a:t>First, the shared row encoder MLP reads every asset’s feature row and converts it into a learned representation. These representations are also pooled to summarize the active universe for that month.</a:t>
            </a:r>
          </a:p>
          <a:p>
            <a:r>
              <a:rPr lang="en-US" dirty="0"/>
              <a:t>Internally inside the PPO, the actor is the second neural network. It receives each asset’s representation together with the pooled monthly context and outputs one risk score per asset.</a:t>
            </a:r>
          </a:p>
          <a:p>
            <a:r>
              <a:rPr lang="en-US" dirty="0"/>
              <a:t>The critic is the third neural network. It receives the pooled context and estimates the reward expected for that monthly decision.</a:t>
            </a:r>
          </a:p>
          <a:p>
            <a:r>
              <a:rPr lang="en-US" dirty="0"/>
              <a:t>After the complete ranking is evaluated, PPO receives the observed monthly reward. The advantage is the observed reward minus the critic’s estimate. A positive advantage means the outcome was better than expected, while a negative advantage means it was worse. PPO uses this signal to update its policy accordingly.</a:t>
            </a:r>
            <a:br>
              <a:rPr lang="en-US" dirty="0"/>
            </a:br>
            <a:endParaRPr lang="en-US" dirty="0"/>
          </a:p>
          <a:p>
            <a:r>
              <a:rPr lang="en-US" dirty="0"/>
              <a:t>TRANSITION: Now we can observe how monthly reward is calculated.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reward is computed after the entire monthly universe is scored. Seventy percent of it measures how close the predicted ranking was to the realized-risk ranking, and thirty percent measures how close the predicted score values were to the target values to discourage the model from placing all assets too close together.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The first part uses Spearman rank correlation. The second part uses MSE.</a:t>
            </a:r>
          </a:p>
          <a:p>
            <a:endParaRPr lang="en-US" dirty="0"/>
          </a:p>
          <a:p>
            <a:r>
              <a:rPr lang="en-US" dirty="0"/>
              <a:t>Transition: Once the model produces a ranked list, I can map that list into profile-specific asset universes.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After ranking, the predicted positions are converted into rank percentiles. These percentiles are then used to form three profile-specific asset universes.</a:t>
            </a:r>
          </a:p>
          <a:p>
            <a:r>
              <a:rPr lang="en-US" dirty="0"/>
              <a:t>The conservative asset universe uses the lowest 30 percent of predicted-risk assets. The balanced asset universe uses the middle 20 to 80 percent band. The aggressive asset universe uses the highest 30 percent of predicted-risk assets.</a:t>
            </a:r>
          </a:p>
          <a:p>
            <a:r>
              <a:rPr lang="en-US" dirty="0"/>
              <a:t>The overlap is intentional because some assets can reasonably fit two neighboring investor profiles.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 the full method defined, the next step is to show the experiments.</a:t>
            </a:r>
          </a:p>
          <a:p>
            <a:endParaRPr lang="en-US" dirty="0"/>
          </a:p>
        </p:txBody>
      </p:sp>
      <p:sp>
        <p:nvSpPr>
          <p:cNvPr id="4" name="Slide Number Placeholder 3"/>
          <p:cNvSpPr>
            <a:spLocks noGrp="1"/>
          </p:cNvSpPr>
          <p:nvPr>
            <p:ph type="sldNum" sz="quarter" idx="5"/>
          </p:nvPr>
        </p:nvSpPr>
        <p:spPr/>
        <p:txBody>
          <a:bodyPr/>
          <a:lstStyle/>
          <a:p>
            <a:fld id="{56CA434D-5B9B-4A22-BB04-DCAA38E4D51D}" type="slidenum">
              <a:rPr lang="en-US" smtClean="0"/>
              <a:t>30</a:t>
            </a:fld>
            <a:endParaRPr lang="en-US"/>
          </a:p>
        </p:txBody>
      </p:sp>
    </p:spTree>
    <p:extLst>
      <p:ext uri="{BB962C8B-B14F-4D97-AF65-F5344CB8AC3E}">
        <p14:creationId xmlns:p14="http://schemas.microsoft.com/office/powerpoint/2010/main" val="4809144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Several formulations were compared to understand which input structure fits the problem, while keeping the base feature set fixed.</a:t>
            </a:r>
          </a:p>
          <a:p>
            <a:r>
              <a:rPr lang="en-US" dirty="0"/>
              <a:t>I tested whether the model should look at only the most recent month or a three-month feature window. I also tested whether adding context from the whole active universe improved the model's performance.</a:t>
            </a:r>
          </a:p>
          <a:p>
            <a:r>
              <a:rPr lang="en-US" dirty="0"/>
              <a:t>I also explored variants that included daily price information more directly, but that appeared to add noise and did not improve the model’s performance. </a:t>
            </a:r>
          </a:p>
          <a:p>
            <a:endParaRPr lang="en-US" dirty="0"/>
          </a:p>
          <a:p>
            <a:r>
              <a:rPr lang="en-US" dirty="0"/>
              <a:t>The three-month view with active-universe context had the best performance, so it was promoted as the final framework for the next stage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Feature selection followed a sequential process. I first used drop-one-feature ablations on the fixed feature set. After that, I tested redesigned feature-family alternatives and new feature additions.</a:t>
            </a:r>
          </a:p>
          <a:p>
            <a:endParaRPr lang="en-US" dirty="0"/>
          </a:p>
          <a:p>
            <a:r>
              <a:rPr lang="en-US" dirty="0"/>
              <a:t>Reward formula experiments came afterwards where I compared different balances between ranking quality and score accuracy. I also tested the addition of tail-risk emphasis to focus on getting the riskiest assets first. </a:t>
            </a:r>
          </a:p>
          <a:p>
            <a:endParaRPr lang="en-US" dirty="0"/>
          </a:p>
          <a:p>
            <a:r>
              <a:rPr lang="en-US" dirty="0"/>
              <a:t>Transition: I then tuned the PPO configuration.</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D001A-9444-0238-AFC4-5E1DFEC572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DA0E7-1D63-5791-9178-4D470B25331E}"/>
              </a:ext>
            </a:extLst>
          </p:cNvPr>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a:extLst>
              <a:ext uri="{FF2B5EF4-FFF2-40B4-BE49-F238E27FC236}">
                <a16:creationId xmlns:a16="http://schemas.microsoft.com/office/drawing/2014/main" id="{E7731A73-776B-055F-2E1D-6CCDE01AFFBD}"/>
              </a:ext>
            </a:extLst>
          </p:cNvPr>
          <p:cNvSpPr>
            <a:spLocks noGrp="1"/>
          </p:cNvSpPr>
          <p:nvPr>
            <p:ph type="body" idx="2"/>
          </p:nvPr>
        </p:nvSpPr>
        <p:spPr>
          <a:xfrm>
            <a:off x="685800" y="4114800"/>
            <a:ext cx="5486400" cy="3600450"/>
          </a:xfrm>
          <a:prstGeom prst="rect">
            <a:avLst/>
          </a:prstGeom>
        </p:spPr>
        <p:txBody>
          <a:bodyPr/>
          <a:lstStyle/>
          <a:p>
            <a:r>
              <a:rPr lang="en-US" dirty="0"/>
              <a:t>Hyperparameter tuning came afterwards where I used </a:t>
            </a:r>
            <a:r>
              <a:rPr lang="en-US" dirty="0" err="1"/>
              <a:t>Optuna</a:t>
            </a:r>
            <a:r>
              <a:rPr lang="en-US" dirty="0"/>
              <a:t> which is a hyperparameter tuning tool. I then confirmed the selected configuration across three random seeds before locking the PPO model.</a:t>
            </a:r>
          </a:p>
          <a:p>
            <a:endParaRPr lang="en-US" dirty="0"/>
          </a:p>
          <a:p>
            <a:r>
              <a:rPr lang="en-US" dirty="0"/>
              <a:t>After the model was finalized, I compared different ways of mapping the predicted ranking to investor profiles. These included several mapping structures with different levels of overlap and selectivity. Selection criteria was producing the clearest separation between conservative and aggressive while maintaining the expected monotonic ordering.</a:t>
            </a:r>
          </a:p>
          <a:p>
            <a:endParaRPr lang="en-US" dirty="0"/>
          </a:p>
          <a:p>
            <a:r>
              <a:rPr lang="en-US" dirty="0"/>
              <a:t>Transition: Once the model was locked, I evaluated it in two connected stages.</a:t>
            </a:r>
          </a:p>
        </p:txBody>
      </p:sp>
    </p:spTree>
    <p:extLst>
      <p:ext uri="{BB962C8B-B14F-4D97-AF65-F5344CB8AC3E}">
        <p14:creationId xmlns:p14="http://schemas.microsoft.com/office/powerpoint/2010/main" val="38918699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The first stage evaluates ranking quality directly by comparing predicted risk ranks with realized-risk ranks.</a:t>
            </a:r>
          </a:p>
          <a:p>
            <a:endParaRPr lang="en-US" dirty="0"/>
          </a:p>
          <a:p>
            <a:r>
              <a:rPr lang="en-US" dirty="0"/>
              <a:t>The second stage evaluates what those rankings mean for investor groups by forming conservative, balanced, and aggressive universes and comparing them with the full active universe under the same equal-weight rule.</a:t>
            </a:r>
          </a:p>
          <a:p>
            <a:endParaRPr lang="en-US" dirty="0"/>
          </a:p>
          <a:p>
            <a:r>
              <a:rPr lang="en-US" dirty="0"/>
              <a:t>Equal weights rule keeps the focus on universe selection. </a:t>
            </a:r>
          </a:p>
          <a:p>
            <a:r>
              <a:rPr lang="en-US" dirty="0"/>
              <a:t>Transition: Now I can show the core results.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CA434D-5B9B-4A22-BB04-DCAA38E4D51D}" type="slidenum">
              <a:rPr lang="en-US" smtClean="0"/>
              <a:t>35</a:t>
            </a:fld>
            <a:endParaRPr lang="en-US"/>
          </a:p>
        </p:txBody>
      </p:sp>
    </p:spTree>
    <p:extLst>
      <p:ext uri="{BB962C8B-B14F-4D97-AF65-F5344CB8AC3E}">
        <p14:creationId xmlns:p14="http://schemas.microsoft.com/office/powerpoint/2010/main" val="42049437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The model achieved a mean reward of 0.75. Its Spearman correlation of approximately 0.67 also shows high agreement between the predicted and realized-risk rankings.</a:t>
            </a:r>
          </a:p>
          <a:p>
            <a:endParaRPr lang="en-US" dirty="0"/>
          </a:p>
          <a:p>
            <a:r>
              <a:rPr lang="en-US" dirty="0"/>
              <a:t>Looking at the graph, the horizontal axis shows each asset’s realized-risk rank, while the vertical axis shows the rank predicted by the model. Points closer to the orange diagonal represent stronger agreement between the two rankings. Although the predictions are not perfect, the overall upward pattern reflects the positive Spearman correlation.</a:t>
            </a:r>
          </a:p>
          <a:p>
            <a:endParaRPr lang="en-US" dirty="0"/>
          </a:p>
          <a:p>
            <a:r>
              <a:rPr lang="en-US" dirty="0"/>
              <a:t>The next slide examines whether the predicted ranks separate assets into clearly different realized-risk buckets.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The asset universes realized risk is in the expected order. The full universe mean realized risk was 50% because the risk was normalized. The monotonic ordering held in all test months. That is the cleanest evidence that the model can produce distinct risk-oriented universes.</a:t>
            </a:r>
          </a:p>
          <a:p>
            <a:endParaRPr lang="en-US" dirty="0"/>
          </a:p>
          <a:p>
            <a:r>
              <a:rPr lang="en-US" dirty="0"/>
              <a:t>From a financial point of view, the main message is that the conservative asset universe behaved materially safer, while the aggressive asset universe carried clearly higher risk.</a:t>
            </a:r>
          </a:p>
          <a:p>
            <a:endParaRPr lang="en-US" dirty="0"/>
          </a:p>
          <a:p>
            <a:r>
              <a:rPr lang="en-US" dirty="0"/>
              <a:t>Transition: After risk separation, we can look carefully at the returns</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Using the same equal-weight allocation rule, cumulative return in the test window showed monotonic ordering.</a:t>
            </a:r>
          </a:p>
          <a:p>
            <a:endParaRPr lang="en-US" dirty="0"/>
          </a:p>
          <a:p>
            <a:r>
              <a:rPr lang="en-US" dirty="0"/>
              <a:t>The aggressive universe also carried higher volatility, so, the higher return came with visibly higher risk exposure.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Script</a:t>
            </a:r>
          </a:p>
          <a:p>
            <a:r>
              <a:rPr lang="en-US" dirty="0"/>
              <a:t>The baseline here is the full active universe under the same equal-weight rule. Under that comparison, conservative-universe filtering materially reduced realized risk versus the full universe, while aggressive-universe filtering produced higher realized risk and stronger return participation.</a:t>
            </a:r>
          </a:p>
          <a:p>
            <a:r>
              <a:rPr lang="en-US" dirty="0"/>
              <a:t>The risk based filtering stage by itself already changes the opportunity set in a meaningful way.</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CA434D-5B9B-4A22-BB04-DCAA38E4D51D}" type="slidenum">
              <a:rPr lang="en-US" smtClean="0"/>
              <a:t>40</a:t>
            </a:fld>
            <a:endParaRPr lang="en-US"/>
          </a:p>
        </p:txBody>
      </p:sp>
    </p:spTree>
    <p:extLst>
      <p:ext uri="{BB962C8B-B14F-4D97-AF65-F5344CB8AC3E}">
        <p14:creationId xmlns:p14="http://schemas.microsoft.com/office/powerpoint/2010/main" val="23160440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sz="1200" b="0" i="0" kern="1200" dirty="0">
                <a:solidFill>
                  <a:schemeClr val="tx1"/>
                </a:solidFill>
                <a:effectLst/>
                <a:latin typeface="+mn-lt"/>
                <a:ea typeface="+mn-ea"/>
                <a:cs typeface="+mn-cs"/>
              </a:rPr>
              <a:t>RQ1 asks whether Reinforcement learning can support dynamic asset-universe selection using asset’s predicted risk. The answer is yes: the PPO model produced meaningful profile asset universes across the changing active universe.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RQ2 asks whether the selected universes align with conservative, balanced, and aggressive investor profiles. For this question, also yes: the predicted-rank universes produced distinct realized-risk groups in the expected order.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RQ3 asks how the proposed risk-tolerance-based universes compare with the full active universe under the same equal-weight historical simulation rule. The answer is that the filtered universes behaved differently from the full active universe in realized risk and returns.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Transition</a:t>
            </a:r>
            <a:r>
              <a:rPr lang="en-US" sz="1200" b="0" i="0" kern="1200" dirty="0">
                <a:solidFill>
                  <a:schemeClr val="tx1"/>
                </a:solidFill>
                <a:effectLst/>
                <a:latin typeface="+mn-lt"/>
                <a:ea typeface="+mn-ea"/>
                <a:cs typeface="+mn-cs"/>
              </a:rPr>
              <a:t> The last content section is future work.</a:t>
            </a:r>
          </a:p>
          <a:p>
            <a:endParaRPr lang="en-US"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CA434D-5B9B-4A22-BB04-DCAA38E4D51D}" type="slidenum">
              <a:rPr lang="en-US" smtClean="0"/>
              <a:t>42</a:t>
            </a:fld>
            <a:endParaRPr lang="en-US"/>
          </a:p>
        </p:txBody>
      </p:sp>
    </p:spTree>
    <p:extLst>
      <p:ext uri="{BB962C8B-B14F-4D97-AF65-F5344CB8AC3E}">
        <p14:creationId xmlns:p14="http://schemas.microsoft.com/office/powerpoint/2010/main" val="398189391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28BD6-01A7-4B29-49F7-B960B0E3A3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2D70C3-8361-1CC8-70ED-6C4A11286983}"/>
              </a:ext>
            </a:extLst>
          </p:cNvPr>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a:extLst>
              <a:ext uri="{FF2B5EF4-FFF2-40B4-BE49-F238E27FC236}">
                <a16:creationId xmlns:a16="http://schemas.microsoft.com/office/drawing/2014/main" id="{FE46DC66-3CB7-04EF-29FD-7E951CD18E61}"/>
              </a:ext>
            </a:extLst>
          </p:cNvPr>
          <p:cNvSpPr>
            <a:spLocks noGrp="1"/>
          </p:cNvSpPr>
          <p:nvPr>
            <p:ph type="body" idx="2"/>
          </p:nvPr>
        </p:nvSpPr>
        <p:spPr>
          <a:xfrm>
            <a:off x="685800" y="4114800"/>
            <a:ext cx="5486400" cy="3600450"/>
          </a:xfrm>
          <a:prstGeom prst="rect">
            <a:avLst/>
          </a:prstGeom>
        </p:spPr>
        <p:txBody>
          <a:bodyPr/>
          <a:lstStyle/>
          <a:p>
            <a:r>
              <a:rPr lang="en-US" dirty="0"/>
              <a:t>Among the limitations, an important extension is to connect the asset-level risk to portfolio-level risk. This thesis evaluates whether the model can identify assets appropriate for different risk profiles. In practice, these predictions would be combined with asset correlations to assess how including each asset changes the risk of the complete portfolio.</a:t>
            </a:r>
          </a:p>
          <a:p>
            <a:endParaRPr lang="en-US" dirty="0"/>
          </a:p>
          <a:p>
            <a:r>
              <a:rPr lang="en-US" dirty="0"/>
              <a:t>Second, PPO can produce different learned policies across training runs. We therefore confirmed the configuration across three seeds and reported the promoted checkpoint.</a:t>
            </a:r>
          </a:p>
          <a:p>
            <a:endParaRPr lang="en-US" dirty="0"/>
          </a:p>
          <a:p>
            <a:r>
              <a:rPr lang="en-US" dirty="0"/>
              <a:t>Third, the model uses official USD-to-EGP exchange rates. These rates may not fully represent parallel-market or actual transaction prices during periods of currency pressure.</a:t>
            </a:r>
          </a:p>
        </p:txBody>
      </p:sp>
    </p:spTree>
    <p:extLst>
      <p:ext uri="{BB962C8B-B14F-4D97-AF65-F5344CB8AC3E}">
        <p14:creationId xmlns:p14="http://schemas.microsoft.com/office/powerpoint/2010/main" val="1624309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There are possible next steps beyond the thesis scope. One future direction is connecting the pipeline to live market-data APIs, rebuilding the monthly features over time, and monitoring how the selected asset universes behave in real conditions.</a:t>
            </a:r>
          </a:p>
          <a:p>
            <a:r>
              <a:rPr lang="en-US" dirty="0"/>
              <a:t>Transition: There is also a natural extension on the objective side.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Another possible extension is return-aware suitability where a future version may add return-aware utility logic after the risk-ranked universes are formed.</a:t>
            </a:r>
          </a:p>
          <a:p>
            <a:r>
              <a:rPr lang="en-US" dirty="0"/>
              <a:t>That would let the system stay investor-aware while exploring richer tradeoffs inside each selected universe.</a:t>
            </a:r>
          </a:p>
          <a:p>
            <a:r>
              <a:rPr lang="en-US" dirty="0"/>
              <a:t>Transition: I'll conclude with the key references behind the ideas we've discussed.</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1"/>
          </p:nvPr>
        </p:nvSpPr>
        <p:spPr>
          <a:xfrm>
            <a:off x="685800" y="685800"/>
            <a:ext cx="5486400" cy="3086100"/>
          </a:xfrm>
          <a:prstGeom prst="rect">
            <a:avLst/>
          </a:prstGeom>
        </p:spPr>
        <p:txBody>
          <a:bodyPr/>
          <a:lstStyle/>
          <a:p>
            <a:endParaRPr lang="en-US"/>
          </a:p>
        </p:txBody>
      </p:sp>
      <p:sp>
        <p:nvSpPr>
          <p:cNvPr id="3" name="Notes Placeholder 2"/>
          <p:cNvSpPr>
            <a:spLocks noGrp="1"/>
          </p:cNvSpPr>
          <p:nvPr>
            <p:ph type="body" idx="2"/>
          </p:nvPr>
        </p:nvSpPr>
        <p:spPr>
          <a:xfrm>
            <a:off x="685800" y="4114800"/>
            <a:ext cx="5486400" cy="3600450"/>
          </a:xfrm>
          <a:prstGeom prst="rect">
            <a:avLst/>
          </a:prstGeom>
        </p:spPr>
        <p:txBody>
          <a:bodyPr/>
          <a:lstStyle/>
          <a:p>
            <a:r>
              <a:rPr lang="en-US" dirty="0"/>
              <a:t>These are the five core references directly supporting the problem framing and the preselection literature for this thesis.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RL: I chose RL because supervised methods require predefined target labels, such as the correct risk score for each asset. Those labels are not naturally available. RL instead learns the desired ranking directly through a reward function</a:t>
            </a:r>
          </a:p>
          <a:p>
            <a:endParaRPr lang="en-US" dirty="0"/>
          </a:p>
          <a:p>
            <a:r>
              <a:rPr lang="en-US" dirty="0"/>
              <a:t>Financial value in individual asset risk? The financial value is reducing the investor’s exposure to unsuitable assets before the remaining optimization stages.</a:t>
            </a:r>
          </a:p>
          <a:p>
            <a:endParaRPr lang="en-US" dirty="0"/>
          </a:p>
          <a:p>
            <a:r>
              <a:rPr lang="en-US" dirty="0"/>
              <a:t>Persistence? I did not implement a persistence baseline, so I cannot quantify the model’s incremental value over carrying forward the previous month’s ranking, but my analysis showed that the mean rank change for an asset is 7.7 ranks</a:t>
            </a:r>
          </a:p>
          <a:p>
            <a:endParaRPr lang="en-US" dirty="0"/>
          </a:p>
          <a:p>
            <a:r>
              <a:rPr lang="en-US" dirty="0"/>
              <a:t>Why equal weights: I tested alternative formulas, but they produced weak sensitivity to the weights so Equal weighting was retained as a transparent methodological choice because the thesis had no defensible basis for privileging one risk concept over another.</a:t>
            </a:r>
          </a:p>
        </p:txBody>
      </p:sp>
      <p:sp>
        <p:nvSpPr>
          <p:cNvPr id="4" name="Slide Number Placeholder 3"/>
          <p:cNvSpPr>
            <a:spLocks noGrp="1"/>
          </p:cNvSpPr>
          <p:nvPr>
            <p:ph type="sldNum" sz="quarter" idx="5"/>
          </p:nvPr>
        </p:nvSpPr>
        <p:spPr/>
        <p:txBody>
          <a:bodyPr/>
          <a:lstStyle/>
          <a:p>
            <a:fld id="{56CA434D-5B9B-4A22-BB04-DCAA38E4D51D}" type="slidenum">
              <a:rPr lang="en-US" smtClean="0"/>
              <a:t>47</a:t>
            </a:fld>
            <a:endParaRPr lang="en-US"/>
          </a:p>
        </p:txBody>
      </p:sp>
    </p:spTree>
    <p:extLst>
      <p:ext uri="{BB962C8B-B14F-4D97-AF65-F5344CB8AC3E}">
        <p14:creationId xmlns:p14="http://schemas.microsoft.com/office/powerpoint/2010/main" val="3586289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CA434D-5B9B-4A22-BB04-DCAA38E4D51D}" type="slidenum">
              <a:rPr lang="en-US" smtClean="0"/>
              <a:t>48</a:t>
            </a:fld>
            <a:endParaRPr lang="en-US"/>
          </a:p>
        </p:txBody>
      </p:sp>
    </p:spTree>
    <p:extLst>
      <p:ext uri="{BB962C8B-B14F-4D97-AF65-F5344CB8AC3E}">
        <p14:creationId xmlns:p14="http://schemas.microsoft.com/office/powerpoint/2010/main" val="13431850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CA434D-5B9B-4A22-BB04-DCAA38E4D51D}" type="slidenum">
              <a:rPr lang="en-US" smtClean="0"/>
              <a:t>49</a:t>
            </a:fld>
            <a:endParaRPr lang="en-US"/>
          </a:p>
        </p:txBody>
      </p:sp>
    </p:spTree>
    <p:extLst>
      <p:ext uri="{BB962C8B-B14F-4D97-AF65-F5344CB8AC3E}">
        <p14:creationId xmlns:p14="http://schemas.microsoft.com/office/powerpoint/2010/main" val="22536986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8974F09-BA5B-CE93-4DC0-5894C61367C8}"/>
              </a:ext>
            </a:extLst>
          </p:cNvPr>
          <p:cNvSpPr/>
          <p:nvPr userDrawn="1"/>
        </p:nvSpPr>
        <p:spPr>
          <a:xfrm rot="5400000">
            <a:off x="2621277" y="-2621279"/>
            <a:ext cx="6857999" cy="1210056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p:cNvSpPr>
            <a:spLocks noGrp="1"/>
          </p:cNvSpPr>
          <p:nvPr>
            <p:ph type="ctrTitle" hasCustomPrompt="1"/>
          </p:nvPr>
        </p:nvSpPr>
        <p:spPr>
          <a:xfrm>
            <a:off x="1066800" y="1645920"/>
            <a:ext cx="10058400" cy="3566160"/>
          </a:xfrm>
        </p:spPr>
        <p:txBody>
          <a:bodyPr anchor="b">
            <a:normAutofit/>
          </a:bodyPr>
          <a:lstStyle>
            <a:lvl1pPr algn="l">
              <a:lnSpc>
                <a:spcPct val="85000"/>
              </a:lnSpc>
              <a:defRPr sz="8000" spc="-50" baseline="0">
                <a:solidFill>
                  <a:schemeClr val="bg1"/>
                </a:solidFill>
              </a:defRPr>
            </a:lvl1pPr>
          </a:lstStyle>
          <a:p>
            <a:r>
              <a:rPr lang="en-US" dirty="0"/>
              <a:t>Title</a:t>
            </a:r>
          </a:p>
        </p:txBody>
      </p:sp>
      <p:sp>
        <p:nvSpPr>
          <p:cNvPr id="4" name="Date Placeholder 3"/>
          <p:cNvSpPr>
            <a:spLocks noGrp="1"/>
          </p:cNvSpPr>
          <p:nvPr>
            <p:ph type="dt" sz="half" idx="10"/>
          </p:nvPr>
        </p:nvSpPr>
        <p:spPr/>
        <p:txBody>
          <a:bodyPr/>
          <a:lstStyle/>
          <a:p>
            <a:fld id="{4B1FDDEC-290C-46A3-AAAC-80B1A205EAA7}" type="datetime1">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70230A-709D-4205-8636-A3280FD27E74}" type="slidenum">
              <a:rPr lang="en-US" smtClean="0"/>
              <a:t>‹#›</a:t>
            </a:fld>
            <a:endParaRPr lang="en-US"/>
          </a:p>
        </p:txBody>
      </p:sp>
      <p:sp>
        <p:nvSpPr>
          <p:cNvPr id="11" name="Rectangle 10">
            <a:extLst>
              <a:ext uri="{FF2B5EF4-FFF2-40B4-BE49-F238E27FC236}">
                <a16:creationId xmlns:a16="http://schemas.microsoft.com/office/drawing/2014/main" id="{0E6C301B-627F-63CF-47F1-3BD4C3FEF3C7}"/>
              </a:ext>
            </a:extLst>
          </p:cNvPr>
          <p:cNvSpPr/>
          <p:nvPr userDrawn="1"/>
        </p:nvSpPr>
        <p:spPr>
          <a:xfrm rot="5400000">
            <a:off x="8740140"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8" name="Straight Connector 7">
            <a:extLst>
              <a:ext uri="{FF2B5EF4-FFF2-40B4-BE49-F238E27FC236}">
                <a16:creationId xmlns:a16="http://schemas.microsoft.com/office/drawing/2014/main" id="{10074576-789E-CA71-7961-0C2E654A204C}"/>
              </a:ext>
            </a:extLst>
          </p:cNvPr>
          <p:cNvCxnSpPr>
            <a:cxnSpLocks/>
          </p:cNvCxnSpPr>
          <p:nvPr userDrawn="1"/>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2008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o 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066800" y="1645920"/>
            <a:ext cx="10058400" cy="3566160"/>
          </a:xfrm>
        </p:spPr>
        <p:txBody>
          <a:bodyPr anchor="b">
            <a:normAutofit/>
          </a:bodyPr>
          <a:lstStyle>
            <a:lvl1pPr algn="l">
              <a:lnSpc>
                <a:spcPct val="85000"/>
              </a:lnSpc>
              <a:defRPr sz="8000" spc="-50" baseline="0">
                <a:solidFill>
                  <a:schemeClr val="bg1"/>
                </a:solidFill>
              </a:defRPr>
            </a:lvl1pPr>
          </a:lstStyle>
          <a:p>
            <a:r>
              <a:rPr lang="en-US" dirty="0"/>
              <a:t>Title</a:t>
            </a:r>
          </a:p>
        </p:txBody>
      </p:sp>
      <p:sp>
        <p:nvSpPr>
          <p:cNvPr id="4" name="Date Placeholder 3"/>
          <p:cNvSpPr>
            <a:spLocks noGrp="1"/>
          </p:cNvSpPr>
          <p:nvPr>
            <p:ph type="dt" sz="half" idx="10"/>
          </p:nvPr>
        </p:nvSpPr>
        <p:spPr/>
        <p:txBody>
          <a:bodyPr/>
          <a:lstStyle/>
          <a:p>
            <a:fld id="{4B1FDDEC-290C-46A3-AAAC-80B1A205EAA7}" type="datetime1">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70230A-709D-4205-8636-A3280FD27E74}" type="slidenum">
              <a:rPr lang="en-US" smtClean="0"/>
              <a:t>‹#›</a:t>
            </a:fld>
            <a:endParaRPr lang="en-US"/>
          </a:p>
        </p:txBody>
      </p:sp>
      <p:cxnSp>
        <p:nvCxnSpPr>
          <p:cNvPr id="8" name="Straight Connector 7">
            <a:extLst>
              <a:ext uri="{FF2B5EF4-FFF2-40B4-BE49-F238E27FC236}">
                <a16:creationId xmlns:a16="http://schemas.microsoft.com/office/drawing/2014/main" id="{10074576-789E-CA71-7961-0C2E654A204C}"/>
              </a:ext>
            </a:extLst>
          </p:cNvPr>
          <p:cNvCxnSpPr>
            <a:cxnSpLocks/>
          </p:cNvCxnSpPr>
          <p:nvPr userDrawn="1"/>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71031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66800" y="1645920"/>
            <a:ext cx="10058400" cy="3566160"/>
          </a:xfrm>
        </p:spPr>
        <p:txBody>
          <a:bodyPr anchor="b">
            <a:normAutofit/>
          </a:bodyPr>
          <a:lstStyle>
            <a:lvl1pPr algn="l">
              <a:lnSpc>
                <a:spcPct val="85000"/>
              </a:lnSpc>
              <a:defRPr sz="8000" spc="-50" baseline="0">
                <a:solidFill>
                  <a:schemeClr val="tx1"/>
                </a:solidFill>
              </a:defRPr>
            </a:lvl1pPr>
          </a:lstStyle>
          <a:p>
            <a:r>
              <a:rPr lang="en-US"/>
              <a:t>Click to edit Master title style</a:t>
            </a:r>
            <a:endParaRPr lang="en-US" dirty="0"/>
          </a:p>
        </p:txBody>
      </p:sp>
      <p:sp>
        <p:nvSpPr>
          <p:cNvPr id="4" name="Date Placeholder 3"/>
          <p:cNvSpPr>
            <a:spLocks noGrp="1"/>
          </p:cNvSpPr>
          <p:nvPr>
            <p:ph type="dt" sz="half" idx="10"/>
          </p:nvPr>
        </p:nvSpPr>
        <p:spPr/>
        <p:txBody>
          <a:bodyPr/>
          <a:lstStyle/>
          <a:p>
            <a:fld id="{4B1FDDEC-290C-46A3-AAAC-80B1A205EAA7}" type="datetime1">
              <a:rPr lang="en-US" smtClean="0"/>
              <a:t>6/23/2026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1370230A-709D-4205-8636-A3280FD27E74}" type="slidenum">
              <a:rPr lang="en-US" smtClean="0"/>
              <a:t>‹#›</a:t>
            </a:fld>
            <a:endParaRPr lang="en-US"/>
          </a:p>
        </p:txBody>
      </p:sp>
      <p:sp>
        <p:nvSpPr>
          <p:cNvPr id="3" name="Rectangle 2">
            <a:extLst>
              <a:ext uri="{FF2B5EF4-FFF2-40B4-BE49-F238E27FC236}">
                <a16:creationId xmlns:a16="http://schemas.microsoft.com/office/drawing/2014/main" id="{0CA0D418-9742-98E2-6C3E-5205EFAE8FFF}"/>
              </a:ext>
            </a:extLst>
          </p:cNvPr>
          <p:cNvSpPr/>
          <p:nvPr userDrawn="1"/>
        </p:nvSpPr>
        <p:spPr>
          <a:xfrm rot="5400000">
            <a:off x="-3295487" y="3295487"/>
            <a:ext cx="6857999" cy="267028"/>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700C6AEB-8335-6E9E-EE94-9884670022FF}"/>
              </a:ext>
            </a:extLst>
          </p:cNvPr>
          <p:cNvSpPr/>
          <p:nvPr userDrawn="1"/>
        </p:nvSpPr>
        <p:spPr>
          <a:xfrm rot="5400000">
            <a:off x="-3103658"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Text Placeholder 8">
            <a:extLst>
              <a:ext uri="{FF2B5EF4-FFF2-40B4-BE49-F238E27FC236}">
                <a16:creationId xmlns:a16="http://schemas.microsoft.com/office/drawing/2014/main" id="{07299F84-C72F-BD47-ED3F-A05836B25612}"/>
              </a:ext>
            </a:extLst>
          </p:cNvPr>
          <p:cNvSpPr>
            <a:spLocks noGrp="1"/>
          </p:cNvSpPr>
          <p:nvPr>
            <p:ph type="body" sz="quarter" idx="13" hasCustomPrompt="1"/>
          </p:nvPr>
        </p:nvSpPr>
        <p:spPr>
          <a:xfrm>
            <a:off x="1066800" y="5382903"/>
            <a:ext cx="10088563" cy="563562"/>
          </a:xfrm>
        </p:spPr>
        <p:txBody>
          <a:bodyPr/>
          <a:lstStyle>
            <a:lvl1pPr>
              <a:defRPr>
                <a:solidFill>
                  <a:schemeClr val="tx1"/>
                </a:solidFill>
              </a:defRPr>
            </a:lvl1pPr>
          </a:lstStyle>
          <a:p>
            <a:pPr lvl="0"/>
            <a:r>
              <a:rPr lang="en-US" dirty="0"/>
              <a:t>Subtitle</a:t>
            </a:r>
          </a:p>
        </p:txBody>
      </p:sp>
      <p:pic>
        <p:nvPicPr>
          <p:cNvPr id="12" name="Picture 11">
            <a:extLst>
              <a:ext uri="{FF2B5EF4-FFF2-40B4-BE49-F238E27FC236}">
                <a16:creationId xmlns:a16="http://schemas.microsoft.com/office/drawing/2014/main" id="{F398BC4B-65E7-05B9-E6F1-DE6B47ED9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763955" y="624516"/>
            <a:ext cx="368410" cy="387465"/>
          </a:xfrm>
          <a:prstGeom prst="rect">
            <a:avLst/>
          </a:prstGeom>
        </p:spPr>
      </p:pic>
      <p:pic>
        <p:nvPicPr>
          <p:cNvPr id="13" name="Picture 12">
            <a:extLst>
              <a:ext uri="{FF2B5EF4-FFF2-40B4-BE49-F238E27FC236}">
                <a16:creationId xmlns:a16="http://schemas.microsoft.com/office/drawing/2014/main" id="{21370BFB-B222-9C7A-F83D-BFE96233B6E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704320" y="21157"/>
            <a:ext cx="487680" cy="530892"/>
          </a:xfrm>
          <a:prstGeom prst="rect">
            <a:avLst/>
          </a:prstGeom>
        </p:spPr>
      </p:pic>
    </p:spTree>
    <p:extLst>
      <p:ext uri="{BB962C8B-B14F-4D97-AF65-F5344CB8AC3E}">
        <p14:creationId xmlns:p14="http://schemas.microsoft.com/office/powerpoint/2010/main" val="15620320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dirty="0"/>
              <a:t>Click to edit Master title style</a:t>
            </a:r>
          </a:p>
        </p:txBody>
      </p:sp>
      <p:sp>
        <p:nvSpPr>
          <p:cNvPr id="3" name="Content Placeholder 2"/>
          <p:cNvSpPr>
            <a:spLocks noGrp="1"/>
          </p:cNvSpPr>
          <p:nvPr>
            <p:ph idx="1"/>
          </p:nvPr>
        </p:nvSpPr>
        <p:spPr/>
        <p:txBody>
          <a:bodyPr anchor="ctr"/>
          <a:lstStyle>
            <a:lvl1pPr>
              <a:lnSpc>
                <a:spcPct val="150000"/>
              </a:lnSpc>
              <a:defRPr sz="2000">
                <a:latin typeface="+mj-lt"/>
              </a:defRPr>
            </a:lvl1pPr>
            <a:lvl2pPr>
              <a:lnSpc>
                <a:spcPct val="150000"/>
              </a:lnSpc>
              <a:defRPr sz="2000">
                <a:latin typeface="+mj-lt"/>
              </a:defRPr>
            </a:lvl2pPr>
            <a:lvl3pPr>
              <a:lnSpc>
                <a:spcPct val="150000"/>
              </a:lnSpc>
              <a:defRPr sz="2000">
                <a:latin typeface="+mj-lt"/>
              </a:defRPr>
            </a:lvl3pPr>
            <a:lvl4pPr>
              <a:lnSpc>
                <a:spcPct val="150000"/>
              </a:lnSpc>
              <a:defRPr sz="2000">
                <a:latin typeface="+mj-lt"/>
              </a:defRPr>
            </a:lvl4pPr>
            <a:lvl5pPr>
              <a:lnSpc>
                <a:spcPct val="150000"/>
              </a:lnSpc>
              <a:defRPr sz="2000">
                <a:latin typeface="+mj-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DE1F30BF-6B28-4FAA-9212-08B64EC957B3}" type="datetime1">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70230A-709D-4205-8636-A3280FD27E74}" type="slidenum">
              <a:rPr lang="en-US" smtClean="0"/>
              <a:t>‹#›</a:t>
            </a:fld>
            <a:endParaRPr lang="en-US"/>
          </a:p>
        </p:txBody>
      </p:sp>
      <p:sp>
        <p:nvSpPr>
          <p:cNvPr id="16" name="Rectangle 15">
            <a:extLst>
              <a:ext uri="{FF2B5EF4-FFF2-40B4-BE49-F238E27FC236}">
                <a16:creationId xmlns:a16="http://schemas.microsoft.com/office/drawing/2014/main" id="{9857F567-14FC-F17F-85AB-530A3BDF8824}"/>
              </a:ext>
            </a:extLst>
          </p:cNvPr>
          <p:cNvSpPr/>
          <p:nvPr userDrawn="1"/>
        </p:nvSpPr>
        <p:spPr>
          <a:xfrm rot="5400000">
            <a:off x="-3298549" y="3295484"/>
            <a:ext cx="6857999" cy="267028"/>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17" name="Rectangle 16">
            <a:extLst>
              <a:ext uri="{FF2B5EF4-FFF2-40B4-BE49-F238E27FC236}">
                <a16:creationId xmlns:a16="http://schemas.microsoft.com/office/drawing/2014/main" id="{6E559F87-74A3-52AE-A322-0D83C9336BAC}"/>
              </a:ext>
            </a:extLst>
          </p:cNvPr>
          <p:cNvSpPr/>
          <p:nvPr userDrawn="1"/>
        </p:nvSpPr>
        <p:spPr>
          <a:xfrm rot="5400000">
            <a:off x="-3103658"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7872351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dirty="0"/>
              <a:t>Click to edit Master title style</a:t>
            </a:r>
          </a:p>
        </p:txBody>
      </p:sp>
      <p:sp>
        <p:nvSpPr>
          <p:cNvPr id="4" name="Date Placeholder 3"/>
          <p:cNvSpPr>
            <a:spLocks noGrp="1"/>
          </p:cNvSpPr>
          <p:nvPr>
            <p:ph type="dt" sz="half" idx="10"/>
          </p:nvPr>
        </p:nvSpPr>
        <p:spPr/>
        <p:txBody>
          <a:bodyPr/>
          <a:lstStyle/>
          <a:p>
            <a:fld id="{DE1F30BF-6B28-4FAA-9212-08B64EC957B3}" type="datetime1">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70230A-709D-4205-8636-A3280FD27E74}" type="slidenum">
              <a:rPr lang="en-US" smtClean="0"/>
              <a:t>‹#›</a:t>
            </a:fld>
            <a:endParaRPr lang="en-US"/>
          </a:p>
        </p:txBody>
      </p:sp>
      <p:sp>
        <p:nvSpPr>
          <p:cNvPr id="8" name="Content Placeholder 2">
            <a:extLst>
              <a:ext uri="{FF2B5EF4-FFF2-40B4-BE49-F238E27FC236}">
                <a16:creationId xmlns:a16="http://schemas.microsoft.com/office/drawing/2014/main" id="{1835F779-EFD6-5B30-F51C-BF528035E564}"/>
              </a:ext>
            </a:extLst>
          </p:cNvPr>
          <p:cNvSpPr>
            <a:spLocks noGrp="1"/>
          </p:cNvSpPr>
          <p:nvPr>
            <p:ph idx="13"/>
          </p:nvPr>
        </p:nvSpPr>
        <p:spPr>
          <a:xfrm>
            <a:off x="1097280" y="1905000"/>
            <a:ext cx="10058400" cy="4023360"/>
          </a:xfrm>
        </p:spPr>
        <p:txBody>
          <a:bodyPr anchor="ctr"/>
          <a:lstStyle>
            <a:lvl1pPr>
              <a:lnSpc>
                <a:spcPct val="150000"/>
              </a:lnSpc>
              <a:defRPr sz="2000">
                <a:latin typeface="+mj-lt"/>
              </a:defRPr>
            </a:lvl1pPr>
            <a:lvl2pPr>
              <a:lnSpc>
                <a:spcPct val="150000"/>
              </a:lnSpc>
              <a:defRPr sz="2000">
                <a:latin typeface="+mj-lt"/>
              </a:defRPr>
            </a:lvl2pPr>
            <a:lvl3pPr>
              <a:lnSpc>
                <a:spcPct val="150000"/>
              </a:lnSpc>
              <a:defRPr sz="2000">
                <a:latin typeface="+mj-lt"/>
              </a:defRPr>
            </a:lvl3pPr>
            <a:lvl4pPr>
              <a:lnSpc>
                <a:spcPct val="150000"/>
              </a:lnSpc>
              <a:defRPr sz="2000">
                <a:latin typeface="+mj-lt"/>
              </a:defRPr>
            </a:lvl4pPr>
            <a:lvl5pPr>
              <a:lnSpc>
                <a:spcPct val="150000"/>
              </a:lnSpc>
              <a:defRPr sz="2000">
                <a:latin typeface="+mj-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94166925"/>
      </p:ext>
    </p:extLst>
  </p:cSld>
  <p:clrMapOvr>
    <a:masterClrMapping/>
  </p:clrMapOvr>
  <p:extLst>
    <p:ext uri="{DCECCB84-F9BA-43D5-87BE-67443E8EF086}">
      <p15:sldGuideLst xmlns:p15="http://schemas.microsoft.com/office/powerpoint/2012/main">
        <p15:guide id="1" orient="horz" pos="1200" userDrawn="1">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8353A8A-47A8-46D0-A2B9-12A1E64172B9}" type="datetime1">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370230A-709D-4205-8636-A3280FD27E74}" type="slidenum">
              <a:rPr lang="en-US" smtClean="0"/>
              <a:t>‹#›</a:t>
            </a:fld>
            <a:endParaRPr lang="en-US"/>
          </a:p>
        </p:txBody>
      </p:sp>
      <p:sp>
        <p:nvSpPr>
          <p:cNvPr id="2" name="Rectangle 1">
            <a:extLst>
              <a:ext uri="{FF2B5EF4-FFF2-40B4-BE49-F238E27FC236}">
                <a16:creationId xmlns:a16="http://schemas.microsoft.com/office/drawing/2014/main" id="{BEE4CEAB-A99B-03F8-83CD-0EC1B3251176}"/>
              </a:ext>
            </a:extLst>
          </p:cNvPr>
          <p:cNvSpPr/>
          <p:nvPr userDrawn="1"/>
        </p:nvSpPr>
        <p:spPr>
          <a:xfrm rot="5400000">
            <a:off x="-9212254" y="-2621282"/>
            <a:ext cx="6857999" cy="1210056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Tree>
    <p:extLst>
      <p:ext uri="{BB962C8B-B14F-4D97-AF65-F5344CB8AC3E}">
        <p14:creationId xmlns:p14="http://schemas.microsoft.com/office/powerpoint/2010/main" val="2111524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E4985AA-0B3D-4F07-ACA1-EDC07BA37A19}" type="datetime1">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370230A-709D-4205-8636-A3280FD27E74}" type="slidenum">
              <a:rPr lang="en-US" smtClean="0"/>
              <a:t>‹#›</a:t>
            </a:fld>
            <a:endParaRPr lang="en-US"/>
          </a:p>
        </p:txBody>
      </p:sp>
      <p:sp>
        <p:nvSpPr>
          <p:cNvPr id="2" name="Rectangle 1">
            <a:extLst>
              <a:ext uri="{FF2B5EF4-FFF2-40B4-BE49-F238E27FC236}">
                <a16:creationId xmlns:a16="http://schemas.microsoft.com/office/drawing/2014/main" id="{EF6EDF1D-7395-91FA-0F78-3E7786280808}"/>
              </a:ext>
            </a:extLst>
          </p:cNvPr>
          <p:cNvSpPr/>
          <p:nvPr userDrawn="1"/>
        </p:nvSpPr>
        <p:spPr>
          <a:xfrm rot="5400000">
            <a:off x="-9212254" y="-2621282"/>
            <a:ext cx="6857999" cy="1210056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Tree>
    <p:extLst>
      <p:ext uri="{BB962C8B-B14F-4D97-AF65-F5344CB8AC3E}">
        <p14:creationId xmlns:p14="http://schemas.microsoft.com/office/powerpoint/2010/main" val="35956960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chemeClr val="tx1"/>
                </a:solidFill>
              </a:defRPr>
            </a:lvl1pPr>
          </a:lstStyle>
          <a:p>
            <a:fld id="{E7D051F9-C035-4AC7-BE34-6B05C97A3AC6}" type="datetime1">
              <a:rPr lang="en-US" smtClean="0"/>
              <a:pPr/>
              <a:t>6/23/2026</a:t>
            </a:fld>
            <a:endParaRPr lang="en-US"/>
          </a:p>
        </p:txBody>
      </p:sp>
      <p:sp>
        <p:nvSpPr>
          <p:cNvPr id="5" name="Footer Placeholder 4"/>
          <p:cNvSpPr>
            <a:spLocks noGrp="1"/>
          </p:cNvSpPr>
          <p:nvPr>
            <p:ph type="ftr" sz="quarter" idx="3"/>
          </p:nvPr>
        </p:nvSpPr>
        <p:spPr>
          <a:xfrm>
            <a:off x="3715078" y="6459785"/>
            <a:ext cx="4822804" cy="365125"/>
          </a:xfrm>
          <a:prstGeom prst="rect">
            <a:avLst/>
          </a:prstGeom>
        </p:spPr>
        <p:txBody>
          <a:bodyPr vert="horz" lIns="91440" tIns="45720" rIns="91440" bIns="45720" rtlCol="0" anchor="ctr"/>
          <a:lstStyle>
            <a:lvl1pPr algn="ctr">
              <a:defRPr sz="900" cap="all" baseline="0">
                <a:solidFill>
                  <a:schemeClr val="tx1"/>
                </a:solidFill>
              </a:defRPr>
            </a:lvl1pPr>
          </a:lstStyle>
          <a:p>
            <a:endParaRPr lang="en-US" dirty="0">
              <a:solidFill>
                <a:schemeClr val="tx1"/>
              </a:solidFill>
            </a:endParaRPr>
          </a:p>
        </p:txBody>
      </p:sp>
      <p:sp>
        <p:nvSpPr>
          <p:cNvPr id="6" name="Slide Number Placeholder 5"/>
          <p:cNvSpPr>
            <a:spLocks noGrp="1"/>
          </p:cNvSpPr>
          <p:nvPr>
            <p:ph type="sldNum" sz="quarter" idx="4"/>
          </p:nvPr>
        </p:nvSpPr>
        <p:spPr>
          <a:xfrm>
            <a:off x="9843655" y="6459785"/>
            <a:ext cx="1312025" cy="365125"/>
          </a:xfrm>
          <a:prstGeom prst="rect">
            <a:avLst/>
          </a:prstGeom>
        </p:spPr>
        <p:txBody>
          <a:bodyPr vert="horz" lIns="91440" tIns="45720" rIns="91440" bIns="45720" rtlCol="0" anchor="ctr"/>
          <a:lstStyle>
            <a:lvl1pPr algn="r">
              <a:defRPr sz="1050">
                <a:solidFill>
                  <a:schemeClr val="tx1"/>
                </a:solidFill>
              </a:defRPr>
            </a:lvl1pPr>
          </a:lstStyle>
          <a:p>
            <a:fld id="{1370230A-709D-4205-8636-A3280FD27E74}" type="slidenum">
              <a:rPr lang="en-US" smtClean="0"/>
              <a:pPr/>
              <a:t>‹#›</a:t>
            </a:fld>
            <a:endParaRPr lang="en-US" dirty="0"/>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6DE884CB-02EA-EAFF-4D26-EFCEC9165BB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1763955" y="624516"/>
            <a:ext cx="368410" cy="387465"/>
          </a:xfrm>
          <a:prstGeom prst="rect">
            <a:avLst/>
          </a:prstGeom>
        </p:spPr>
      </p:pic>
      <p:pic>
        <p:nvPicPr>
          <p:cNvPr id="15" name="Picture 14">
            <a:extLst>
              <a:ext uri="{FF2B5EF4-FFF2-40B4-BE49-F238E27FC236}">
                <a16:creationId xmlns:a16="http://schemas.microsoft.com/office/drawing/2014/main" id="{6355FA32-0551-8FA2-0044-702EFCA091F8}"/>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1704320" y="21157"/>
            <a:ext cx="487680" cy="530892"/>
          </a:xfrm>
          <a:prstGeom prst="rect">
            <a:avLst/>
          </a:prstGeom>
        </p:spPr>
      </p:pic>
    </p:spTree>
    <p:extLst>
      <p:ext uri="{BB962C8B-B14F-4D97-AF65-F5344CB8AC3E}">
        <p14:creationId xmlns:p14="http://schemas.microsoft.com/office/powerpoint/2010/main" val="217129853"/>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6" r:id="rId3"/>
    <p:sldLayoutId id="2147483662" r:id="rId4"/>
    <p:sldLayoutId id="2147483668" r:id="rId5"/>
    <p:sldLayoutId id="2147483664" r:id="rId6"/>
    <p:sldLayoutId id="2147483665" r:id="rId7"/>
  </p:sldLayoutIdLst>
  <p:hf hdr="0" ftr="0" dt="0"/>
  <p:txStyles>
    <p:titleStyle>
      <a:lvl1pPr algn="l" defTabSz="914400" rtl="0" eaLnBrk="1" latinLnBrk="0" hangingPunct="1">
        <a:lnSpc>
          <a:spcPct val="85000"/>
        </a:lnSpc>
        <a:spcBef>
          <a:spcPct val="0"/>
        </a:spcBef>
        <a:buNone/>
        <a:defRPr sz="4800" kern="1200" spc="-50" baseline="0">
          <a:solidFill>
            <a:schemeClr val="tx1"/>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893FC-F9B0-B36D-4BB7-D4316022452A}"/>
              </a:ext>
            </a:extLst>
          </p:cNvPr>
          <p:cNvSpPr>
            <a:spLocks noGrp="1"/>
          </p:cNvSpPr>
          <p:nvPr>
            <p:ph type="ctrTitle"/>
          </p:nvPr>
        </p:nvSpPr>
        <p:spPr>
          <a:xfrm>
            <a:off x="1066800" y="710582"/>
            <a:ext cx="10058400" cy="3566160"/>
          </a:xfrm>
        </p:spPr>
        <p:txBody>
          <a:bodyPr/>
          <a:lstStyle/>
          <a:p>
            <a:r>
              <a:rPr lang="en-US" dirty="0"/>
              <a:t>Portfolio Optimization</a:t>
            </a:r>
          </a:p>
        </p:txBody>
      </p:sp>
      <p:sp>
        <p:nvSpPr>
          <p:cNvPr id="3" name="Slide Number Placeholder 2">
            <a:extLst>
              <a:ext uri="{FF2B5EF4-FFF2-40B4-BE49-F238E27FC236}">
                <a16:creationId xmlns:a16="http://schemas.microsoft.com/office/drawing/2014/main" id="{77BB36AC-D6C3-B69C-7C02-0F845150D5E3}"/>
              </a:ext>
            </a:extLst>
          </p:cNvPr>
          <p:cNvSpPr>
            <a:spLocks noGrp="1"/>
          </p:cNvSpPr>
          <p:nvPr>
            <p:ph type="sldNum" sz="quarter" idx="12"/>
          </p:nvPr>
        </p:nvSpPr>
        <p:spPr/>
        <p:txBody>
          <a:bodyPr/>
          <a:lstStyle/>
          <a:p>
            <a:fld id="{1370230A-709D-4205-8636-A3280FD27E74}" type="slidenum">
              <a:rPr lang="en-US" smtClean="0"/>
              <a:t>1</a:t>
            </a:fld>
            <a:endParaRPr lang="en-US"/>
          </a:p>
        </p:txBody>
      </p:sp>
      <p:sp>
        <p:nvSpPr>
          <p:cNvPr id="4" name="Text Placeholder 3">
            <a:extLst>
              <a:ext uri="{FF2B5EF4-FFF2-40B4-BE49-F238E27FC236}">
                <a16:creationId xmlns:a16="http://schemas.microsoft.com/office/drawing/2014/main" id="{A8463DD1-B19E-F441-7764-8F399EFB4871}"/>
              </a:ext>
            </a:extLst>
          </p:cNvPr>
          <p:cNvSpPr>
            <a:spLocks noGrp="1"/>
          </p:cNvSpPr>
          <p:nvPr>
            <p:ph type="body" sz="quarter" idx="13"/>
          </p:nvPr>
        </p:nvSpPr>
        <p:spPr>
          <a:xfrm>
            <a:off x="1066800" y="4447565"/>
            <a:ext cx="10088563" cy="563562"/>
          </a:xfrm>
        </p:spPr>
        <p:txBody>
          <a:bodyPr/>
          <a:lstStyle/>
          <a:p>
            <a:r>
              <a:rPr lang="en-US" dirty="0"/>
              <a:t>Asset Universe Selection Based on Investor Profiles </a:t>
            </a:r>
          </a:p>
        </p:txBody>
      </p:sp>
      <p:sp>
        <p:nvSpPr>
          <p:cNvPr id="5" name="Footer Placeholder 4">
            <a:extLst>
              <a:ext uri="{FF2B5EF4-FFF2-40B4-BE49-F238E27FC236}">
                <a16:creationId xmlns:a16="http://schemas.microsoft.com/office/drawing/2014/main" id="{54E6A75A-3A33-3009-3FDB-25CDBEAD3027}"/>
              </a:ext>
            </a:extLst>
          </p:cNvPr>
          <p:cNvSpPr>
            <a:spLocks noGrp="1"/>
          </p:cNvSpPr>
          <p:nvPr>
            <p:ph type="ftr" sz="quarter" idx="11"/>
          </p:nvPr>
        </p:nvSpPr>
        <p:spPr/>
        <p:txBody>
          <a:bodyPr/>
          <a:lstStyle/>
          <a:p>
            <a:r>
              <a:rPr lang="en-US" dirty="0"/>
              <a:t>Ali Abuelkheir</a:t>
            </a:r>
          </a:p>
        </p:txBody>
      </p:sp>
      <p:sp>
        <p:nvSpPr>
          <p:cNvPr id="6" name="Footer Placeholder 4">
            <a:extLst>
              <a:ext uri="{FF2B5EF4-FFF2-40B4-BE49-F238E27FC236}">
                <a16:creationId xmlns:a16="http://schemas.microsoft.com/office/drawing/2014/main" id="{0746D711-52E9-BF98-EE33-E31D86079DC1}"/>
              </a:ext>
            </a:extLst>
          </p:cNvPr>
          <p:cNvSpPr txBox="1">
            <a:spLocks/>
          </p:cNvSpPr>
          <p:nvPr/>
        </p:nvSpPr>
        <p:spPr>
          <a:xfrm>
            <a:off x="1066800" y="4816825"/>
            <a:ext cx="4822804" cy="365125"/>
          </a:xfrm>
          <a:prstGeom prst="rect">
            <a:avLst/>
          </a:prstGeom>
        </p:spPr>
        <p:txBody>
          <a:bodyPr vert="horz" lIns="91440" tIns="45720" rIns="91440" bIns="45720" rtlCol="0" anchor="ctr"/>
          <a:lstStyle>
            <a:defPPr>
              <a:defRPr lang="en-US"/>
            </a:defPPr>
            <a:lvl1pPr marL="0" algn="ctr" defTabSz="457200" rtl="0" eaLnBrk="1" latinLnBrk="0" hangingPunct="1">
              <a:defRPr sz="9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lang="en-US" dirty="0"/>
              <a:t>Supervised by DR Mervat </a:t>
            </a:r>
            <a:r>
              <a:rPr lang="en-US" dirty="0" err="1"/>
              <a:t>abuelkheir</a:t>
            </a:r>
            <a:endParaRPr lang="en-US" dirty="0"/>
          </a:p>
        </p:txBody>
      </p:sp>
    </p:spTree>
    <p:extLst>
      <p:ext uri="{BB962C8B-B14F-4D97-AF65-F5344CB8AC3E}">
        <p14:creationId xmlns:p14="http://schemas.microsoft.com/office/powerpoint/2010/main" val="24633886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CFD8F-1BD1-BD13-B043-76933748979A}"/>
              </a:ext>
            </a:extLst>
          </p:cNvPr>
          <p:cNvSpPr>
            <a:spLocks noGrp="1"/>
          </p:cNvSpPr>
          <p:nvPr>
            <p:ph type="title"/>
          </p:nvPr>
        </p:nvSpPr>
        <p:spPr/>
        <p:txBody>
          <a:bodyPr/>
          <a:lstStyle/>
          <a:p>
            <a:r>
              <a:rPr lang="en-US" dirty="0"/>
              <a:t>Roadmap</a:t>
            </a:r>
          </a:p>
        </p:txBody>
      </p:sp>
      <p:sp>
        <p:nvSpPr>
          <p:cNvPr id="3" name="Content Placeholder 2">
            <a:extLst>
              <a:ext uri="{FF2B5EF4-FFF2-40B4-BE49-F238E27FC236}">
                <a16:creationId xmlns:a16="http://schemas.microsoft.com/office/drawing/2014/main" id="{A936CBA1-95C0-B7DC-8B10-E9E9BD8E2583}"/>
              </a:ext>
            </a:extLst>
          </p:cNvPr>
          <p:cNvSpPr>
            <a:spLocks noGrp="1"/>
          </p:cNvSpPr>
          <p:nvPr>
            <p:ph idx="4294967295"/>
          </p:nvPr>
        </p:nvSpPr>
        <p:spPr>
          <a:xfrm>
            <a:off x="1097280" y="1845734"/>
            <a:ext cx="10058400" cy="4023360"/>
          </a:xfrm>
        </p:spPr>
        <p:txBody>
          <a:bodyPr/>
          <a:lstStyle/>
          <a:p>
            <a:pPr lvl="1">
              <a:lnSpc>
                <a:spcPct val="150000"/>
              </a:lnSpc>
            </a:pPr>
            <a:r>
              <a:rPr lang="en-US" dirty="0">
                <a:latin typeface="+mj-lt"/>
              </a:rPr>
              <a:t> Problem Definition</a:t>
            </a:r>
          </a:p>
          <a:p>
            <a:pPr lvl="1">
              <a:lnSpc>
                <a:spcPct val="150000"/>
              </a:lnSpc>
            </a:pPr>
            <a:r>
              <a:rPr lang="en-US" dirty="0">
                <a:latin typeface="+mj-lt"/>
              </a:rPr>
              <a:t> Literature Gap</a:t>
            </a:r>
          </a:p>
          <a:p>
            <a:pPr lvl="1">
              <a:lnSpc>
                <a:spcPct val="150000"/>
              </a:lnSpc>
            </a:pPr>
            <a:r>
              <a:rPr lang="en-US" dirty="0">
                <a:latin typeface="+mj-lt"/>
              </a:rPr>
              <a:t> Proposed Solution</a:t>
            </a:r>
          </a:p>
          <a:p>
            <a:pPr lvl="1">
              <a:lnSpc>
                <a:spcPct val="150000"/>
              </a:lnSpc>
            </a:pPr>
            <a:r>
              <a:rPr lang="en-US" dirty="0">
                <a:latin typeface="+mj-lt"/>
              </a:rPr>
              <a:t> Methodology &amp; Experiments</a:t>
            </a:r>
          </a:p>
          <a:p>
            <a:pPr lvl="1">
              <a:lnSpc>
                <a:spcPct val="150000"/>
              </a:lnSpc>
            </a:pPr>
            <a:r>
              <a:rPr lang="en-US" dirty="0">
                <a:latin typeface="+mj-lt"/>
              </a:rPr>
              <a:t> Results</a:t>
            </a:r>
          </a:p>
          <a:p>
            <a:pPr lvl="1">
              <a:lnSpc>
                <a:spcPct val="150000"/>
              </a:lnSpc>
            </a:pPr>
            <a:r>
              <a:rPr lang="en-US" dirty="0">
                <a:latin typeface="+mj-lt"/>
              </a:rPr>
              <a:t> Conclusion</a:t>
            </a:r>
          </a:p>
          <a:p>
            <a:pPr lvl="1">
              <a:lnSpc>
                <a:spcPct val="150000"/>
              </a:lnSpc>
            </a:pPr>
            <a:r>
              <a:rPr lang="en-US" dirty="0">
                <a:latin typeface="+mj-lt"/>
              </a:rPr>
              <a:t> Future Work</a:t>
            </a:r>
          </a:p>
        </p:txBody>
      </p:sp>
      <p:sp>
        <p:nvSpPr>
          <p:cNvPr id="4" name="Slide Number Placeholder 3">
            <a:extLst>
              <a:ext uri="{FF2B5EF4-FFF2-40B4-BE49-F238E27FC236}">
                <a16:creationId xmlns:a16="http://schemas.microsoft.com/office/drawing/2014/main" id="{12126643-F429-7389-C306-21666321131B}"/>
              </a:ext>
            </a:extLst>
          </p:cNvPr>
          <p:cNvSpPr>
            <a:spLocks noGrp="1"/>
          </p:cNvSpPr>
          <p:nvPr>
            <p:ph type="sldNum" sz="quarter" idx="12"/>
          </p:nvPr>
        </p:nvSpPr>
        <p:spPr/>
        <p:txBody>
          <a:bodyPr/>
          <a:lstStyle/>
          <a:p>
            <a:fld id="{1370230A-709D-4205-8636-A3280FD27E74}" type="slidenum">
              <a:rPr lang="en-US" smtClean="0"/>
              <a:t>2</a:t>
            </a:fld>
            <a:endParaRPr lang="en-US"/>
          </a:p>
        </p:txBody>
      </p:sp>
      <p:sp>
        <p:nvSpPr>
          <p:cNvPr id="5" name="Rectangle 4">
            <a:extLst>
              <a:ext uri="{FF2B5EF4-FFF2-40B4-BE49-F238E27FC236}">
                <a16:creationId xmlns:a16="http://schemas.microsoft.com/office/drawing/2014/main" id="{4D86D448-2B1B-22BE-7C19-07F89A04F693}"/>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9663580D-781F-D656-801E-2756D72436E3}"/>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9268143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A7B0704-EDF5-87B7-B348-CA9D2B897378}"/>
              </a:ext>
            </a:extLst>
          </p:cNvPr>
          <p:cNvSpPr/>
          <p:nvPr/>
        </p:nvSpPr>
        <p:spPr>
          <a:xfrm rot="5400000">
            <a:off x="2631179" y="-2634243"/>
            <a:ext cx="6857999" cy="12126486"/>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5" name="Rectangle 4">
            <a:extLst>
              <a:ext uri="{FF2B5EF4-FFF2-40B4-BE49-F238E27FC236}">
                <a16:creationId xmlns:a16="http://schemas.microsoft.com/office/drawing/2014/main" id="{345334D6-F56D-FABF-93CE-03569DCDA486}"/>
              </a:ext>
            </a:extLst>
          </p:cNvPr>
          <p:cNvSpPr/>
          <p:nvPr/>
        </p:nvSpPr>
        <p:spPr>
          <a:xfrm rot="5400000">
            <a:off x="8762998"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212DF2D1-B6A8-3377-62C4-B2D7860E7A83}"/>
              </a:ext>
            </a:extLst>
          </p:cNvPr>
          <p:cNvSpPr>
            <a:spLocks noGrp="1"/>
          </p:cNvSpPr>
          <p:nvPr>
            <p:ph type="ctrTitle"/>
          </p:nvPr>
        </p:nvSpPr>
        <p:spPr/>
        <p:txBody>
          <a:bodyPr/>
          <a:lstStyle/>
          <a:p>
            <a:r>
              <a:rPr lang="en-US" dirty="0"/>
              <a:t>Problem Definition</a:t>
            </a:r>
          </a:p>
        </p:txBody>
      </p:sp>
      <p:sp>
        <p:nvSpPr>
          <p:cNvPr id="3" name="Slide Number Placeholder 2">
            <a:extLst>
              <a:ext uri="{FF2B5EF4-FFF2-40B4-BE49-F238E27FC236}">
                <a16:creationId xmlns:a16="http://schemas.microsoft.com/office/drawing/2014/main" id="{6BD49974-80E6-FA83-AF21-F92661F4A079}"/>
              </a:ext>
            </a:extLst>
          </p:cNvPr>
          <p:cNvSpPr>
            <a:spLocks noGrp="1"/>
          </p:cNvSpPr>
          <p:nvPr>
            <p:ph type="sldNum" sz="quarter" idx="12"/>
          </p:nvPr>
        </p:nvSpPr>
        <p:spPr/>
        <p:txBody>
          <a:bodyPr/>
          <a:lstStyle/>
          <a:p>
            <a:fld id="{1370230A-709D-4205-8636-A3280FD27E74}" type="slidenum">
              <a:rPr lang="en-US" smtClean="0"/>
              <a:t>3</a:t>
            </a:fld>
            <a:endParaRPr lang="en-US"/>
          </a:p>
        </p:txBody>
      </p:sp>
      <p:cxnSp>
        <p:nvCxnSpPr>
          <p:cNvPr id="6" name="Straight Connector 5">
            <a:extLst>
              <a:ext uri="{FF2B5EF4-FFF2-40B4-BE49-F238E27FC236}">
                <a16:creationId xmlns:a16="http://schemas.microsoft.com/office/drawing/2014/main" id="{B584379A-D6F8-6135-C1E5-F6DEC4EEEE57}"/>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19256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F5BCB-D930-ABD2-2CFD-38C5F2C3C48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F0589A1-80DC-95C9-78FD-AA360F82516E}"/>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5" name="Rectangle 4">
            <a:extLst>
              <a:ext uri="{FF2B5EF4-FFF2-40B4-BE49-F238E27FC236}">
                <a16:creationId xmlns:a16="http://schemas.microsoft.com/office/drawing/2014/main" id="{9FE629CE-8A37-CF84-0304-7FA565939C47}"/>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3440B8D-00A8-F719-D861-840DB2703888}"/>
              </a:ext>
            </a:extLst>
          </p:cNvPr>
          <p:cNvSpPr>
            <a:spLocks noGrp="1"/>
          </p:cNvSpPr>
          <p:nvPr>
            <p:ph type="title"/>
          </p:nvPr>
        </p:nvSpPr>
        <p:spPr/>
        <p:txBody>
          <a:bodyPr/>
          <a:lstStyle/>
          <a:p>
            <a:r>
              <a:rPr lang="en-US" dirty="0"/>
              <a:t>The Fixed-Universe Assumption</a:t>
            </a:r>
          </a:p>
        </p:txBody>
      </p:sp>
      <p:sp>
        <p:nvSpPr>
          <p:cNvPr id="6" name="Content Placeholder 5">
            <a:extLst>
              <a:ext uri="{FF2B5EF4-FFF2-40B4-BE49-F238E27FC236}">
                <a16:creationId xmlns:a16="http://schemas.microsoft.com/office/drawing/2014/main" id="{A8FA6A92-524D-4141-68E6-3FE618038B42}"/>
              </a:ext>
            </a:extLst>
          </p:cNvPr>
          <p:cNvSpPr>
            <a:spLocks noGrp="1"/>
          </p:cNvSpPr>
          <p:nvPr>
            <p:ph idx="4294967295"/>
          </p:nvPr>
        </p:nvSpPr>
        <p:spPr>
          <a:xfrm>
            <a:off x="1097280" y="1845734"/>
            <a:ext cx="10058400" cy="4023360"/>
          </a:xfrm>
        </p:spPr>
        <p:txBody>
          <a:bodyPr anchor="ctr">
            <a:normAutofit/>
          </a:bodyPr>
          <a:lstStyle/>
          <a:p>
            <a:pPr lvl="1">
              <a:lnSpc>
                <a:spcPct val="150000"/>
              </a:lnSpc>
              <a:buFont typeface="Courier New" panose="02070309020205020404" pitchFamily="49" charset="0"/>
              <a:buChar char="o"/>
            </a:pPr>
            <a:r>
              <a:rPr lang="en-US" sz="2000" dirty="0">
                <a:latin typeface="+mj-lt"/>
              </a:rPr>
              <a:t>Optimization often starts after assets are already chosen</a:t>
            </a:r>
          </a:p>
          <a:p>
            <a:pPr lvl="1">
              <a:lnSpc>
                <a:spcPct val="150000"/>
              </a:lnSpc>
              <a:buFont typeface="Courier New" panose="02070309020205020404" pitchFamily="49" charset="0"/>
              <a:buChar char="o"/>
            </a:pPr>
            <a:r>
              <a:rPr lang="en-US" sz="2000" dirty="0">
                <a:latin typeface="+mj-lt"/>
              </a:rPr>
              <a:t> A weak candidate universe limits even a strong optimizer</a:t>
            </a:r>
          </a:p>
          <a:p>
            <a:pPr lvl="1">
              <a:lnSpc>
                <a:spcPct val="150000"/>
              </a:lnSpc>
              <a:buFont typeface="Courier New" panose="02070309020205020404" pitchFamily="49" charset="0"/>
              <a:buChar char="o"/>
            </a:pPr>
            <a:r>
              <a:rPr lang="en-US" sz="2000" dirty="0">
                <a:latin typeface="+mj-lt"/>
              </a:rPr>
              <a:t> This thesis studies selection before allocation</a:t>
            </a:r>
          </a:p>
        </p:txBody>
      </p:sp>
      <p:sp>
        <p:nvSpPr>
          <p:cNvPr id="3" name="Slide Number Placeholder 2">
            <a:extLst>
              <a:ext uri="{FF2B5EF4-FFF2-40B4-BE49-F238E27FC236}">
                <a16:creationId xmlns:a16="http://schemas.microsoft.com/office/drawing/2014/main" id="{5BAB15C4-2E28-D680-39BD-6D38B5B7D566}"/>
              </a:ext>
            </a:extLst>
          </p:cNvPr>
          <p:cNvSpPr>
            <a:spLocks noGrp="1"/>
          </p:cNvSpPr>
          <p:nvPr>
            <p:ph type="sldNum" sz="quarter" idx="12"/>
          </p:nvPr>
        </p:nvSpPr>
        <p:spPr/>
        <p:txBody>
          <a:bodyPr/>
          <a:lstStyle/>
          <a:p>
            <a:fld id="{1370230A-709D-4205-8636-A3280FD27E74}" type="slidenum">
              <a:rPr lang="en-US" smtClean="0"/>
              <a:t>4</a:t>
            </a:fld>
            <a:endParaRPr lang="en-US"/>
          </a:p>
        </p:txBody>
      </p:sp>
    </p:spTree>
    <p:extLst>
      <p:ext uri="{BB962C8B-B14F-4D97-AF65-F5344CB8AC3E}">
        <p14:creationId xmlns:p14="http://schemas.microsoft.com/office/powerpoint/2010/main" val="291610483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56B0734-ED11-7D3A-50BB-058993FC64E1}"/>
              </a:ext>
            </a:extLst>
          </p:cNvPr>
          <p:cNvSpPr>
            <a:spLocks noGrp="1"/>
          </p:cNvSpPr>
          <p:nvPr>
            <p:ph type="ctrTitle"/>
          </p:nvPr>
        </p:nvSpPr>
        <p:spPr/>
        <p:txBody>
          <a:bodyPr/>
          <a:lstStyle/>
          <a:p>
            <a:endParaRPr lang="en-US" dirty="0"/>
          </a:p>
        </p:txBody>
      </p:sp>
      <p:sp>
        <p:nvSpPr>
          <p:cNvPr id="4" name="Slide Number Placeholder 3">
            <a:extLst>
              <a:ext uri="{FF2B5EF4-FFF2-40B4-BE49-F238E27FC236}">
                <a16:creationId xmlns:a16="http://schemas.microsoft.com/office/drawing/2014/main" id="{669067AE-97DE-7F53-372B-7362F8BB3D26}"/>
              </a:ext>
            </a:extLst>
          </p:cNvPr>
          <p:cNvSpPr>
            <a:spLocks noGrp="1"/>
          </p:cNvSpPr>
          <p:nvPr>
            <p:ph type="sldNum" sz="quarter" idx="12"/>
          </p:nvPr>
        </p:nvSpPr>
        <p:spPr/>
        <p:txBody>
          <a:bodyPr/>
          <a:lstStyle/>
          <a:p>
            <a:fld id="{1370230A-709D-4205-8636-A3280FD27E74}" type="slidenum">
              <a:rPr lang="en-US" smtClean="0"/>
              <a:t>5</a:t>
            </a:fld>
            <a:endParaRPr lang="en-US"/>
          </a:p>
        </p:txBody>
      </p:sp>
      <p:pic>
        <p:nvPicPr>
          <p:cNvPr id="2" name="media1">
            <a:hlinkClick r:id="" action="ppaction://media"/>
            <a:extLst>
              <a:ext uri="{FF2B5EF4-FFF2-40B4-BE49-F238E27FC236}">
                <a16:creationId xmlns:a16="http://schemas.microsoft.com/office/drawing/2014/main" id="{5E6D6AFE-FF48-C915-1A79-13635D81A4FD}"/>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4172687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583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2F457-A928-2382-72CD-582C427C1012}"/>
              </a:ext>
            </a:extLst>
          </p:cNvPr>
          <p:cNvSpPr>
            <a:spLocks noGrp="1"/>
          </p:cNvSpPr>
          <p:nvPr>
            <p:ph type="title"/>
          </p:nvPr>
        </p:nvSpPr>
        <p:spPr/>
        <p:txBody>
          <a:bodyPr/>
          <a:lstStyle/>
          <a:p>
            <a:r>
              <a:rPr lang="en-US" dirty="0"/>
              <a:t>Why Universe Selection Matters</a:t>
            </a:r>
            <a:r>
              <a:rPr lang="en-US" dirty="0">
                <a:latin typeface="+mn-lt"/>
              </a:rPr>
              <a:t>?</a:t>
            </a:r>
          </a:p>
        </p:txBody>
      </p:sp>
      <p:sp>
        <p:nvSpPr>
          <p:cNvPr id="4" name="Slide Number Placeholder 3">
            <a:extLst>
              <a:ext uri="{FF2B5EF4-FFF2-40B4-BE49-F238E27FC236}">
                <a16:creationId xmlns:a16="http://schemas.microsoft.com/office/drawing/2014/main" id="{3B11C668-321F-2554-8860-307B464778AD}"/>
              </a:ext>
            </a:extLst>
          </p:cNvPr>
          <p:cNvSpPr>
            <a:spLocks noGrp="1"/>
          </p:cNvSpPr>
          <p:nvPr>
            <p:ph type="sldNum" sz="quarter" idx="12"/>
          </p:nvPr>
        </p:nvSpPr>
        <p:spPr/>
        <p:txBody>
          <a:bodyPr/>
          <a:lstStyle/>
          <a:p>
            <a:fld id="{1370230A-709D-4205-8636-A3280FD27E74}" type="slidenum">
              <a:rPr lang="en-US" smtClean="0"/>
              <a:t>6</a:t>
            </a:fld>
            <a:endParaRPr lang="en-US"/>
          </a:p>
        </p:txBody>
      </p:sp>
      <p:pic>
        <p:nvPicPr>
          <p:cNvPr id="14" name="Content Placeholder 13" descr="Corrected symmetric Slide 5 diagram">
            <a:extLst>
              <a:ext uri="{FF2B5EF4-FFF2-40B4-BE49-F238E27FC236}">
                <a16:creationId xmlns:a16="http://schemas.microsoft.com/office/drawing/2014/main" id="{F867864D-F498-FB1C-2F6C-F8C734EA41B9}"/>
              </a:ext>
            </a:extLst>
          </p:cNvPr>
          <p:cNvPicPr>
            <a:picLocks noGrp="1" noChangeAspect="1"/>
          </p:cNvPicPr>
          <p:nvPr>
            <p:ph idx="1"/>
          </p:nvPr>
        </p:nvPicPr>
        <p:blipFill>
          <a:blip r:embed="rId3"/>
          <a:srcRect l="6400"/>
          <a:stretch>
            <a:fillRect/>
          </a:stretch>
        </p:blipFill>
        <p:spPr>
          <a:xfrm>
            <a:off x="1388652" y="2841272"/>
            <a:ext cx="9414696" cy="2514600"/>
          </a:xfrm>
          <a:prstGeom prst="rect">
            <a:avLst/>
          </a:prstGeom>
        </p:spPr>
      </p:pic>
    </p:spTree>
    <p:extLst>
      <p:ext uri="{BB962C8B-B14F-4D97-AF65-F5344CB8AC3E}">
        <p14:creationId xmlns:p14="http://schemas.microsoft.com/office/powerpoint/2010/main" val="3967409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5CD4F-1996-FF0F-7194-611C937187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7AF12C-0EFA-BA31-2015-B1A179DA8E75}"/>
              </a:ext>
            </a:extLst>
          </p:cNvPr>
          <p:cNvSpPr>
            <a:spLocks noGrp="1"/>
          </p:cNvSpPr>
          <p:nvPr>
            <p:ph type="title"/>
          </p:nvPr>
        </p:nvSpPr>
        <p:spPr/>
        <p:txBody>
          <a:bodyPr/>
          <a:lstStyle/>
          <a:p>
            <a:r>
              <a:rPr lang="en-US" dirty="0"/>
              <a:t>Scope and Asset Universe</a:t>
            </a:r>
          </a:p>
        </p:txBody>
      </p:sp>
      <p:sp>
        <p:nvSpPr>
          <p:cNvPr id="4" name="Slide Number Placeholder 3">
            <a:extLst>
              <a:ext uri="{FF2B5EF4-FFF2-40B4-BE49-F238E27FC236}">
                <a16:creationId xmlns:a16="http://schemas.microsoft.com/office/drawing/2014/main" id="{4E5D3402-92D7-0DF5-7AF4-66F0387CAE4B}"/>
              </a:ext>
            </a:extLst>
          </p:cNvPr>
          <p:cNvSpPr>
            <a:spLocks noGrp="1"/>
          </p:cNvSpPr>
          <p:nvPr>
            <p:ph type="sldNum" sz="quarter" idx="12"/>
          </p:nvPr>
        </p:nvSpPr>
        <p:spPr/>
        <p:txBody>
          <a:bodyPr/>
          <a:lstStyle/>
          <a:p>
            <a:fld id="{1370230A-709D-4205-8636-A3280FD27E74}" type="slidenum">
              <a:rPr lang="en-US" smtClean="0"/>
              <a:t>7</a:t>
            </a:fld>
            <a:endParaRPr lang="en-US"/>
          </a:p>
        </p:txBody>
      </p:sp>
      <p:pic>
        <p:nvPicPr>
          <p:cNvPr id="6" name="Content Placeholder 5" descr="Updated asset-universe diagram">
            <a:extLst>
              <a:ext uri="{FF2B5EF4-FFF2-40B4-BE49-F238E27FC236}">
                <a16:creationId xmlns:a16="http://schemas.microsoft.com/office/drawing/2014/main" id="{FC1C4CDA-6766-5CED-96BB-A924B4DF1D79}"/>
              </a:ext>
            </a:extLst>
          </p:cNvPr>
          <p:cNvPicPr>
            <a:picLocks noGrp="1" noChangeAspect="1"/>
          </p:cNvPicPr>
          <p:nvPr>
            <p:ph idx="1"/>
          </p:nvPr>
        </p:nvPicPr>
        <p:blipFill>
          <a:blip r:embed="rId3"/>
          <a:stretch>
            <a:fillRect/>
          </a:stretch>
        </p:blipFill>
        <p:spPr>
          <a:xfrm>
            <a:off x="1097280" y="2389299"/>
            <a:ext cx="10058400" cy="3064668"/>
          </a:xfrm>
          <a:prstGeom prst="rect">
            <a:avLst/>
          </a:prstGeom>
        </p:spPr>
      </p:pic>
    </p:spTree>
    <p:extLst>
      <p:ext uri="{BB962C8B-B14F-4D97-AF65-F5344CB8AC3E}">
        <p14:creationId xmlns:p14="http://schemas.microsoft.com/office/powerpoint/2010/main" val="1362153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B3883-9656-3241-C90C-4255FE22C0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286D93-E3D5-9C81-EEFC-59BC15F79965}"/>
              </a:ext>
            </a:extLst>
          </p:cNvPr>
          <p:cNvSpPr>
            <a:spLocks noGrp="1"/>
          </p:cNvSpPr>
          <p:nvPr>
            <p:ph type="title"/>
          </p:nvPr>
        </p:nvSpPr>
        <p:spPr/>
        <p:txBody>
          <a:bodyPr/>
          <a:lstStyle/>
          <a:p>
            <a:r>
              <a:rPr lang="en-US" dirty="0"/>
              <a:t>Research Questions</a:t>
            </a:r>
          </a:p>
        </p:txBody>
      </p:sp>
      <p:sp>
        <p:nvSpPr>
          <p:cNvPr id="4" name="Slide Number Placeholder 3">
            <a:extLst>
              <a:ext uri="{FF2B5EF4-FFF2-40B4-BE49-F238E27FC236}">
                <a16:creationId xmlns:a16="http://schemas.microsoft.com/office/drawing/2014/main" id="{5D930993-A2B0-2C97-4493-93DE16F1DED9}"/>
              </a:ext>
            </a:extLst>
          </p:cNvPr>
          <p:cNvSpPr>
            <a:spLocks noGrp="1"/>
          </p:cNvSpPr>
          <p:nvPr>
            <p:ph type="sldNum" sz="quarter" idx="12"/>
          </p:nvPr>
        </p:nvSpPr>
        <p:spPr/>
        <p:txBody>
          <a:bodyPr/>
          <a:lstStyle/>
          <a:p>
            <a:fld id="{1370230A-709D-4205-8636-A3280FD27E74}" type="slidenum">
              <a:rPr lang="en-US" smtClean="0"/>
              <a:t>8</a:t>
            </a:fld>
            <a:endParaRPr lang="en-US"/>
          </a:p>
        </p:txBody>
      </p:sp>
      <p:sp>
        <p:nvSpPr>
          <p:cNvPr id="3" name="Content Placeholder 2">
            <a:extLst>
              <a:ext uri="{FF2B5EF4-FFF2-40B4-BE49-F238E27FC236}">
                <a16:creationId xmlns:a16="http://schemas.microsoft.com/office/drawing/2014/main" id="{45FFD21A-E082-378B-0D28-F4A4486AF05E}"/>
              </a:ext>
            </a:extLst>
          </p:cNvPr>
          <p:cNvSpPr>
            <a:spLocks noGrp="1"/>
          </p:cNvSpPr>
          <p:nvPr>
            <p:ph idx="13"/>
          </p:nvPr>
        </p:nvSpPr>
        <p:spPr/>
        <p:txBody>
          <a:bodyPr anchor="ctr">
            <a:normAutofit/>
          </a:bodyPr>
          <a:lstStyle/>
          <a:p>
            <a:pPr lvl="1">
              <a:buFont typeface="Courier New" panose="02070309020205020404" pitchFamily="49" charset="0"/>
              <a:buChar char="o"/>
            </a:pPr>
            <a:r>
              <a:rPr lang="en-US" b="1" dirty="0"/>
              <a:t> RQ1</a:t>
            </a:r>
            <a:r>
              <a:rPr lang="en-US" dirty="0"/>
              <a:t>: Can Reinforcement Learning support dynamic risk-based universe selection?</a:t>
            </a:r>
          </a:p>
          <a:p>
            <a:pPr lvl="1">
              <a:buFont typeface="Courier New" panose="02070309020205020404" pitchFamily="49" charset="0"/>
              <a:buChar char="o"/>
            </a:pPr>
            <a:r>
              <a:rPr lang="en-US" b="1" dirty="0"/>
              <a:t> RQ2</a:t>
            </a:r>
            <a:r>
              <a:rPr lang="en-US" dirty="0"/>
              <a:t>: Do selected universes align with investor profiles?</a:t>
            </a:r>
          </a:p>
          <a:p>
            <a:pPr lvl="1">
              <a:buFont typeface="Courier New" panose="02070309020205020404" pitchFamily="49" charset="0"/>
              <a:buChar char="o"/>
            </a:pPr>
            <a:r>
              <a:rPr lang="en-US" b="1" dirty="0"/>
              <a:t> RQ3</a:t>
            </a:r>
            <a:r>
              <a:rPr lang="en-US" dirty="0"/>
              <a:t>: How do selected universes compare with the full active universe?</a:t>
            </a:r>
          </a:p>
        </p:txBody>
      </p:sp>
      <p:sp>
        <p:nvSpPr>
          <p:cNvPr id="5" name="Rectangle 4">
            <a:extLst>
              <a:ext uri="{FF2B5EF4-FFF2-40B4-BE49-F238E27FC236}">
                <a16:creationId xmlns:a16="http://schemas.microsoft.com/office/drawing/2014/main" id="{AEFE07C0-6327-C5FE-353A-522CA90BF5EE}"/>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38BEA077-134C-6EC6-488A-8316DC074C2F}"/>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0471089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954F69F-F97A-2829-AF74-987C51A0A76A}"/>
              </a:ext>
            </a:extLst>
          </p:cNvPr>
          <p:cNvSpPr/>
          <p:nvPr/>
        </p:nvSpPr>
        <p:spPr>
          <a:xfrm rot="5400000">
            <a:off x="2628901" y="-2628895"/>
            <a:ext cx="6857999" cy="1211580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75B43A34-3349-ACC5-202D-A40750936693}"/>
              </a:ext>
            </a:extLst>
          </p:cNvPr>
          <p:cNvSpPr>
            <a:spLocks noGrp="1"/>
          </p:cNvSpPr>
          <p:nvPr>
            <p:ph type="ctrTitle"/>
          </p:nvPr>
        </p:nvSpPr>
        <p:spPr/>
        <p:txBody>
          <a:bodyPr/>
          <a:lstStyle/>
          <a:p>
            <a:r>
              <a:rPr lang="en-US" dirty="0"/>
              <a:t>Literature Review</a:t>
            </a:r>
          </a:p>
        </p:txBody>
      </p:sp>
      <p:sp>
        <p:nvSpPr>
          <p:cNvPr id="3" name="Slide Number Placeholder 2">
            <a:extLst>
              <a:ext uri="{FF2B5EF4-FFF2-40B4-BE49-F238E27FC236}">
                <a16:creationId xmlns:a16="http://schemas.microsoft.com/office/drawing/2014/main" id="{5D815661-D2F5-125C-D9BE-EC63A8CDED55}"/>
              </a:ext>
            </a:extLst>
          </p:cNvPr>
          <p:cNvSpPr>
            <a:spLocks noGrp="1"/>
          </p:cNvSpPr>
          <p:nvPr>
            <p:ph type="sldNum" sz="quarter" idx="12"/>
          </p:nvPr>
        </p:nvSpPr>
        <p:spPr/>
        <p:txBody>
          <a:bodyPr/>
          <a:lstStyle/>
          <a:p>
            <a:fld id="{1370230A-709D-4205-8636-A3280FD27E74}" type="slidenum">
              <a:rPr lang="en-US" smtClean="0"/>
              <a:t>9</a:t>
            </a:fld>
            <a:endParaRPr lang="en-US"/>
          </a:p>
        </p:txBody>
      </p:sp>
      <p:sp>
        <p:nvSpPr>
          <p:cNvPr id="5" name="Rectangle 4">
            <a:extLst>
              <a:ext uri="{FF2B5EF4-FFF2-40B4-BE49-F238E27FC236}">
                <a16:creationId xmlns:a16="http://schemas.microsoft.com/office/drawing/2014/main" id="{F494C1F5-6131-A97E-8363-6CA413EFE2F5}"/>
              </a:ext>
            </a:extLst>
          </p:cNvPr>
          <p:cNvSpPr/>
          <p:nvPr/>
        </p:nvSpPr>
        <p:spPr>
          <a:xfrm rot="5400000">
            <a:off x="8740141"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6" name="Straight Connector 5">
            <a:extLst>
              <a:ext uri="{FF2B5EF4-FFF2-40B4-BE49-F238E27FC236}">
                <a16:creationId xmlns:a16="http://schemas.microsoft.com/office/drawing/2014/main" id="{982D07AB-D23E-B07C-062C-93AEF9272A3D}"/>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43942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E516C-3BB3-AC1E-8BE4-7C61930619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763BA-A15E-4DEA-9656-F507EE236D0E}"/>
              </a:ext>
            </a:extLst>
          </p:cNvPr>
          <p:cNvSpPr>
            <a:spLocks noGrp="1"/>
          </p:cNvSpPr>
          <p:nvPr>
            <p:ph type="title"/>
          </p:nvPr>
        </p:nvSpPr>
        <p:spPr/>
        <p:txBody>
          <a:bodyPr/>
          <a:lstStyle/>
          <a:p>
            <a:r>
              <a:rPr lang="en-US" dirty="0"/>
              <a:t>Classical Allocation Context</a:t>
            </a:r>
          </a:p>
        </p:txBody>
      </p:sp>
      <p:sp>
        <p:nvSpPr>
          <p:cNvPr id="3" name="Slide Number Placeholder 2">
            <a:extLst>
              <a:ext uri="{FF2B5EF4-FFF2-40B4-BE49-F238E27FC236}">
                <a16:creationId xmlns:a16="http://schemas.microsoft.com/office/drawing/2014/main" id="{E26EC045-3BF2-5297-FA07-ED645E0F51B5}"/>
              </a:ext>
            </a:extLst>
          </p:cNvPr>
          <p:cNvSpPr>
            <a:spLocks noGrp="1"/>
          </p:cNvSpPr>
          <p:nvPr>
            <p:ph type="sldNum" sz="quarter" idx="12"/>
          </p:nvPr>
        </p:nvSpPr>
        <p:spPr/>
        <p:txBody>
          <a:bodyPr/>
          <a:lstStyle/>
          <a:p>
            <a:fld id="{1370230A-709D-4205-8636-A3280FD27E74}" type="slidenum">
              <a:rPr lang="en-US" smtClean="0"/>
              <a:t>10</a:t>
            </a:fld>
            <a:endParaRPr lang="en-US"/>
          </a:p>
        </p:txBody>
      </p:sp>
      <p:sp>
        <p:nvSpPr>
          <p:cNvPr id="8" name="Content Placeholder 7">
            <a:extLst>
              <a:ext uri="{FF2B5EF4-FFF2-40B4-BE49-F238E27FC236}">
                <a16:creationId xmlns:a16="http://schemas.microsoft.com/office/drawing/2014/main" id="{79D9BA0D-D97F-BBEE-4689-3975D8D4C360}"/>
              </a:ext>
            </a:extLst>
          </p:cNvPr>
          <p:cNvSpPr>
            <a:spLocks noGrp="1"/>
          </p:cNvSpPr>
          <p:nvPr>
            <p:ph idx="13"/>
          </p:nvPr>
        </p:nvSpPr>
        <p:spPr/>
        <p:txBody>
          <a:bodyPr/>
          <a:lstStyle/>
          <a:p>
            <a:pPr lvl="1">
              <a:buFont typeface="Courier New" panose="02070309020205020404" pitchFamily="49" charset="0"/>
              <a:buChar char="o"/>
            </a:pPr>
            <a:r>
              <a:rPr lang="en-US" dirty="0"/>
              <a:t> Classical methods focus on return-risk weight allocation</a:t>
            </a:r>
          </a:p>
          <a:p>
            <a:pPr lvl="1">
              <a:buFont typeface="Courier New" panose="02070309020205020404" pitchFamily="49" charset="0"/>
              <a:buChar char="o"/>
            </a:pPr>
            <a:r>
              <a:rPr lang="en-US" dirty="0"/>
              <a:t> Markowitz (1952) and MVO assumes the investable universe is already defined</a:t>
            </a:r>
          </a:p>
          <a:p>
            <a:pPr lvl="1">
              <a:buFont typeface="Courier New" panose="02070309020205020404" pitchFamily="49" charset="0"/>
              <a:buChar char="o"/>
            </a:pPr>
            <a:r>
              <a:rPr lang="en-US" dirty="0"/>
              <a:t> This thesis focuses on the step before weighting</a:t>
            </a:r>
          </a:p>
          <a:p>
            <a:pPr lvl="1">
              <a:buFont typeface="Courier New" panose="02070309020205020404" pitchFamily="49" charset="0"/>
              <a:buChar char="o"/>
            </a:pPr>
            <a:endParaRPr lang="en-US" dirty="0"/>
          </a:p>
        </p:txBody>
      </p:sp>
      <p:sp>
        <p:nvSpPr>
          <p:cNvPr id="6" name="Rectangle 5">
            <a:extLst>
              <a:ext uri="{FF2B5EF4-FFF2-40B4-BE49-F238E27FC236}">
                <a16:creationId xmlns:a16="http://schemas.microsoft.com/office/drawing/2014/main" id="{89A801C3-6C71-EB14-9583-5AD61626CECA}"/>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8A89310F-AF02-6ADA-4616-87E89580775C}"/>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8643142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C8336-BDB2-B0C4-7663-AB35E35E6655}"/>
              </a:ext>
            </a:extLst>
          </p:cNvPr>
          <p:cNvSpPr>
            <a:spLocks noGrp="1"/>
          </p:cNvSpPr>
          <p:nvPr>
            <p:ph type="title"/>
          </p:nvPr>
        </p:nvSpPr>
        <p:spPr/>
        <p:txBody>
          <a:bodyPr/>
          <a:lstStyle/>
          <a:p>
            <a:r>
              <a:rPr lang="en-US" dirty="0"/>
              <a:t>AI/ML Preselection Context</a:t>
            </a:r>
          </a:p>
        </p:txBody>
      </p:sp>
      <p:sp>
        <p:nvSpPr>
          <p:cNvPr id="3" name="Content Placeholder 2">
            <a:extLst>
              <a:ext uri="{FF2B5EF4-FFF2-40B4-BE49-F238E27FC236}">
                <a16:creationId xmlns:a16="http://schemas.microsoft.com/office/drawing/2014/main" id="{7BF4D2E2-486D-010D-501E-3AF6A986E33D}"/>
              </a:ext>
            </a:extLst>
          </p:cNvPr>
          <p:cNvSpPr>
            <a:spLocks noGrp="1"/>
          </p:cNvSpPr>
          <p:nvPr>
            <p:ph idx="1"/>
          </p:nvPr>
        </p:nvSpPr>
        <p:spPr/>
        <p:txBody>
          <a:bodyPr/>
          <a:lstStyle/>
          <a:p>
            <a:pPr lvl="1"/>
            <a:r>
              <a:rPr lang="en-US" dirty="0"/>
              <a:t> Existing work filters assets before optimization</a:t>
            </a:r>
          </a:p>
          <a:p>
            <a:pPr lvl="1"/>
            <a:r>
              <a:rPr lang="en-US" dirty="0"/>
              <a:t> Common signals include expected price, expected return, or profitability</a:t>
            </a:r>
          </a:p>
          <a:p>
            <a:pPr lvl="1"/>
            <a:r>
              <a:rPr lang="en-US" dirty="0"/>
              <a:t> Risk metrics usually appear later in weight optimization and evaluation</a:t>
            </a:r>
          </a:p>
        </p:txBody>
      </p:sp>
      <p:sp>
        <p:nvSpPr>
          <p:cNvPr id="4" name="Slide Number Placeholder 3">
            <a:extLst>
              <a:ext uri="{FF2B5EF4-FFF2-40B4-BE49-F238E27FC236}">
                <a16:creationId xmlns:a16="http://schemas.microsoft.com/office/drawing/2014/main" id="{5D49EE0B-590A-B9C2-55A3-AEA481472625}"/>
              </a:ext>
            </a:extLst>
          </p:cNvPr>
          <p:cNvSpPr>
            <a:spLocks noGrp="1"/>
          </p:cNvSpPr>
          <p:nvPr>
            <p:ph type="sldNum" sz="quarter" idx="12"/>
          </p:nvPr>
        </p:nvSpPr>
        <p:spPr/>
        <p:txBody>
          <a:bodyPr/>
          <a:lstStyle/>
          <a:p>
            <a:fld id="{1370230A-709D-4205-8636-A3280FD27E74}" type="slidenum">
              <a:rPr lang="en-US" smtClean="0"/>
              <a:t>11</a:t>
            </a:fld>
            <a:endParaRPr lang="en-US"/>
          </a:p>
        </p:txBody>
      </p:sp>
    </p:spTree>
    <p:extLst>
      <p:ext uri="{BB962C8B-B14F-4D97-AF65-F5344CB8AC3E}">
        <p14:creationId xmlns:p14="http://schemas.microsoft.com/office/powerpoint/2010/main" val="4724111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D0CB3E-AC88-25D4-4775-046A276DB5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CB7D6-5512-3F31-D658-A4663E0F21EF}"/>
              </a:ext>
            </a:extLst>
          </p:cNvPr>
          <p:cNvSpPr>
            <a:spLocks noGrp="1"/>
          </p:cNvSpPr>
          <p:nvPr>
            <p:ph type="title"/>
          </p:nvPr>
        </p:nvSpPr>
        <p:spPr/>
        <p:txBody>
          <a:bodyPr/>
          <a:lstStyle/>
          <a:p>
            <a:r>
              <a:rPr lang="en-US" dirty="0"/>
              <a:t>DEA Preselection Paper</a:t>
            </a:r>
          </a:p>
        </p:txBody>
      </p:sp>
      <p:sp>
        <p:nvSpPr>
          <p:cNvPr id="3" name="Content Placeholder 2">
            <a:extLst>
              <a:ext uri="{FF2B5EF4-FFF2-40B4-BE49-F238E27FC236}">
                <a16:creationId xmlns:a16="http://schemas.microsoft.com/office/drawing/2014/main" id="{EF43604E-AF5A-5770-751A-A99315C50084}"/>
              </a:ext>
            </a:extLst>
          </p:cNvPr>
          <p:cNvSpPr>
            <a:spLocks noGrp="1"/>
          </p:cNvSpPr>
          <p:nvPr>
            <p:ph idx="1"/>
          </p:nvPr>
        </p:nvSpPr>
        <p:spPr/>
        <p:txBody>
          <a:bodyPr/>
          <a:lstStyle/>
          <a:p>
            <a:pPr lvl="1"/>
            <a:r>
              <a:rPr lang="en-US" dirty="0"/>
              <a:t> Atta Mills and </a:t>
            </a:r>
            <a:r>
              <a:rPr lang="en-US" dirty="0" err="1"/>
              <a:t>Anyomi</a:t>
            </a:r>
            <a:r>
              <a:rPr lang="en-US" dirty="0"/>
              <a:t> (2022) use DEA to screen assets before allocation</a:t>
            </a:r>
          </a:p>
          <a:p>
            <a:pPr lvl="1"/>
            <a:r>
              <a:rPr lang="en-US" dirty="0"/>
              <a:t> Standard deviation appears as one of the key input</a:t>
            </a:r>
          </a:p>
          <a:p>
            <a:pPr lvl="1"/>
            <a:r>
              <a:rPr lang="en-US" dirty="0"/>
              <a:t> The method mainly filters by efficiency using a statistical DEA approach rather than AI-based ranking</a:t>
            </a:r>
          </a:p>
        </p:txBody>
      </p:sp>
      <p:sp>
        <p:nvSpPr>
          <p:cNvPr id="4" name="Slide Number Placeholder 3">
            <a:extLst>
              <a:ext uri="{FF2B5EF4-FFF2-40B4-BE49-F238E27FC236}">
                <a16:creationId xmlns:a16="http://schemas.microsoft.com/office/drawing/2014/main" id="{D395395E-7FBC-88A7-D3C8-B9118C922AC2}"/>
              </a:ext>
            </a:extLst>
          </p:cNvPr>
          <p:cNvSpPr>
            <a:spLocks noGrp="1"/>
          </p:cNvSpPr>
          <p:nvPr>
            <p:ph type="sldNum" sz="quarter" idx="12"/>
          </p:nvPr>
        </p:nvSpPr>
        <p:spPr/>
        <p:txBody>
          <a:bodyPr/>
          <a:lstStyle/>
          <a:p>
            <a:fld id="{1370230A-709D-4205-8636-A3280FD27E74}" type="slidenum">
              <a:rPr lang="en-US" smtClean="0"/>
              <a:t>12</a:t>
            </a:fld>
            <a:endParaRPr lang="en-US"/>
          </a:p>
        </p:txBody>
      </p:sp>
    </p:spTree>
    <p:extLst>
      <p:ext uri="{BB962C8B-B14F-4D97-AF65-F5344CB8AC3E}">
        <p14:creationId xmlns:p14="http://schemas.microsoft.com/office/powerpoint/2010/main" val="5694401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1CADA-C7BE-C347-792B-FA8FC8E77EF0}"/>
              </a:ext>
            </a:extLst>
          </p:cNvPr>
          <p:cNvSpPr>
            <a:spLocks noGrp="1"/>
          </p:cNvSpPr>
          <p:nvPr>
            <p:ph type="title"/>
          </p:nvPr>
        </p:nvSpPr>
        <p:spPr/>
        <p:txBody>
          <a:bodyPr/>
          <a:lstStyle/>
          <a:p>
            <a:r>
              <a:rPr lang="en-US" dirty="0"/>
              <a:t>RL And Investor Personalization</a:t>
            </a:r>
          </a:p>
        </p:txBody>
      </p:sp>
      <p:sp>
        <p:nvSpPr>
          <p:cNvPr id="3" name="Slide Number Placeholder 2">
            <a:extLst>
              <a:ext uri="{FF2B5EF4-FFF2-40B4-BE49-F238E27FC236}">
                <a16:creationId xmlns:a16="http://schemas.microsoft.com/office/drawing/2014/main" id="{F4E00637-454E-43AB-3D2C-F538588F7E71}"/>
              </a:ext>
            </a:extLst>
          </p:cNvPr>
          <p:cNvSpPr>
            <a:spLocks noGrp="1"/>
          </p:cNvSpPr>
          <p:nvPr>
            <p:ph type="sldNum" sz="quarter" idx="12"/>
          </p:nvPr>
        </p:nvSpPr>
        <p:spPr/>
        <p:txBody>
          <a:bodyPr/>
          <a:lstStyle/>
          <a:p>
            <a:fld id="{1370230A-709D-4205-8636-A3280FD27E74}" type="slidenum">
              <a:rPr lang="en-US" smtClean="0"/>
              <a:t>13</a:t>
            </a:fld>
            <a:endParaRPr lang="en-US"/>
          </a:p>
        </p:txBody>
      </p:sp>
      <p:sp>
        <p:nvSpPr>
          <p:cNvPr id="4" name="Content Placeholder 3">
            <a:extLst>
              <a:ext uri="{FF2B5EF4-FFF2-40B4-BE49-F238E27FC236}">
                <a16:creationId xmlns:a16="http://schemas.microsoft.com/office/drawing/2014/main" id="{57E95010-BDBB-5A1E-6A5D-B2959DC3ECED}"/>
              </a:ext>
            </a:extLst>
          </p:cNvPr>
          <p:cNvSpPr>
            <a:spLocks noGrp="1"/>
          </p:cNvSpPr>
          <p:nvPr>
            <p:ph idx="13"/>
          </p:nvPr>
        </p:nvSpPr>
        <p:spPr/>
        <p:txBody>
          <a:bodyPr/>
          <a:lstStyle/>
          <a:p>
            <a:pPr lvl="1"/>
            <a:r>
              <a:rPr lang="en-US" dirty="0"/>
              <a:t>Reinforcement Learning in finance work often targets trading or weight allocation</a:t>
            </a:r>
          </a:p>
          <a:p>
            <a:pPr lvl="1"/>
            <a:r>
              <a:rPr lang="en-US" dirty="0"/>
              <a:t>Personalization often maps profiles to advice, products, or final portfolios</a:t>
            </a:r>
          </a:p>
          <a:p>
            <a:pPr lvl="1"/>
            <a:r>
              <a:rPr lang="en-US" dirty="0"/>
              <a:t>This thesis ranks asset risk first, then builds profile-specific universes</a:t>
            </a:r>
          </a:p>
        </p:txBody>
      </p:sp>
      <p:sp>
        <p:nvSpPr>
          <p:cNvPr id="5" name="Rectangle 4">
            <a:extLst>
              <a:ext uri="{FF2B5EF4-FFF2-40B4-BE49-F238E27FC236}">
                <a16:creationId xmlns:a16="http://schemas.microsoft.com/office/drawing/2014/main" id="{4B873A8D-19FE-9310-58DF-959FD4B4DED9}"/>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60C1C680-D2BD-561B-E389-54579D8FB378}"/>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195029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DF90C-A951-0691-FBC2-E98A7C63810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75B7FD1-EB2B-8D64-C8D9-4C33EE02563E}"/>
              </a:ext>
            </a:extLst>
          </p:cNvPr>
          <p:cNvSpPr/>
          <p:nvPr/>
        </p:nvSpPr>
        <p:spPr>
          <a:xfrm rot="5400000">
            <a:off x="2628901" y="-2628895"/>
            <a:ext cx="6857999" cy="1211580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4F75935B-5A05-6E2C-81F5-EBDC6B4828B7}"/>
              </a:ext>
            </a:extLst>
          </p:cNvPr>
          <p:cNvSpPr>
            <a:spLocks noGrp="1"/>
          </p:cNvSpPr>
          <p:nvPr>
            <p:ph type="ctrTitle"/>
          </p:nvPr>
        </p:nvSpPr>
        <p:spPr/>
        <p:txBody>
          <a:bodyPr/>
          <a:lstStyle/>
          <a:p>
            <a:r>
              <a:rPr lang="en-US" dirty="0"/>
              <a:t>Proposed Solution</a:t>
            </a:r>
          </a:p>
        </p:txBody>
      </p:sp>
      <p:sp>
        <p:nvSpPr>
          <p:cNvPr id="3" name="Slide Number Placeholder 2">
            <a:extLst>
              <a:ext uri="{FF2B5EF4-FFF2-40B4-BE49-F238E27FC236}">
                <a16:creationId xmlns:a16="http://schemas.microsoft.com/office/drawing/2014/main" id="{4B443588-3C3A-36FB-62C0-863FB15DE906}"/>
              </a:ext>
            </a:extLst>
          </p:cNvPr>
          <p:cNvSpPr>
            <a:spLocks noGrp="1"/>
          </p:cNvSpPr>
          <p:nvPr>
            <p:ph type="sldNum" sz="quarter" idx="12"/>
          </p:nvPr>
        </p:nvSpPr>
        <p:spPr/>
        <p:txBody>
          <a:bodyPr/>
          <a:lstStyle/>
          <a:p>
            <a:fld id="{1370230A-709D-4205-8636-A3280FD27E74}" type="slidenum">
              <a:rPr lang="en-US" smtClean="0"/>
              <a:t>14</a:t>
            </a:fld>
            <a:endParaRPr lang="en-US"/>
          </a:p>
        </p:txBody>
      </p:sp>
      <p:sp>
        <p:nvSpPr>
          <p:cNvPr id="5" name="Rectangle 4">
            <a:extLst>
              <a:ext uri="{FF2B5EF4-FFF2-40B4-BE49-F238E27FC236}">
                <a16:creationId xmlns:a16="http://schemas.microsoft.com/office/drawing/2014/main" id="{4DA1AA05-F6D4-254E-AF00-42AB7C4A5F2D}"/>
              </a:ext>
            </a:extLst>
          </p:cNvPr>
          <p:cNvSpPr/>
          <p:nvPr/>
        </p:nvSpPr>
        <p:spPr>
          <a:xfrm rot="5400000">
            <a:off x="8740141"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6" name="Straight Connector 5">
            <a:extLst>
              <a:ext uri="{FF2B5EF4-FFF2-40B4-BE49-F238E27FC236}">
                <a16:creationId xmlns:a16="http://schemas.microsoft.com/office/drawing/2014/main" id="{8F54DC39-4C74-DC05-D3CF-9C4871172EB4}"/>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53390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1158C-E302-2546-108C-ECD174D29E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EF1C54-C46A-1D25-8FBA-0CF306884A3A}"/>
              </a:ext>
            </a:extLst>
          </p:cNvPr>
          <p:cNvSpPr>
            <a:spLocks noGrp="1"/>
          </p:cNvSpPr>
          <p:nvPr>
            <p:ph type="title"/>
          </p:nvPr>
        </p:nvSpPr>
        <p:spPr/>
        <p:txBody>
          <a:bodyPr/>
          <a:lstStyle/>
          <a:p>
            <a:r>
              <a:rPr lang="en-US" dirty="0"/>
              <a:t>Contribution In One View</a:t>
            </a:r>
          </a:p>
        </p:txBody>
      </p:sp>
      <p:sp>
        <p:nvSpPr>
          <p:cNvPr id="3" name="Slide Number Placeholder 2">
            <a:extLst>
              <a:ext uri="{FF2B5EF4-FFF2-40B4-BE49-F238E27FC236}">
                <a16:creationId xmlns:a16="http://schemas.microsoft.com/office/drawing/2014/main" id="{586E01E8-02AE-088E-9382-19111A0CF9B9}"/>
              </a:ext>
            </a:extLst>
          </p:cNvPr>
          <p:cNvSpPr>
            <a:spLocks noGrp="1"/>
          </p:cNvSpPr>
          <p:nvPr>
            <p:ph type="sldNum" sz="quarter" idx="12"/>
          </p:nvPr>
        </p:nvSpPr>
        <p:spPr/>
        <p:txBody>
          <a:bodyPr/>
          <a:lstStyle/>
          <a:p>
            <a:fld id="{1370230A-709D-4205-8636-A3280FD27E74}" type="slidenum">
              <a:rPr lang="en-US" smtClean="0"/>
              <a:t>15</a:t>
            </a:fld>
            <a:endParaRPr lang="en-US"/>
          </a:p>
        </p:txBody>
      </p:sp>
      <p:sp>
        <p:nvSpPr>
          <p:cNvPr id="6" name="Rectangle 5">
            <a:extLst>
              <a:ext uri="{FF2B5EF4-FFF2-40B4-BE49-F238E27FC236}">
                <a16:creationId xmlns:a16="http://schemas.microsoft.com/office/drawing/2014/main" id="{BA157206-8884-D3E3-13BD-3402FCFA8666}"/>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B0497631-6588-2597-5A30-1FF293CA3CCB}"/>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Content Placeholder 9" descr="Full-process Slide 14 diagram">
            <a:extLst>
              <a:ext uri="{FF2B5EF4-FFF2-40B4-BE49-F238E27FC236}">
                <a16:creationId xmlns:a16="http://schemas.microsoft.com/office/drawing/2014/main" id="{611E74D5-5F8F-09C1-CAF5-FA5C80DA62E7}"/>
              </a:ext>
            </a:extLst>
          </p:cNvPr>
          <p:cNvPicPr>
            <a:picLocks noGrp="1" noChangeAspect="1"/>
          </p:cNvPicPr>
          <p:nvPr>
            <p:ph idx="13"/>
          </p:nvPr>
        </p:nvPicPr>
        <p:blipFill>
          <a:blip r:embed="rId3"/>
          <a:srcRect t="32531" b="28526"/>
          <a:stretch>
            <a:fillRect/>
          </a:stretch>
        </p:blipFill>
        <p:spPr>
          <a:xfrm>
            <a:off x="721905" y="3074522"/>
            <a:ext cx="11470095" cy="2512617"/>
          </a:xfrm>
          <a:prstGeom prst="rect">
            <a:avLst/>
          </a:prstGeom>
        </p:spPr>
      </p:pic>
    </p:spTree>
    <p:extLst>
      <p:ext uri="{BB962C8B-B14F-4D97-AF65-F5344CB8AC3E}">
        <p14:creationId xmlns:p14="http://schemas.microsoft.com/office/powerpoint/2010/main" val="19905046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129F5-67B0-28FB-C50A-1989D5E838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57487D0-A168-ED44-67B1-3992D9BCBCCD}"/>
              </a:ext>
            </a:extLst>
          </p:cNvPr>
          <p:cNvSpPr/>
          <p:nvPr/>
        </p:nvSpPr>
        <p:spPr>
          <a:xfrm rot="5400000">
            <a:off x="2628901" y="-2628895"/>
            <a:ext cx="6857999" cy="1211580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B8F922A3-87C4-3077-4011-76641AC1D90A}"/>
              </a:ext>
            </a:extLst>
          </p:cNvPr>
          <p:cNvSpPr>
            <a:spLocks noGrp="1"/>
          </p:cNvSpPr>
          <p:nvPr>
            <p:ph type="ctrTitle"/>
          </p:nvPr>
        </p:nvSpPr>
        <p:spPr/>
        <p:txBody>
          <a:bodyPr/>
          <a:lstStyle/>
          <a:p>
            <a:r>
              <a:rPr lang="en-US" dirty="0"/>
              <a:t>Methodology</a:t>
            </a:r>
          </a:p>
        </p:txBody>
      </p:sp>
      <p:sp>
        <p:nvSpPr>
          <p:cNvPr id="3" name="Slide Number Placeholder 2">
            <a:extLst>
              <a:ext uri="{FF2B5EF4-FFF2-40B4-BE49-F238E27FC236}">
                <a16:creationId xmlns:a16="http://schemas.microsoft.com/office/drawing/2014/main" id="{40D1FE97-CC60-5DF2-9F41-2725943CF39C}"/>
              </a:ext>
            </a:extLst>
          </p:cNvPr>
          <p:cNvSpPr>
            <a:spLocks noGrp="1"/>
          </p:cNvSpPr>
          <p:nvPr>
            <p:ph type="sldNum" sz="quarter" idx="12"/>
          </p:nvPr>
        </p:nvSpPr>
        <p:spPr/>
        <p:txBody>
          <a:bodyPr/>
          <a:lstStyle/>
          <a:p>
            <a:fld id="{1370230A-709D-4205-8636-A3280FD27E74}" type="slidenum">
              <a:rPr lang="en-US" smtClean="0"/>
              <a:t>16</a:t>
            </a:fld>
            <a:endParaRPr lang="en-US"/>
          </a:p>
        </p:txBody>
      </p:sp>
      <p:sp>
        <p:nvSpPr>
          <p:cNvPr id="5" name="Rectangle 4">
            <a:extLst>
              <a:ext uri="{FF2B5EF4-FFF2-40B4-BE49-F238E27FC236}">
                <a16:creationId xmlns:a16="http://schemas.microsoft.com/office/drawing/2014/main" id="{BFF943A8-A6F2-FAE8-2520-5649E1143CCB}"/>
              </a:ext>
            </a:extLst>
          </p:cNvPr>
          <p:cNvSpPr/>
          <p:nvPr/>
        </p:nvSpPr>
        <p:spPr>
          <a:xfrm rot="5400000">
            <a:off x="8740141"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6" name="Straight Connector 5">
            <a:extLst>
              <a:ext uri="{FF2B5EF4-FFF2-40B4-BE49-F238E27FC236}">
                <a16:creationId xmlns:a16="http://schemas.microsoft.com/office/drawing/2014/main" id="{B72C199F-06C8-7187-29D7-C10A04AE94E4}"/>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093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2D4-17A0-E99D-DB7C-D449F6817D6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4A9FBAF-6041-310F-9E38-31D7B4C03E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80" y="3073589"/>
            <a:ext cx="10242666" cy="2047052"/>
          </a:xfrm>
          <a:prstGeom prst="rect">
            <a:avLst/>
          </a:prstGeom>
        </p:spPr>
      </p:pic>
      <p:sp>
        <p:nvSpPr>
          <p:cNvPr id="2" name="Title 1">
            <a:extLst>
              <a:ext uri="{FF2B5EF4-FFF2-40B4-BE49-F238E27FC236}">
                <a16:creationId xmlns:a16="http://schemas.microsoft.com/office/drawing/2014/main" id="{80FD2F02-E00A-3898-6645-E5466681B69E}"/>
              </a:ext>
            </a:extLst>
          </p:cNvPr>
          <p:cNvSpPr>
            <a:spLocks noGrp="1"/>
          </p:cNvSpPr>
          <p:nvPr>
            <p:ph type="title"/>
          </p:nvPr>
        </p:nvSpPr>
        <p:spPr/>
        <p:txBody>
          <a:bodyPr/>
          <a:lstStyle/>
          <a:p>
            <a:r>
              <a:rPr lang="en-US" dirty="0"/>
              <a:t>Chronological Split Design</a:t>
            </a:r>
          </a:p>
        </p:txBody>
      </p:sp>
      <p:sp>
        <p:nvSpPr>
          <p:cNvPr id="4" name="Slide Number Placeholder 3">
            <a:extLst>
              <a:ext uri="{FF2B5EF4-FFF2-40B4-BE49-F238E27FC236}">
                <a16:creationId xmlns:a16="http://schemas.microsoft.com/office/drawing/2014/main" id="{5342CA1E-FA32-A082-7F24-4332D587C1A7}"/>
              </a:ext>
            </a:extLst>
          </p:cNvPr>
          <p:cNvSpPr>
            <a:spLocks noGrp="1"/>
          </p:cNvSpPr>
          <p:nvPr>
            <p:ph type="sldNum" sz="quarter" idx="12"/>
          </p:nvPr>
        </p:nvSpPr>
        <p:spPr/>
        <p:txBody>
          <a:bodyPr/>
          <a:lstStyle/>
          <a:p>
            <a:fld id="{1370230A-709D-4205-8636-A3280FD27E74}" type="slidenum">
              <a:rPr lang="en-US" smtClean="0"/>
              <a:t>17</a:t>
            </a:fld>
            <a:endParaRPr lang="en-US"/>
          </a:p>
        </p:txBody>
      </p:sp>
      <p:sp>
        <p:nvSpPr>
          <p:cNvPr id="6" name="Rectangle 5">
            <a:extLst>
              <a:ext uri="{FF2B5EF4-FFF2-40B4-BE49-F238E27FC236}">
                <a16:creationId xmlns:a16="http://schemas.microsoft.com/office/drawing/2014/main" id="{69CB8845-E940-9541-F809-48774DE91E44}"/>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DF84CC5D-13CA-9480-8088-B05259C442A0}"/>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271987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92B9F-568D-4108-A795-4B51DEE9EF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AC1187-4436-4698-AA1D-93E64229AA0F}"/>
              </a:ext>
            </a:extLst>
          </p:cNvPr>
          <p:cNvSpPr>
            <a:spLocks noGrp="1"/>
          </p:cNvSpPr>
          <p:nvPr>
            <p:ph type="title"/>
          </p:nvPr>
        </p:nvSpPr>
        <p:spPr/>
        <p:txBody>
          <a:bodyPr/>
          <a:lstStyle/>
          <a:p>
            <a:r>
              <a:rPr lang="en-US" dirty="0"/>
              <a:t>Raw Data Engineering</a:t>
            </a:r>
            <a:endParaRPr lang="en-US" dirty="0">
              <a:latin typeface="+mn-lt"/>
            </a:endParaRPr>
          </a:p>
        </p:txBody>
      </p:sp>
      <p:sp>
        <p:nvSpPr>
          <p:cNvPr id="4" name="Slide Number Placeholder 3">
            <a:extLst>
              <a:ext uri="{FF2B5EF4-FFF2-40B4-BE49-F238E27FC236}">
                <a16:creationId xmlns:a16="http://schemas.microsoft.com/office/drawing/2014/main" id="{57C2DA1D-4A1A-613C-6B62-8E5670041A6D}"/>
              </a:ext>
            </a:extLst>
          </p:cNvPr>
          <p:cNvSpPr>
            <a:spLocks noGrp="1"/>
          </p:cNvSpPr>
          <p:nvPr>
            <p:ph type="sldNum" sz="quarter" idx="12"/>
          </p:nvPr>
        </p:nvSpPr>
        <p:spPr/>
        <p:txBody>
          <a:bodyPr/>
          <a:lstStyle/>
          <a:p>
            <a:fld id="{1370230A-709D-4205-8636-A3280FD27E74}" type="slidenum">
              <a:rPr lang="en-US" smtClean="0"/>
              <a:t>18</a:t>
            </a:fld>
            <a:endParaRPr lang="en-US"/>
          </a:p>
        </p:txBody>
      </p:sp>
      <p:sp>
        <p:nvSpPr>
          <p:cNvPr id="3" name="Content Placeholder 2">
            <a:extLst>
              <a:ext uri="{FF2B5EF4-FFF2-40B4-BE49-F238E27FC236}">
                <a16:creationId xmlns:a16="http://schemas.microsoft.com/office/drawing/2014/main" id="{34C42339-47A2-6A1C-57B0-7664EAC4A9CD}"/>
              </a:ext>
            </a:extLst>
          </p:cNvPr>
          <p:cNvSpPr>
            <a:spLocks noGrp="1"/>
          </p:cNvSpPr>
          <p:nvPr>
            <p:ph idx="13"/>
          </p:nvPr>
        </p:nvSpPr>
        <p:spPr/>
        <p:txBody>
          <a:bodyPr/>
          <a:lstStyle/>
          <a:p>
            <a:pPr lvl="1"/>
            <a:r>
              <a:rPr lang="en-US" dirty="0"/>
              <a:t> Inputs include date, OHLC fields, and volume</a:t>
            </a:r>
          </a:p>
          <a:p>
            <a:pPr lvl="1"/>
            <a:r>
              <a:rPr lang="en-US" dirty="0"/>
              <a:t> T-bill and bond yield quotes are converted into price proxies</a:t>
            </a:r>
          </a:p>
          <a:p>
            <a:pPr lvl="1"/>
            <a:r>
              <a:rPr lang="en-US" dirty="0"/>
              <a:t> USD/EGP and CPI add macro market context</a:t>
            </a:r>
          </a:p>
        </p:txBody>
      </p:sp>
      <p:sp>
        <p:nvSpPr>
          <p:cNvPr id="5" name="Rectangle 4">
            <a:extLst>
              <a:ext uri="{FF2B5EF4-FFF2-40B4-BE49-F238E27FC236}">
                <a16:creationId xmlns:a16="http://schemas.microsoft.com/office/drawing/2014/main" id="{A3643664-BA6E-5CE3-8859-61733F886F39}"/>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C18B0CB0-B963-85F1-72E3-21EE13FC1AD4}"/>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71818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6813D-05AD-3715-88CA-7E1D30E8A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669A28-3ABA-4DB9-9ED2-E46137373FDF}"/>
              </a:ext>
            </a:extLst>
          </p:cNvPr>
          <p:cNvSpPr>
            <a:spLocks noGrp="1"/>
          </p:cNvSpPr>
          <p:nvPr>
            <p:ph type="title"/>
          </p:nvPr>
        </p:nvSpPr>
        <p:spPr/>
        <p:txBody>
          <a:bodyPr/>
          <a:lstStyle/>
          <a:p>
            <a:r>
              <a:rPr lang="en-US" dirty="0"/>
              <a:t>Point-In-Time Monthly Panel</a:t>
            </a:r>
            <a:endParaRPr lang="en-US" dirty="0">
              <a:latin typeface="+mn-lt"/>
            </a:endParaRPr>
          </a:p>
        </p:txBody>
      </p:sp>
      <p:sp>
        <p:nvSpPr>
          <p:cNvPr id="4" name="Slide Number Placeholder 3">
            <a:extLst>
              <a:ext uri="{FF2B5EF4-FFF2-40B4-BE49-F238E27FC236}">
                <a16:creationId xmlns:a16="http://schemas.microsoft.com/office/drawing/2014/main" id="{D3EDE9B1-4497-D6D4-00D3-C4266EEA3E29}"/>
              </a:ext>
            </a:extLst>
          </p:cNvPr>
          <p:cNvSpPr>
            <a:spLocks noGrp="1"/>
          </p:cNvSpPr>
          <p:nvPr>
            <p:ph type="sldNum" sz="quarter" idx="12"/>
          </p:nvPr>
        </p:nvSpPr>
        <p:spPr/>
        <p:txBody>
          <a:bodyPr/>
          <a:lstStyle/>
          <a:p>
            <a:fld id="{1370230A-709D-4205-8636-A3280FD27E74}" type="slidenum">
              <a:rPr lang="en-US" smtClean="0"/>
              <a:t>19</a:t>
            </a:fld>
            <a:endParaRPr lang="en-US"/>
          </a:p>
        </p:txBody>
      </p:sp>
      <p:sp>
        <p:nvSpPr>
          <p:cNvPr id="3" name="Content Placeholder 2">
            <a:extLst>
              <a:ext uri="{FF2B5EF4-FFF2-40B4-BE49-F238E27FC236}">
                <a16:creationId xmlns:a16="http://schemas.microsoft.com/office/drawing/2014/main" id="{C444C8F2-049A-9C9F-A348-7ED345E4E098}"/>
              </a:ext>
            </a:extLst>
          </p:cNvPr>
          <p:cNvSpPr>
            <a:spLocks noGrp="1"/>
          </p:cNvSpPr>
          <p:nvPr>
            <p:ph idx="13"/>
          </p:nvPr>
        </p:nvSpPr>
        <p:spPr/>
        <p:txBody>
          <a:bodyPr/>
          <a:lstStyle/>
          <a:p>
            <a:pPr lvl="1"/>
            <a:r>
              <a:rPr lang="en-US" dirty="0"/>
              <a:t> Features use only information available up to that month</a:t>
            </a:r>
          </a:p>
          <a:p>
            <a:pPr lvl="1"/>
            <a:r>
              <a:rPr lang="en-US" dirty="0"/>
              <a:t> Assets are not backfilled before they existed</a:t>
            </a:r>
          </a:p>
          <a:p>
            <a:pPr lvl="1"/>
            <a:r>
              <a:rPr lang="en-US" dirty="0"/>
              <a:t> Asset identity stays metadata and is excluded from model inputs</a:t>
            </a:r>
          </a:p>
        </p:txBody>
      </p:sp>
      <p:sp>
        <p:nvSpPr>
          <p:cNvPr id="5" name="Rectangle 4">
            <a:extLst>
              <a:ext uri="{FF2B5EF4-FFF2-40B4-BE49-F238E27FC236}">
                <a16:creationId xmlns:a16="http://schemas.microsoft.com/office/drawing/2014/main" id="{03D6536C-7EF9-4329-5023-9232136D8F93}"/>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C3D776FC-62FE-D243-E73B-8B7851962D13}"/>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75010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1258E-1227-06C4-9B4F-00177BE0B9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57E39C-D42E-9F32-BE24-039AA9992D5D}"/>
              </a:ext>
            </a:extLst>
          </p:cNvPr>
          <p:cNvSpPr>
            <a:spLocks noGrp="1"/>
          </p:cNvSpPr>
          <p:nvPr>
            <p:ph type="title"/>
          </p:nvPr>
        </p:nvSpPr>
        <p:spPr/>
        <p:txBody>
          <a:bodyPr/>
          <a:lstStyle/>
          <a:p>
            <a:r>
              <a:rPr lang="en-US" dirty="0"/>
              <a:t>Feature Families</a:t>
            </a:r>
            <a:endParaRPr lang="en-US" dirty="0">
              <a:latin typeface="+mn-lt"/>
            </a:endParaRPr>
          </a:p>
        </p:txBody>
      </p:sp>
      <p:sp>
        <p:nvSpPr>
          <p:cNvPr id="4" name="Slide Number Placeholder 3">
            <a:extLst>
              <a:ext uri="{FF2B5EF4-FFF2-40B4-BE49-F238E27FC236}">
                <a16:creationId xmlns:a16="http://schemas.microsoft.com/office/drawing/2014/main" id="{DEDF8538-4FEE-CBC3-C41F-55FCFDA20ED3}"/>
              </a:ext>
            </a:extLst>
          </p:cNvPr>
          <p:cNvSpPr>
            <a:spLocks noGrp="1"/>
          </p:cNvSpPr>
          <p:nvPr>
            <p:ph type="sldNum" sz="quarter" idx="12"/>
          </p:nvPr>
        </p:nvSpPr>
        <p:spPr/>
        <p:txBody>
          <a:bodyPr/>
          <a:lstStyle/>
          <a:p>
            <a:fld id="{1370230A-709D-4205-8636-A3280FD27E74}" type="slidenum">
              <a:rPr lang="en-US" smtClean="0"/>
              <a:t>20</a:t>
            </a:fld>
            <a:endParaRPr lang="en-US"/>
          </a:p>
        </p:txBody>
      </p:sp>
      <p:sp>
        <p:nvSpPr>
          <p:cNvPr id="5" name="Rectangle 4">
            <a:extLst>
              <a:ext uri="{FF2B5EF4-FFF2-40B4-BE49-F238E27FC236}">
                <a16:creationId xmlns:a16="http://schemas.microsoft.com/office/drawing/2014/main" id="{28143D78-1A14-9D4F-BED6-82B7C45E7E39}"/>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E6702C11-CDF0-A556-3B95-72D02E0FCE10}"/>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4" name="Picture 13">
            <a:extLst>
              <a:ext uri="{FF2B5EF4-FFF2-40B4-BE49-F238E27FC236}">
                <a16:creationId xmlns:a16="http://schemas.microsoft.com/office/drawing/2014/main" id="{63F43630-6FE8-F9FC-7250-44E11B8D77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8710" y="2609105"/>
            <a:ext cx="9756970" cy="2978935"/>
          </a:xfrm>
          <a:prstGeom prst="rect">
            <a:avLst/>
          </a:prstGeom>
        </p:spPr>
      </p:pic>
    </p:spTree>
    <p:extLst>
      <p:ext uri="{BB962C8B-B14F-4D97-AF65-F5344CB8AC3E}">
        <p14:creationId xmlns:p14="http://schemas.microsoft.com/office/powerpoint/2010/main" val="1158525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9802E-C1FF-91D3-B725-666019C17FDA}"/>
              </a:ext>
            </a:extLst>
          </p:cNvPr>
          <p:cNvSpPr>
            <a:spLocks noGrp="1"/>
          </p:cNvSpPr>
          <p:nvPr>
            <p:ph type="title"/>
          </p:nvPr>
        </p:nvSpPr>
        <p:spPr/>
        <p:txBody>
          <a:bodyPr/>
          <a:lstStyle/>
          <a:p>
            <a:r>
              <a:rPr lang="en-US" dirty="0"/>
              <a:t>Realized Risk Target</a:t>
            </a:r>
          </a:p>
        </p:txBody>
      </p:sp>
      <p:sp>
        <p:nvSpPr>
          <p:cNvPr id="4" name="Slide Number Placeholder 3">
            <a:extLst>
              <a:ext uri="{FF2B5EF4-FFF2-40B4-BE49-F238E27FC236}">
                <a16:creationId xmlns:a16="http://schemas.microsoft.com/office/drawing/2014/main" id="{737A1787-40A5-4F78-95F6-78D852F5AFAE}"/>
              </a:ext>
            </a:extLst>
          </p:cNvPr>
          <p:cNvSpPr>
            <a:spLocks noGrp="1"/>
          </p:cNvSpPr>
          <p:nvPr>
            <p:ph type="sldNum" sz="quarter" idx="12"/>
          </p:nvPr>
        </p:nvSpPr>
        <p:spPr/>
        <p:txBody>
          <a:bodyPr/>
          <a:lstStyle/>
          <a:p>
            <a:fld id="{1370230A-709D-4205-8636-A3280FD27E74}" type="slidenum">
              <a:rPr lang="en-US" smtClean="0"/>
              <a:t>21</a:t>
            </a:fld>
            <a:endParaRPr lang="en-US"/>
          </a:p>
        </p:txBody>
      </p:sp>
      <p:pic>
        <p:nvPicPr>
          <p:cNvPr id="10" name="Content Placeholder 9">
            <a:extLst>
              <a:ext uri="{FF2B5EF4-FFF2-40B4-BE49-F238E27FC236}">
                <a16:creationId xmlns:a16="http://schemas.microsoft.com/office/drawing/2014/main" id="{A39A3DAD-EA03-7780-9B15-5049C26D2366}"/>
              </a:ext>
            </a:extLst>
          </p:cNvPr>
          <p:cNvPicPr>
            <a:picLocks noGrp="1" noChangeAspect="1"/>
          </p:cNvPicPr>
          <p:nvPr>
            <p:ph idx="1"/>
          </p:nvPr>
        </p:nvPicPr>
        <p:blipFill>
          <a:blip r:embed="rId3"/>
          <a:stretch>
            <a:fillRect/>
          </a:stretch>
        </p:blipFill>
        <p:spPr>
          <a:xfrm>
            <a:off x="1096963" y="2452482"/>
            <a:ext cx="10058400" cy="2920015"/>
          </a:xfrm>
          <a:prstGeom prst="rect">
            <a:avLst/>
          </a:prstGeom>
        </p:spPr>
      </p:pic>
    </p:spTree>
    <p:extLst>
      <p:ext uri="{BB962C8B-B14F-4D97-AF65-F5344CB8AC3E}">
        <p14:creationId xmlns:p14="http://schemas.microsoft.com/office/powerpoint/2010/main" val="1555780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AB91-1766-0D38-E3B1-03FF4D238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E587EB-AC97-6315-5ED3-A84938D89782}"/>
              </a:ext>
            </a:extLst>
          </p:cNvPr>
          <p:cNvSpPr>
            <a:spLocks noGrp="1"/>
          </p:cNvSpPr>
          <p:nvPr>
            <p:ph type="title"/>
          </p:nvPr>
        </p:nvSpPr>
        <p:spPr/>
        <p:txBody>
          <a:bodyPr/>
          <a:lstStyle/>
          <a:p>
            <a:r>
              <a:rPr lang="en-US" dirty="0"/>
              <a:t>What Is Reinforcement Learning</a:t>
            </a:r>
            <a:endParaRPr lang="en-US" dirty="0">
              <a:latin typeface="+mn-lt"/>
            </a:endParaRPr>
          </a:p>
        </p:txBody>
      </p:sp>
      <p:sp>
        <p:nvSpPr>
          <p:cNvPr id="4" name="Slide Number Placeholder 3">
            <a:extLst>
              <a:ext uri="{FF2B5EF4-FFF2-40B4-BE49-F238E27FC236}">
                <a16:creationId xmlns:a16="http://schemas.microsoft.com/office/drawing/2014/main" id="{15E0DC38-C0E1-9715-627D-E55A6F93C796}"/>
              </a:ext>
            </a:extLst>
          </p:cNvPr>
          <p:cNvSpPr>
            <a:spLocks noGrp="1"/>
          </p:cNvSpPr>
          <p:nvPr>
            <p:ph type="sldNum" sz="quarter" idx="12"/>
          </p:nvPr>
        </p:nvSpPr>
        <p:spPr/>
        <p:txBody>
          <a:bodyPr/>
          <a:lstStyle/>
          <a:p>
            <a:fld id="{1370230A-709D-4205-8636-A3280FD27E74}" type="slidenum">
              <a:rPr lang="en-US" smtClean="0"/>
              <a:t>22</a:t>
            </a:fld>
            <a:endParaRPr lang="en-US"/>
          </a:p>
        </p:txBody>
      </p:sp>
      <p:sp>
        <p:nvSpPr>
          <p:cNvPr id="5" name="Rectangle 4">
            <a:extLst>
              <a:ext uri="{FF2B5EF4-FFF2-40B4-BE49-F238E27FC236}">
                <a16:creationId xmlns:a16="http://schemas.microsoft.com/office/drawing/2014/main" id="{E237CFD6-78D1-DE23-8C16-7EADA6883C6F}"/>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6DF58F2A-AC7F-328D-94B0-F2B466BB2609}"/>
              </a:ext>
            </a:extLst>
          </p:cNvPr>
          <p:cNvSpPr/>
          <p:nvPr/>
        </p:nvSpPr>
        <p:spPr>
          <a:xfrm rot="5400000">
            <a:off x="-3108962" y="3406141"/>
            <a:ext cx="6858002" cy="45719"/>
          </a:xfrm>
          <a:prstGeom prst="rect">
            <a:avLst/>
          </a:prstGeom>
          <a:solidFill>
            <a:srgbClr val="00F70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descr="General RL diagram">
            <a:extLst>
              <a:ext uri="{FF2B5EF4-FFF2-40B4-BE49-F238E27FC236}">
                <a16:creationId xmlns:a16="http://schemas.microsoft.com/office/drawing/2014/main" id="{22C6B923-68B6-40FE-F214-3400A86EF613}"/>
              </a:ext>
            </a:extLst>
          </p:cNvPr>
          <p:cNvPicPr>
            <a:picLocks noChangeAspect="1"/>
          </p:cNvPicPr>
          <p:nvPr/>
        </p:nvPicPr>
        <p:blipFill>
          <a:blip r:embed="rId3"/>
          <a:stretch>
            <a:fillRect/>
          </a:stretch>
        </p:blipFill>
        <p:spPr>
          <a:xfrm>
            <a:off x="1234439" y="2864641"/>
            <a:ext cx="9921241" cy="1784649"/>
          </a:xfrm>
          <a:prstGeom prst="rect">
            <a:avLst/>
          </a:prstGeom>
        </p:spPr>
      </p:pic>
    </p:spTree>
    <p:extLst>
      <p:ext uri="{BB962C8B-B14F-4D97-AF65-F5344CB8AC3E}">
        <p14:creationId xmlns:p14="http://schemas.microsoft.com/office/powerpoint/2010/main" val="761430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1D5FB9-655D-7578-789D-E82EEB2E37B1}"/>
            </a:ext>
          </a:extLst>
        </p:cNvPr>
        <p:cNvGrpSpPr/>
        <p:nvPr/>
      </p:nvGrpSpPr>
      <p:grpSpPr>
        <a:xfrm>
          <a:off x="0" y="0"/>
          <a:ext cx="0" cy="0"/>
          <a:chOff x="0" y="0"/>
          <a:chExt cx="0" cy="0"/>
        </a:xfrm>
      </p:grpSpPr>
      <p:pic>
        <p:nvPicPr>
          <p:cNvPr id="13" name="Picture 12" descr="Thesis RL diagram">
            <a:extLst>
              <a:ext uri="{FF2B5EF4-FFF2-40B4-BE49-F238E27FC236}">
                <a16:creationId xmlns:a16="http://schemas.microsoft.com/office/drawing/2014/main" id="{0FB4D600-BC82-EC4B-4373-F5E4938368BD}"/>
              </a:ext>
            </a:extLst>
          </p:cNvPr>
          <p:cNvPicPr>
            <a:picLocks noChangeAspect="1"/>
          </p:cNvPicPr>
          <p:nvPr/>
        </p:nvPicPr>
        <p:blipFill>
          <a:blip r:embed="rId3"/>
          <a:stretch>
            <a:fillRect/>
          </a:stretch>
        </p:blipFill>
        <p:spPr>
          <a:xfrm>
            <a:off x="1097280" y="2835813"/>
            <a:ext cx="10237803" cy="1952325"/>
          </a:xfrm>
          <a:prstGeom prst="rect">
            <a:avLst/>
          </a:prstGeom>
        </p:spPr>
      </p:pic>
      <p:sp>
        <p:nvSpPr>
          <p:cNvPr id="2" name="Title 1">
            <a:extLst>
              <a:ext uri="{FF2B5EF4-FFF2-40B4-BE49-F238E27FC236}">
                <a16:creationId xmlns:a16="http://schemas.microsoft.com/office/drawing/2014/main" id="{B2A5FB28-19DF-57DB-A3EA-6D0B7CCEDA6A}"/>
              </a:ext>
            </a:extLst>
          </p:cNvPr>
          <p:cNvSpPr>
            <a:spLocks noGrp="1"/>
          </p:cNvSpPr>
          <p:nvPr>
            <p:ph type="title"/>
          </p:nvPr>
        </p:nvSpPr>
        <p:spPr/>
        <p:txBody>
          <a:bodyPr/>
          <a:lstStyle/>
          <a:p>
            <a:r>
              <a:rPr lang="en-US" dirty="0"/>
              <a:t>Reinforcement Learning</a:t>
            </a:r>
            <a:endParaRPr lang="en-US" dirty="0">
              <a:latin typeface="+mn-lt"/>
            </a:endParaRPr>
          </a:p>
        </p:txBody>
      </p:sp>
      <p:sp>
        <p:nvSpPr>
          <p:cNvPr id="4" name="Slide Number Placeholder 3">
            <a:extLst>
              <a:ext uri="{FF2B5EF4-FFF2-40B4-BE49-F238E27FC236}">
                <a16:creationId xmlns:a16="http://schemas.microsoft.com/office/drawing/2014/main" id="{E2F6D4B7-F67A-E1BC-6735-9D17D83A3E5D}"/>
              </a:ext>
            </a:extLst>
          </p:cNvPr>
          <p:cNvSpPr>
            <a:spLocks noGrp="1"/>
          </p:cNvSpPr>
          <p:nvPr>
            <p:ph type="sldNum" sz="quarter" idx="12"/>
          </p:nvPr>
        </p:nvSpPr>
        <p:spPr/>
        <p:txBody>
          <a:bodyPr/>
          <a:lstStyle/>
          <a:p>
            <a:fld id="{1370230A-709D-4205-8636-A3280FD27E74}" type="slidenum">
              <a:rPr lang="en-US" smtClean="0"/>
              <a:t>23</a:t>
            </a:fld>
            <a:endParaRPr lang="en-US"/>
          </a:p>
        </p:txBody>
      </p:sp>
      <p:sp>
        <p:nvSpPr>
          <p:cNvPr id="5" name="Rectangle 4">
            <a:extLst>
              <a:ext uri="{FF2B5EF4-FFF2-40B4-BE49-F238E27FC236}">
                <a16:creationId xmlns:a16="http://schemas.microsoft.com/office/drawing/2014/main" id="{3F06CCF6-D01E-BD39-3E51-D3438CA5B5D6}"/>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DDE1FA32-628A-6E21-DB51-0D1321653AF7}"/>
              </a:ext>
            </a:extLst>
          </p:cNvPr>
          <p:cNvSpPr/>
          <p:nvPr/>
        </p:nvSpPr>
        <p:spPr>
          <a:xfrm rot="5400000">
            <a:off x="-3108962" y="3406141"/>
            <a:ext cx="6858002" cy="45719"/>
          </a:xfrm>
          <a:prstGeom prst="rect">
            <a:avLst/>
          </a:prstGeom>
          <a:solidFill>
            <a:srgbClr val="00F70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612635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66A58-58B5-032E-1FD1-1C4C583FCFEE}"/>
              </a:ext>
            </a:extLst>
          </p:cNvPr>
          <p:cNvSpPr>
            <a:spLocks noGrp="1"/>
          </p:cNvSpPr>
          <p:nvPr>
            <p:ph type="title"/>
          </p:nvPr>
        </p:nvSpPr>
        <p:spPr/>
        <p:txBody>
          <a:bodyPr/>
          <a:lstStyle/>
          <a:p>
            <a:r>
              <a:rPr lang="en-US" dirty="0"/>
              <a:t>Why PPO</a:t>
            </a:r>
            <a:endParaRPr lang="en-US" dirty="0">
              <a:latin typeface="+mn-lt"/>
            </a:endParaRPr>
          </a:p>
        </p:txBody>
      </p:sp>
      <p:sp>
        <p:nvSpPr>
          <p:cNvPr id="3" name="Content Placeholder 2">
            <a:extLst>
              <a:ext uri="{FF2B5EF4-FFF2-40B4-BE49-F238E27FC236}">
                <a16:creationId xmlns:a16="http://schemas.microsoft.com/office/drawing/2014/main" id="{0631F3C8-AD8A-BA5D-390D-DDBF7EA5B29F}"/>
              </a:ext>
            </a:extLst>
          </p:cNvPr>
          <p:cNvSpPr>
            <a:spLocks noGrp="1"/>
          </p:cNvSpPr>
          <p:nvPr>
            <p:ph idx="1"/>
          </p:nvPr>
        </p:nvSpPr>
        <p:spPr/>
        <p:txBody>
          <a:bodyPr/>
          <a:lstStyle/>
          <a:p>
            <a:pPr>
              <a:buFont typeface="Courier New" panose="02070309020205020404" pitchFamily="49" charset="0"/>
              <a:buChar char="o"/>
            </a:pPr>
            <a:r>
              <a:rPr lang="en-US" dirty="0"/>
              <a:t> Clipping limits unstable policy jumps</a:t>
            </a:r>
          </a:p>
          <a:p>
            <a:pPr>
              <a:buFont typeface="Courier New" panose="02070309020205020404" pitchFamily="49" charset="0"/>
              <a:buChar char="o"/>
            </a:pPr>
            <a:r>
              <a:rPr lang="en-US" dirty="0"/>
              <a:t> Actor-critic structure stabilizes learning</a:t>
            </a:r>
          </a:p>
          <a:p>
            <a:pPr>
              <a:buFont typeface="Courier New" panose="02070309020205020404" pitchFamily="49" charset="0"/>
              <a:buChar char="o"/>
            </a:pPr>
            <a:r>
              <a:rPr lang="en-US" dirty="0"/>
              <a:t> Suitable for month-level reward feedback</a:t>
            </a:r>
          </a:p>
        </p:txBody>
      </p:sp>
      <p:sp>
        <p:nvSpPr>
          <p:cNvPr id="4" name="Slide Number Placeholder 3">
            <a:extLst>
              <a:ext uri="{FF2B5EF4-FFF2-40B4-BE49-F238E27FC236}">
                <a16:creationId xmlns:a16="http://schemas.microsoft.com/office/drawing/2014/main" id="{00C825F1-8604-469E-49B6-0D009C0E0025}"/>
              </a:ext>
            </a:extLst>
          </p:cNvPr>
          <p:cNvSpPr>
            <a:spLocks noGrp="1"/>
          </p:cNvSpPr>
          <p:nvPr>
            <p:ph type="sldNum" sz="quarter" idx="12"/>
          </p:nvPr>
        </p:nvSpPr>
        <p:spPr/>
        <p:txBody>
          <a:bodyPr/>
          <a:lstStyle/>
          <a:p>
            <a:fld id="{1370230A-709D-4205-8636-A3280FD27E74}" type="slidenum">
              <a:rPr lang="en-US" smtClean="0"/>
              <a:t>24</a:t>
            </a:fld>
            <a:endParaRPr lang="en-US"/>
          </a:p>
        </p:txBody>
      </p:sp>
    </p:spTree>
    <p:extLst>
      <p:ext uri="{BB962C8B-B14F-4D97-AF65-F5344CB8AC3E}">
        <p14:creationId xmlns:p14="http://schemas.microsoft.com/office/powerpoint/2010/main" val="968671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45F40-33EC-74B1-24E0-DD3839B564C6}"/>
              </a:ext>
            </a:extLst>
          </p:cNvPr>
          <p:cNvSpPr>
            <a:spLocks noGrp="1"/>
          </p:cNvSpPr>
          <p:nvPr>
            <p:ph type="title"/>
          </p:nvPr>
        </p:nvSpPr>
        <p:spPr/>
        <p:txBody>
          <a:bodyPr/>
          <a:lstStyle/>
          <a:p>
            <a:r>
              <a:rPr lang="en-US" dirty="0"/>
              <a:t>PPO Episode Format</a:t>
            </a:r>
          </a:p>
        </p:txBody>
      </p:sp>
      <p:sp>
        <p:nvSpPr>
          <p:cNvPr id="4" name="Slide Number Placeholder 3">
            <a:extLst>
              <a:ext uri="{FF2B5EF4-FFF2-40B4-BE49-F238E27FC236}">
                <a16:creationId xmlns:a16="http://schemas.microsoft.com/office/drawing/2014/main" id="{10D1C4AB-58CF-63A4-C592-073990DEC13D}"/>
              </a:ext>
            </a:extLst>
          </p:cNvPr>
          <p:cNvSpPr>
            <a:spLocks noGrp="1"/>
          </p:cNvSpPr>
          <p:nvPr>
            <p:ph type="sldNum" sz="quarter" idx="12"/>
          </p:nvPr>
        </p:nvSpPr>
        <p:spPr/>
        <p:txBody>
          <a:bodyPr/>
          <a:lstStyle/>
          <a:p>
            <a:fld id="{1370230A-709D-4205-8636-A3280FD27E74}" type="slidenum">
              <a:rPr lang="en-US" smtClean="0"/>
              <a:t>25</a:t>
            </a:fld>
            <a:endParaRPr lang="en-US"/>
          </a:p>
        </p:txBody>
      </p:sp>
      <p:pic>
        <p:nvPicPr>
          <p:cNvPr id="11" name="Content Placeholder 10" descr="Transparent Slide 19 figure">
            <a:extLst>
              <a:ext uri="{FF2B5EF4-FFF2-40B4-BE49-F238E27FC236}">
                <a16:creationId xmlns:a16="http://schemas.microsoft.com/office/drawing/2014/main" id="{249564CE-FBC4-BBD5-7E5B-3BDB20AB70D8}"/>
              </a:ext>
            </a:extLst>
          </p:cNvPr>
          <p:cNvPicPr>
            <a:picLocks noGrp="1" noChangeAspect="1"/>
          </p:cNvPicPr>
          <p:nvPr>
            <p:ph idx="1"/>
          </p:nvPr>
        </p:nvPicPr>
        <p:blipFill>
          <a:blip r:embed="rId3"/>
          <a:stretch>
            <a:fillRect/>
          </a:stretch>
        </p:blipFill>
        <p:spPr>
          <a:xfrm>
            <a:off x="1342969" y="2172005"/>
            <a:ext cx="9506062" cy="3853135"/>
          </a:xfrm>
          <a:prstGeom prst="rect">
            <a:avLst/>
          </a:prstGeom>
        </p:spPr>
      </p:pic>
    </p:spTree>
    <p:extLst>
      <p:ext uri="{BB962C8B-B14F-4D97-AF65-F5344CB8AC3E}">
        <p14:creationId xmlns:p14="http://schemas.microsoft.com/office/powerpoint/2010/main" val="1973781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B1419-242B-2B1A-40AA-49E5B9DDBD50}"/>
              </a:ext>
            </a:extLst>
          </p:cNvPr>
          <p:cNvSpPr>
            <a:spLocks noGrp="1"/>
          </p:cNvSpPr>
          <p:nvPr>
            <p:ph type="title"/>
          </p:nvPr>
        </p:nvSpPr>
        <p:spPr/>
        <p:txBody>
          <a:bodyPr/>
          <a:lstStyle/>
          <a:p>
            <a:r>
              <a:rPr lang="en-US" dirty="0"/>
              <a:t>Variable Universe &amp; Masking</a:t>
            </a:r>
          </a:p>
        </p:txBody>
      </p:sp>
      <p:sp>
        <p:nvSpPr>
          <p:cNvPr id="3" name="Content Placeholder 2">
            <a:extLst>
              <a:ext uri="{FF2B5EF4-FFF2-40B4-BE49-F238E27FC236}">
                <a16:creationId xmlns:a16="http://schemas.microsoft.com/office/drawing/2014/main" id="{0DE8F983-B60A-FCA4-9D14-9D688116A2FE}"/>
              </a:ext>
            </a:extLst>
          </p:cNvPr>
          <p:cNvSpPr>
            <a:spLocks noGrp="1"/>
          </p:cNvSpPr>
          <p:nvPr>
            <p:ph idx="1"/>
          </p:nvPr>
        </p:nvSpPr>
        <p:spPr/>
        <p:txBody>
          <a:bodyPr/>
          <a:lstStyle/>
          <a:p>
            <a:pPr>
              <a:buFont typeface="Courier New" panose="02070309020205020404" pitchFamily="49" charset="0"/>
              <a:buChar char="o"/>
            </a:pPr>
            <a:r>
              <a:rPr lang="en-US" dirty="0"/>
              <a:t> Padding gives a consistent tensor shape</a:t>
            </a:r>
          </a:p>
          <a:p>
            <a:pPr>
              <a:buFont typeface="Courier New" panose="02070309020205020404" pitchFamily="49" charset="0"/>
              <a:buChar char="o"/>
            </a:pPr>
            <a:r>
              <a:rPr lang="en-US" dirty="0"/>
              <a:t> The mask separates real asset rows from padding rows</a:t>
            </a:r>
          </a:p>
          <a:p>
            <a:pPr>
              <a:buFont typeface="Courier New" panose="02070309020205020404" pitchFamily="49" charset="0"/>
              <a:buChar char="o"/>
            </a:pPr>
            <a:r>
              <a:rPr lang="en-US" dirty="0"/>
              <a:t> Padded rows do not affect actions, learning, or reward calculations</a:t>
            </a:r>
          </a:p>
        </p:txBody>
      </p:sp>
      <p:sp>
        <p:nvSpPr>
          <p:cNvPr id="4" name="Slide Number Placeholder 3">
            <a:extLst>
              <a:ext uri="{FF2B5EF4-FFF2-40B4-BE49-F238E27FC236}">
                <a16:creationId xmlns:a16="http://schemas.microsoft.com/office/drawing/2014/main" id="{B0DD9651-C539-FCD1-7FF1-E36DE3CAE94D}"/>
              </a:ext>
            </a:extLst>
          </p:cNvPr>
          <p:cNvSpPr>
            <a:spLocks noGrp="1"/>
          </p:cNvSpPr>
          <p:nvPr>
            <p:ph type="sldNum" sz="quarter" idx="12"/>
          </p:nvPr>
        </p:nvSpPr>
        <p:spPr/>
        <p:txBody>
          <a:bodyPr/>
          <a:lstStyle/>
          <a:p>
            <a:fld id="{1370230A-709D-4205-8636-A3280FD27E74}" type="slidenum">
              <a:rPr lang="en-US" smtClean="0"/>
              <a:t>26</a:t>
            </a:fld>
            <a:endParaRPr lang="en-US"/>
          </a:p>
        </p:txBody>
      </p:sp>
    </p:spTree>
    <p:extLst>
      <p:ext uri="{BB962C8B-B14F-4D97-AF65-F5344CB8AC3E}">
        <p14:creationId xmlns:p14="http://schemas.microsoft.com/office/powerpoint/2010/main" val="1777082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C5566-35C0-300D-8A06-A5582BEB3948}"/>
              </a:ext>
            </a:extLst>
          </p:cNvPr>
          <p:cNvSpPr>
            <a:spLocks noGrp="1"/>
          </p:cNvSpPr>
          <p:nvPr>
            <p:ph type="title"/>
          </p:nvPr>
        </p:nvSpPr>
        <p:spPr/>
        <p:txBody>
          <a:bodyPr/>
          <a:lstStyle/>
          <a:p>
            <a:r>
              <a:rPr lang="en-US" dirty="0"/>
              <a:t>Actor-Critic Architecture</a:t>
            </a:r>
          </a:p>
        </p:txBody>
      </p:sp>
      <p:sp>
        <p:nvSpPr>
          <p:cNvPr id="4" name="Slide Number Placeholder 3">
            <a:extLst>
              <a:ext uri="{FF2B5EF4-FFF2-40B4-BE49-F238E27FC236}">
                <a16:creationId xmlns:a16="http://schemas.microsoft.com/office/drawing/2014/main" id="{F42EDE92-38D2-A14E-DFCF-B4DF6FB3BF81}"/>
              </a:ext>
            </a:extLst>
          </p:cNvPr>
          <p:cNvSpPr>
            <a:spLocks noGrp="1"/>
          </p:cNvSpPr>
          <p:nvPr>
            <p:ph type="sldNum" sz="quarter" idx="12"/>
          </p:nvPr>
        </p:nvSpPr>
        <p:spPr/>
        <p:txBody>
          <a:bodyPr/>
          <a:lstStyle/>
          <a:p>
            <a:fld id="{1370230A-709D-4205-8636-A3280FD27E74}" type="slidenum">
              <a:rPr lang="en-US" smtClean="0"/>
              <a:t>27</a:t>
            </a:fld>
            <a:endParaRPr lang="en-US"/>
          </a:p>
        </p:txBody>
      </p:sp>
      <p:pic>
        <p:nvPicPr>
          <p:cNvPr id="13" name="Content Placeholder 12" descr="Improved actor-critic diagram">
            <a:extLst>
              <a:ext uri="{FF2B5EF4-FFF2-40B4-BE49-F238E27FC236}">
                <a16:creationId xmlns:a16="http://schemas.microsoft.com/office/drawing/2014/main" id="{531831B9-FC48-8C56-3ED3-D7C303404A7B}"/>
              </a:ext>
            </a:extLst>
          </p:cNvPr>
          <p:cNvPicPr>
            <a:picLocks noGrp="1" noChangeAspect="1"/>
          </p:cNvPicPr>
          <p:nvPr>
            <p:ph idx="1"/>
          </p:nvPr>
        </p:nvPicPr>
        <p:blipFill>
          <a:blip r:embed="rId3"/>
          <a:srcRect t="11709" b="10334"/>
          <a:stretch>
            <a:fillRect/>
          </a:stretch>
        </p:blipFill>
        <p:spPr>
          <a:xfrm>
            <a:off x="1446059" y="2046185"/>
            <a:ext cx="9360842" cy="4104774"/>
          </a:xfrm>
          <a:prstGeom prst="rect">
            <a:avLst/>
          </a:prstGeom>
        </p:spPr>
      </p:pic>
    </p:spTree>
    <p:extLst>
      <p:ext uri="{BB962C8B-B14F-4D97-AF65-F5344CB8AC3E}">
        <p14:creationId xmlns:p14="http://schemas.microsoft.com/office/powerpoint/2010/main" val="454151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E8B20-4902-592A-E6A4-1710CD3BEDA5}"/>
              </a:ext>
            </a:extLst>
          </p:cNvPr>
          <p:cNvSpPr>
            <a:spLocks noGrp="1"/>
          </p:cNvSpPr>
          <p:nvPr>
            <p:ph type="title"/>
          </p:nvPr>
        </p:nvSpPr>
        <p:spPr/>
        <p:txBody>
          <a:bodyPr/>
          <a:lstStyle/>
          <a:p>
            <a:r>
              <a:rPr lang="en-US" dirty="0"/>
              <a:t>Reward Definition</a:t>
            </a:r>
          </a:p>
        </p:txBody>
      </p:sp>
      <p:pic>
        <p:nvPicPr>
          <p:cNvPr id="5" name="Content Placeholder 4" descr="Reward Definition Diagram">
            <a:extLst>
              <a:ext uri="{FF2B5EF4-FFF2-40B4-BE49-F238E27FC236}">
                <a16:creationId xmlns:a16="http://schemas.microsoft.com/office/drawing/2014/main" id="{4DE1CC63-D3AF-D1F1-73C7-B8AED4CDD2DF}"/>
              </a:ext>
            </a:extLst>
          </p:cNvPr>
          <p:cNvPicPr>
            <a:picLocks noGrp="1" noChangeAspect="1"/>
          </p:cNvPicPr>
          <p:nvPr>
            <p:ph idx="1"/>
          </p:nvPr>
        </p:nvPicPr>
        <p:blipFill>
          <a:blip r:embed="rId3"/>
          <a:stretch>
            <a:fillRect/>
          </a:stretch>
        </p:blipFill>
        <p:spPr>
          <a:xfrm>
            <a:off x="1372517" y="3257768"/>
            <a:ext cx="10085622" cy="1681608"/>
          </a:xfrm>
          <a:prstGeom prst="rect">
            <a:avLst/>
          </a:prstGeom>
        </p:spPr>
      </p:pic>
      <p:sp>
        <p:nvSpPr>
          <p:cNvPr id="4" name="Slide Number Placeholder 3">
            <a:extLst>
              <a:ext uri="{FF2B5EF4-FFF2-40B4-BE49-F238E27FC236}">
                <a16:creationId xmlns:a16="http://schemas.microsoft.com/office/drawing/2014/main" id="{7E2776AE-5E1A-E61A-46A4-6401FBB130A6}"/>
              </a:ext>
            </a:extLst>
          </p:cNvPr>
          <p:cNvSpPr>
            <a:spLocks noGrp="1"/>
          </p:cNvSpPr>
          <p:nvPr>
            <p:ph type="sldNum" sz="quarter" idx="12"/>
          </p:nvPr>
        </p:nvSpPr>
        <p:spPr/>
        <p:txBody>
          <a:bodyPr/>
          <a:lstStyle/>
          <a:p>
            <a:fld id="{1370230A-709D-4205-8636-A3280FD27E74}" type="slidenum">
              <a:rPr lang="en-US" smtClean="0"/>
              <a:t>28</a:t>
            </a:fld>
            <a:endParaRPr lang="en-US"/>
          </a:p>
        </p:txBody>
      </p:sp>
    </p:spTree>
    <p:extLst>
      <p:ext uri="{BB962C8B-B14F-4D97-AF65-F5344CB8AC3E}">
        <p14:creationId xmlns:p14="http://schemas.microsoft.com/office/powerpoint/2010/main" val="1622887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5B995-EC36-092F-82D2-6BC2A9DE62AD}"/>
              </a:ext>
            </a:extLst>
          </p:cNvPr>
          <p:cNvSpPr>
            <a:spLocks noGrp="1"/>
          </p:cNvSpPr>
          <p:nvPr>
            <p:ph type="title"/>
          </p:nvPr>
        </p:nvSpPr>
        <p:spPr/>
        <p:txBody>
          <a:bodyPr/>
          <a:lstStyle/>
          <a:p>
            <a:r>
              <a:rPr lang="en-US" dirty="0"/>
              <a:t>Profile-Specific Asset Universes</a:t>
            </a:r>
          </a:p>
        </p:txBody>
      </p:sp>
      <p:sp>
        <p:nvSpPr>
          <p:cNvPr id="4" name="Slide Number Placeholder 3">
            <a:extLst>
              <a:ext uri="{FF2B5EF4-FFF2-40B4-BE49-F238E27FC236}">
                <a16:creationId xmlns:a16="http://schemas.microsoft.com/office/drawing/2014/main" id="{B488CFD4-A7DF-5E64-A38B-E9274796D09D}"/>
              </a:ext>
            </a:extLst>
          </p:cNvPr>
          <p:cNvSpPr>
            <a:spLocks noGrp="1"/>
          </p:cNvSpPr>
          <p:nvPr>
            <p:ph type="sldNum" sz="quarter" idx="12"/>
          </p:nvPr>
        </p:nvSpPr>
        <p:spPr/>
        <p:txBody>
          <a:bodyPr/>
          <a:lstStyle/>
          <a:p>
            <a:fld id="{1370230A-709D-4205-8636-A3280FD27E74}" type="slidenum">
              <a:rPr lang="en-US" smtClean="0"/>
              <a:t>29</a:t>
            </a:fld>
            <a:endParaRPr lang="en-US"/>
          </a:p>
        </p:txBody>
      </p:sp>
      <p:sp>
        <p:nvSpPr>
          <p:cNvPr id="5" name="Content Placeholder 4">
            <a:extLst>
              <a:ext uri="{FF2B5EF4-FFF2-40B4-BE49-F238E27FC236}">
                <a16:creationId xmlns:a16="http://schemas.microsoft.com/office/drawing/2014/main" id="{C210F727-8011-89B1-ED08-1642566A03DD}"/>
              </a:ext>
            </a:extLst>
          </p:cNvPr>
          <p:cNvSpPr>
            <a:spLocks noGrp="1"/>
          </p:cNvSpPr>
          <p:nvPr>
            <p:ph idx="13"/>
          </p:nvPr>
        </p:nvSpPr>
        <p:spPr/>
        <p:txBody>
          <a:bodyPr/>
          <a:lstStyle/>
          <a:p>
            <a:pPr>
              <a:buFont typeface="Courier New" panose="02070309020205020404" pitchFamily="49" charset="0"/>
              <a:buChar char="o"/>
            </a:pPr>
            <a:r>
              <a:rPr lang="en-US" dirty="0"/>
              <a:t> Conservative: lowest 30% predicted-risk assets</a:t>
            </a:r>
          </a:p>
          <a:p>
            <a:pPr>
              <a:buFont typeface="Courier New" panose="02070309020205020404" pitchFamily="49" charset="0"/>
              <a:buChar char="o"/>
            </a:pPr>
            <a:r>
              <a:rPr lang="en-US" dirty="0"/>
              <a:t> Balanced: 20% to 80% predicted-risk band</a:t>
            </a:r>
          </a:p>
          <a:p>
            <a:pPr>
              <a:buFont typeface="Courier New" panose="02070309020205020404" pitchFamily="49" charset="0"/>
              <a:buChar char="o"/>
            </a:pPr>
            <a:r>
              <a:rPr lang="en-US" dirty="0"/>
              <a:t> Aggressive: highest 30% predicted-risk assets</a:t>
            </a:r>
          </a:p>
        </p:txBody>
      </p:sp>
      <p:sp>
        <p:nvSpPr>
          <p:cNvPr id="6" name="Rectangle 5">
            <a:extLst>
              <a:ext uri="{FF2B5EF4-FFF2-40B4-BE49-F238E27FC236}">
                <a16:creationId xmlns:a16="http://schemas.microsoft.com/office/drawing/2014/main" id="{B724DE56-D989-68D8-7928-15973BCA0B14}"/>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87D23333-B4A1-2581-F631-227BA4315DBC}"/>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99607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21652C7-CF7E-BDF7-9827-DFF0B7F62F98}"/>
              </a:ext>
            </a:extLst>
          </p:cNvPr>
          <p:cNvSpPr/>
          <p:nvPr/>
        </p:nvSpPr>
        <p:spPr>
          <a:xfrm rot="5400000">
            <a:off x="2587337" y="-2587332"/>
            <a:ext cx="6857999" cy="12032677"/>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E20CE8F4-3705-6B06-CC76-B1EA488C6018}"/>
              </a:ext>
            </a:extLst>
          </p:cNvPr>
          <p:cNvSpPr>
            <a:spLocks noGrp="1"/>
          </p:cNvSpPr>
          <p:nvPr>
            <p:ph type="ctrTitle"/>
          </p:nvPr>
        </p:nvSpPr>
        <p:spPr/>
        <p:txBody>
          <a:bodyPr/>
          <a:lstStyle/>
          <a:p>
            <a:r>
              <a:rPr lang="en-US" dirty="0"/>
              <a:t>Experiments</a:t>
            </a:r>
          </a:p>
        </p:txBody>
      </p:sp>
      <p:sp>
        <p:nvSpPr>
          <p:cNvPr id="3" name="Slide Number Placeholder 2">
            <a:extLst>
              <a:ext uri="{FF2B5EF4-FFF2-40B4-BE49-F238E27FC236}">
                <a16:creationId xmlns:a16="http://schemas.microsoft.com/office/drawing/2014/main" id="{73E8A48F-E91E-FB87-7266-943926EF1202}"/>
              </a:ext>
            </a:extLst>
          </p:cNvPr>
          <p:cNvSpPr>
            <a:spLocks noGrp="1"/>
          </p:cNvSpPr>
          <p:nvPr>
            <p:ph type="sldNum" sz="quarter" idx="12"/>
          </p:nvPr>
        </p:nvSpPr>
        <p:spPr/>
        <p:txBody>
          <a:bodyPr/>
          <a:lstStyle/>
          <a:p>
            <a:fld id="{1370230A-709D-4205-8636-A3280FD27E74}" type="slidenum">
              <a:rPr lang="en-US" smtClean="0"/>
              <a:t>30</a:t>
            </a:fld>
            <a:endParaRPr lang="en-US"/>
          </a:p>
        </p:txBody>
      </p:sp>
      <p:sp>
        <p:nvSpPr>
          <p:cNvPr id="9" name="Rectangle 8">
            <a:extLst>
              <a:ext uri="{FF2B5EF4-FFF2-40B4-BE49-F238E27FC236}">
                <a16:creationId xmlns:a16="http://schemas.microsoft.com/office/drawing/2014/main" id="{C3B185C7-8C44-6040-60F9-FD6C593AD464}"/>
              </a:ext>
            </a:extLst>
          </p:cNvPr>
          <p:cNvSpPr/>
          <p:nvPr/>
        </p:nvSpPr>
        <p:spPr>
          <a:xfrm rot="5400000">
            <a:off x="8657014"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0" name="Straight Connector 9">
            <a:extLst>
              <a:ext uri="{FF2B5EF4-FFF2-40B4-BE49-F238E27FC236}">
                <a16:creationId xmlns:a16="http://schemas.microsoft.com/office/drawing/2014/main" id="{3A930D45-5B29-8D2A-5E45-6F7B5D7E00C0}"/>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54548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40FFC-1AF0-8D4A-D5C5-57BAC3B39EA9}"/>
              </a:ext>
            </a:extLst>
          </p:cNvPr>
          <p:cNvSpPr>
            <a:spLocks noGrp="1"/>
          </p:cNvSpPr>
          <p:nvPr>
            <p:ph type="title"/>
          </p:nvPr>
        </p:nvSpPr>
        <p:spPr/>
        <p:txBody>
          <a:bodyPr/>
          <a:lstStyle/>
          <a:p>
            <a:r>
              <a:rPr lang="en-US" dirty="0"/>
              <a:t>Framework Selection</a:t>
            </a:r>
          </a:p>
        </p:txBody>
      </p:sp>
      <p:sp>
        <p:nvSpPr>
          <p:cNvPr id="4" name="Slide Number Placeholder 3">
            <a:extLst>
              <a:ext uri="{FF2B5EF4-FFF2-40B4-BE49-F238E27FC236}">
                <a16:creationId xmlns:a16="http://schemas.microsoft.com/office/drawing/2014/main" id="{73160541-65C9-4E93-86A4-3FCC447B174A}"/>
              </a:ext>
            </a:extLst>
          </p:cNvPr>
          <p:cNvSpPr>
            <a:spLocks noGrp="1"/>
          </p:cNvSpPr>
          <p:nvPr>
            <p:ph type="sldNum" sz="quarter" idx="12"/>
          </p:nvPr>
        </p:nvSpPr>
        <p:spPr/>
        <p:txBody>
          <a:bodyPr/>
          <a:lstStyle/>
          <a:p>
            <a:fld id="{1370230A-709D-4205-8636-A3280FD27E74}" type="slidenum">
              <a:rPr lang="en-US" smtClean="0"/>
              <a:t>31</a:t>
            </a:fld>
            <a:endParaRPr lang="en-US"/>
          </a:p>
        </p:txBody>
      </p:sp>
      <p:sp>
        <p:nvSpPr>
          <p:cNvPr id="3" name="Content Placeholder 2">
            <a:extLst>
              <a:ext uri="{FF2B5EF4-FFF2-40B4-BE49-F238E27FC236}">
                <a16:creationId xmlns:a16="http://schemas.microsoft.com/office/drawing/2014/main" id="{EF4075D1-A271-7CA2-30A6-881A8B5A34E0}"/>
              </a:ext>
            </a:extLst>
          </p:cNvPr>
          <p:cNvSpPr>
            <a:spLocks noGrp="1"/>
          </p:cNvSpPr>
          <p:nvPr>
            <p:ph idx="13"/>
          </p:nvPr>
        </p:nvSpPr>
        <p:spPr/>
        <p:txBody>
          <a:bodyPr/>
          <a:lstStyle/>
          <a:p>
            <a:pPr>
              <a:buFont typeface="Courier New" panose="02070309020205020404" pitchFamily="49" charset="0"/>
              <a:buChar char="o"/>
            </a:pPr>
            <a:r>
              <a:rPr lang="en-US" dirty="0"/>
              <a:t> Compared one-month versus three-month feature windows</a:t>
            </a:r>
          </a:p>
          <a:p>
            <a:pPr>
              <a:buFont typeface="Courier New" panose="02070309020205020404" pitchFamily="49" charset="0"/>
              <a:buChar char="o"/>
            </a:pPr>
            <a:r>
              <a:rPr lang="en-US" dirty="0"/>
              <a:t> Evaluated the inclusion of pooled active-universe context</a:t>
            </a:r>
          </a:p>
          <a:p>
            <a:pPr>
              <a:buFont typeface="Courier New" panose="02070309020205020404" pitchFamily="49" charset="0"/>
              <a:buChar char="o"/>
            </a:pPr>
            <a:r>
              <a:rPr lang="en-US" dirty="0"/>
              <a:t> Evaluated the addition of Daily price variants</a:t>
            </a:r>
          </a:p>
        </p:txBody>
      </p:sp>
      <p:sp>
        <p:nvSpPr>
          <p:cNvPr id="5" name="Rectangle 4">
            <a:extLst>
              <a:ext uri="{FF2B5EF4-FFF2-40B4-BE49-F238E27FC236}">
                <a16:creationId xmlns:a16="http://schemas.microsoft.com/office/drawing/2014/main" id="{A754FF7A-4A61-A74B-35C3-A34755ACE837}"/>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6" name="Rectangle 5">
            <a:extLst>
              <a:ext uri="{FF2B5EF4-FFF2-40B4-BE49-F238E27FC236}">
                <a16:creationId xmlns:a16="http://schemas.microsoft.com/office/drawing/2014/main" id="{B57B9B55-5555-5FE6-83A6-19B63A1D3AD4}"/>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041858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5713C-F5B5-1A8D-96AC-B88E0F319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A60BF-ECE8-4B81-7810-F2B8B4B99C63}"/>
              </a:ext>
            </a:extLst>
          </p:cNvPr>
          <p:cNvSpPr>
            <a:spLocks noGrp="1"/>
          </p:cNvSpPr>
          <p:nvPr>
            <p:ph type="title"/>
          </p:nvPr>
        </p:nvSpPr>
        <p:spPr/>
        <p:txBody>
          <a:bodyPr/>
          <a:lstStyle/>
          <a:p>
            <a:r>
              <a:rPr lang="en-US" dirty="0"/>
              <a:t>Features and Reward Function</a:t>
            </a:r>
          </a:p>
        </p:txBody>
      </p:sp>
      <p:sp>
        <p:nvSpPr>
          <p:cNvPr id="3" name="Content Placeholder 2">
            <a:extLst>
              <a:ext uri="{FF2B5EF4-FFF2-40B4-BE49-F238E27FC236}">
                <a16:creationId xmlns:a16="http://schemas.microsoft.com/office/drawing/2014/main" id="{201E0DF1-D1EF-EC8D-9810-C071BADA3074}"/>
              </a:ext>
            </a:extLst>
          </p:cNvPr>
          <p:cNvSpPr>
            <a:spLocks noGrp="1"/>
          </p:cNvSpPr>
          <p:nvPr>
            <p:ph idx="1"/>
          </p:nvPr>
        </p:nvSpPr>
        <p:spPr/>
        <p:txBody>
          <a:bodyPr/>
          <a:lstStyle/>
          <a:p>
            <a:pPr>
              <a:buFont typeface="Courier New" panose="02070309020205020404" pitchFamily="49" charset="0"/>
              <a:buChar char="o"/>
            </a:pPr>
            <a:r>
              <a:rPr lang="en-US" dirty="0"/>
              <a:t> Ran drop-one ablations on the base set to identify which feature families contributed signal</a:t>
            </a:r>
          </a:p>
          <a:p>
            <a:pPr>
              <a:buFont typeface="Courier New" panose="02070309020205020404" pitchFamily="49" charset="0"/>
              <a:buChar char="o"/>
            </a:pPr>
            <a:r>
              <a:rPr lang="en-US" dirty="0"/>
              <a:t> Stress-tested the chosen set across seed configuration, redesigned feature families, and incremental additions before locking the final inputs</a:t>
            </a:r>
          </a:p>
          <a:p>
            <a:pPr>
              <a:buFont typeface="Courier New" panose="02070309020205020404" pitchFamily="49" charset="0"/>
              <a:buChar char="o"/>
            </a:pPr>
            <a:r>
              <a:rPr lang="en-US" dirty="0"/>
              <a:t> Compared alternative reward designs and selected a rank-dominant reward with secondary score discipline</a:t>
            </a:r>
          </a:p>
        </p:txBody>
      </p:sp>
      <p:sp>
        <p:nvSpPr>
          <p:cNvPr id="4" name="Slide Number Placeholder 3">
            <a:extLst>
              <a:ext uri="{FF2B5EF4-FFF2-40B4-BE49-F238E27FC236}">
                <a16:creationId xmlns:a16="http://schemas.microsoft.com/office/drawing/2014/main" id="{64EBEEB3-1563-10EB-788F-B7B39F2B2C22}"/>
              </a:ext>
            </a:extLst>
          </p:cNvPr>
          <p:cNvSpPr>
            <a:spLocks noGrp="1"/>
          </p:cNvSpPr>
          <p:nvPr>
            <p:ph type="sldNum" sz="quarter" idx="12"/>
          </p:nvPr>
        </p:nvSpPr>
        <p:spPr/>
        <p:txBody>
          <a:bodyPr/>
          <a:lstStyle/>
          <a:p>
            <a:fld id="{1370230A-709D-4205-8636-A3280FD27E74}" type="slidenum">
              <a:rPr lang="en-US" smtClean="0"/>
              <a:t>32</a:t>
            </a:fld>
            <a:endParaRPr lang="en-US"/>
          </a:p>
        </p:txBody>
      </p:sp>
    </p:spTree>
    <p:extLst>
      <p:ext uri="{BB962C8B-B14F-4D97-AF65-F5344CB8AC3E}">
        <p14:creationId xmlns:p14="http://schemas.microsoft.com/office/powerpoint/2010/main" val="2168458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8D348-7683-4AFA-445C-815DEFE65C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51164A-BE4E-B3E9-0CE3-9BC1303962AD}"/>
              </a:ext>
            </a:extLst>
          </p:cNvPr>
          <p:cNvSpPr>
            <a:spLocks noGrp="1"/>
          </p:cNvSpPr>
          <p:nvPr>
            <p:ph type="title"/>
          </p:nvPr>
        </p:nvSpPr>
        <p:spPr/>
        <p:txBody>
          <a:bodyPr/>
          <a:lstStyle/>
          <a:p>
            <a:r>
              <a:rPr lang="en-US" dirty="0"/>
              <a:t>Hyper-parameters and Selection</a:t>
            </a:r>
          </a:p>
        </p:txBody>
      </p:sp>
      <p:sp>
        <p:nvSpPr>
          <p:cNvPr id="3" name="Content Placeholder 2">
            <a:extLst>
              <a:ext uri="{FF2B5EF4-FFF2-40B4-BE49-F238E27FC236}">
                <a16:creationId xmlns:a16="http://schemas.microsoft.com/office/drawing/2014/main" id="{C3681193-CC96-B4AB-5E5A-CF4FBDEE40A1}"/>
              </a:ext>
            </a:extLst>
          </p:cNvPr>
          <p:cNvSpPr>
            <a:spLocks noGrp="1"/>
          </p:cNvSpPr>
          <p:nvPr>
            <p:ph idx="1"/>
          </p:nvPr>
        </p:nvSpPr>
        <p:spPr/>
        <p:txBody>
          <a:bodyPr/>
          <a:lstStyle/>
          <a:p>
            <a:pPr>
              <a:buFont typeface="Courier New" panose="02070309020205020404" pitchFamily="49" charset="0"/>
              <a:buChar char="o"/>
            </a:pPr>
            <a:r>
              <a:rPr lang="en-US" dirty="0"/>
              <a:t> Used Optuna validation trials to tune PPO hyperparameters and select the configuration that generalized best</a:t>
            </a:r>
          </a:p>
          <a:p>
            <a:pPr>
              <a:buFont typeface="Courier New" panose="02070309020205020404" pitchFamily="49" charset="0"/>
              <a:buChar char="o"/>
            </a:pPr>
            <a:r>
              <a:rPr lang="en-US" dirty="0"/>
              <a:t> Confirmed the selected configuration across three random seeds before locking the final model</a:t>
            </a:r>
          </a:p>
          <a:p>
            <a:pPr>
              <a:buFont typeface="Courier New" panose="02070309020205020404" pitchFamily="49" charset="0"/>
              <a:buChar char="o"/>
            </a:pPr>
            <a:r>
              <a:rPr lang="en-US" dirty="0"/>
              <a:t> Compared alternative profile-universe mappings</a:t>
            </a:r>
          </a:p>
        </p:txBody>
      </p:sp>
      <p:sp>
        <p:nvSpPr>
          <p:cNvPr id="4" name="Slide Number Placeholder 3">
            <a:extLst>
              <a:ext uri="{FF2B5EF4-FFF2-40B4-BE49-F238E27FC236}">
                <a16:creationId xmlns:a16="http://schemas.microsoft.com/office/drawing/2014/main" id="{1A36CC33-F3FB-823A-9A0C-71886202EDAE}"/>
              </a:ext>
            </a:extLst>
          </p:cNvPr>
          <p:cNvSpPr>
            <a:spLocks noGrp="1"/>
          </p:cNvSpPr>
          <p:nvPr>
            <p:ph type="sldNum" sz="quarter" idx="12"/>
          </p:nvPr>
        </p:nvSpPr>
        <p:spPr/>
        <p:txBody>
          <a:bodyPr/>
          <a:lstStyle/>
          <a:p>
            <a:fld id="{1370230A-709D-4205-8636-A3280FD27E74}" type="slidenum">
              <a:rPr lang="en-US" smtClean="0"/>
              <a:t>33</a:t>
            </a:fld>
            <a:endParaRPr lang="en-US"/>
          </a:p>
        </p:txBody>
      </p:sp>
    </p:spTree>
    <p:extLst>
      <p:ext uri="{BB962C8B-B14F-4D97-AF65-F5344CB8AC3E}">
        <p14:creationId xmlns:p14="http://schemas.microsoft.com/office/powerpoint/2010/main" val="431333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3CA72-16E7-DDAA-1628-E260466B4F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0DDADE-FFE6-D12E-5534-DA5D9380E36E}"/>
              </a:ext>
            </a:extLst>
          </p:cNvPr>
          <p:cNvSpPr>
            <a:spLocks noGrp="1"/>
          </p:cNvSpPr>
          <p:nvPr>
            <p:ph type="title"/>
          </p:nvPr>
        </p:nvSpPr>
        <p:spPr/>
        <p:txBody>
          <a:bodyPr/>
          <a:lstStyle/>
          <a:p>
            <a:r>
              <a:rPr lang="en-US" dirty="0"/>
              <a:t>Evaluation Logic</a:t>
            </a:r>
          </a:p>
        </p:txBody>
      </p:sp>
      <p:sp>
        <p:nvSpPr>
          <p:cNvPr id="4" name="Slide Number Placeholder 3">
            <a:extLst>
              <a:ext uri="{FF2B5EF4-FFF2-40B4-BE49-F238E27FC236}">
                <a16:creationId xmlns:a16="http://schemas.microsoft.com/office/drawing/2014/main" id="{B37ABEF5-B5EB-D612-B0C2-A327DCC3B91A}"/>
              </a:ext>
            </a:extLst>
          </p:cNvPr>
          <p:cNvSpPr>
            <a:spLocks noGrp="1"/>
          </p:cNvSpPr>
          <p:nvPr>
            <p:ph type="sldNum" sz="quarter" idx="12"/>
          </p:nvPr>
        </p:nvSpPr>
        <p:spPr/>
        <p:txBody>
          <a:bodyPr/>
          <a:lstStyle/>
          <a:p>
            <a:fld id="{1370230A-709D-4205-8636-A3280FD27E74}" type="slidenum">
              <a:rPr lang="en-US" smtClean="0"/>
              <a:t>34</a:t>
            </a:fld>
            <a:endParaRPr lang="en-US"/>
          </a:p>
        </p:txBody>
      </p:sp>
      <p:grpSp>
        <p:nvGrpSpPr>
          <p:cNvPr id="8" name="Group 7">
            <a:extLst>
              <a:ext uri="{FF2B5EF4-FFF2-40B4-BE49-F238E27FC236}">
                <a16:creationId xmlns:a16="http://schemas.microsoft.com/office/drawing/2014/main" id="{5C3FC93A-1F7D-DA5C-91E6-970EB8F48611}"/>
              </a:ext>
            </a:extLst>
          </p:cNvPr>
          <p:cNvGrpSpPr/>
          <p:nvPr/>
        </p:nvGrpSpPr>
        <p:grpSpPr>
          <a:xfrm>
            <a:off x="1306271" y="2497063"/>
            <a:ext cx="9579458" cy="2741407"/>
            <a:chOff x="1098927" y="2449561"/>
            <a:chExt cx="9579458" cy="2741407"/>
          </a:xfrm>
        </p:grpSpPr>
        <p:sp>
          <p:nvSpPr>
            <p:cNvPr id="9" name="Rectangle: Rounded Corners 8">
              <a:extLst>
                <a:ext uri="{FF2B5EF4-FFF2-40B4-BE49-F238E27FC236}">
                  <a16:creationId xmlns:a16="http://schemas.microsoft.com/office/drawing/2014/main" id="{44A569CE-0BE7-3346-52E6-C63858281192}"/>
                </a:ext>
              </a:extLst>
            </p:cNvPr>
            <p:cNvSpPr/>
            <p:nvPr/>
          </p:nvSpPr>
          <p:spPr>
            <a:xfrm>
              <a:off x="2299659" y="3095240"/>
              <a:ext cx="3142022" cy="2095728"/>
            </a:xfrm>
            <a:prstGeom prst="roundRect">
              <a:avLst/>
            </a:prstGeom>
          </p:spPr>
          <p:style>
            <a:lnRef idx="2">
              <a:schemeClr val="accent3">
                <a:alpha val="90000"/>
                <a:tint val="40000"/>
                <a:hueOff val="0"/>
                <a:satOff val="0"/>
                <a:lumOff val="0"/>
                <a:alphaOff val="0"/>
              </a:schemeClr>
            </a:lnRef>
            <a:fillRef idx="1">
              <a:schemeClr val="accent3">
                <a:alpha val="90000"/>
                <a:tint val="40000"/>
                <a:hueOff val="0"/>
                <a:satOff val="0"/>
                <a:lumOff val="0"/>
                <a:alphaOff val="0"/>
              </a:schemeClr>
            </a:fillRef>
            <a:effectRef idx="0">
              <a:schemeClr val="accent3">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502724" tIns="184912" rIns="184912" bIns="184912" numCol="1" spcCol="1270" anchor="ctr" anchorCtr="0">
              <a:noAutofit/>
            </a:bodyPr>
            <a:lstStyle/>
            <a:p>
              <a:pPr marL="0" lvl="0" indent="0" algn="l" defTabSz="1155700">
                <a:lnSpc>
                  <a:spcPct val="90000"/>
                </a:lnSpc>
                <a:spcBef>
                  <a:spcPct val="0"/>
                </a:spcBef>
                <a:spcAft>
                  <a:spcPct val="35000"/>
                </a:spcAft>
                <a:buNone/>
              </a:pPr>
              <a:r>
                <a:rPr lang="en-US" sz="2600" b="0" i="0" kern="1200" dirty="0"/>
                <a:t>compare predicted ranks with realized risk ranks</a:t>
              </a:r>
              <a:endParaRPr lang="en-US" sz="2600" kern="1200" dirty="0"/>
            </a:p>
          </p:txBody>
        </p:sp>
        <p:sp>
          <p:nvSpPr>
            <p:cNvPr id="10" name="Freeform: Shape 9">
              <a:extLst>
                <a:ext uri="{FF2B5EF4-FFF2-40B4-BE49-F238E27FC236}">
                  <a16:creationId xmlns:a16="http://schemas.microsoft.com/office/drawing/2014/main" id="{126D8EE1-B5A1-5B48-C3BD-0E0CDE98963A}"/>
                </a:ext>
              </a:extLst>
            </p:cNvPr>
            <p:cNvSpPr/>
            <p:nvPr/>
          </p:nvSpPr>
          <p:spPr>
            <a:xfrm>
              <a:off x="1098927" y="2449561"/>
              <a:ext cx="1635551" cy="1635551"/>
            </a:xfrm>
            <a:custGeom>
              <a:avLst/>
              <a:gdLst>
                <a:gd name="csX0" fmla="*/ 0 w 2094681"/>
                <a:gd name="csY0" fmla="*/ 1047341 h 2094681"/>
                <a:gd name="csX1" fmla="*/ 1047341 w 2094681"/>
                <a:gd name="csY1" fmla="*/ 0 h 2094681"/>
                <a:gd name="csX2" fmla="*/ 2094682 w 2094681"/>
                <a:gd name="csY2" fmla="*/ 1047341 h 2094681"/>
                <a:gd name="csX3" fmla="*/ 1047341 w 2094681"/>
                <a:gd name="csY3" fmla="*/ 2094682 h 2094681"/>
                <a:gd name="csX4" fmla="*/ 0 w 2094681"/>
                <a:gd name="csY4" fmla="*/ 1047341 h 2094681"/>
              </a:gdLst>
              <a:ahLst/>
              <a:cxnLst>
                <a:cxn ang="0">
                  <a:pos x="csX0" y="csY0"/>
                </a:cxn>
                <a:cxn ang="0">
                  <a:pos x="csX1" y="csY1"/>
                </a:cxn>
                <a:cxn ang="0">
                  <a:pos x="csX2" y="csY2"/>
                </a:cxn>
                <a:cxn ang="0">
                  <a:pos x="csX3" y="csY3"/>
                </a:cxn>
                <a:cxn ang="0">
                  <a:pos x="csX4" y="csY4"/>
                </a:cxn>
              </a:cxnLst>
              <a:rect l="l" t="t" r="r" b="b"/>
              <a:pathLst>
                <a:path w="2094681" h="2094681">
                  <a:moveTo>
                    <a:pt x="0" y="1047341"/>
                  </a:moveTo>
                  <a:cubicBezTo>
                    <a:pt x="0" y="468911"/>
                    <a:pt x="468911" y="0"/>
                    <a:pt x="1047341" y="0"/>
                  </a:cubicBezTo>
                  <a:cubicBezTo>
                    <a:pt x="1625771" y="0"/>
                    <a:pt x="2094682" y="468911"/>
                    <a:pt x="2094682" y="1047341"/>
                  </a:cubicBezTo>
                  <a:cubicBezTo>
                    <a:pt x="2094682" y="1625771"/>
                    <a:pt x="1625771" y="2094682"/>
                    <a:pt x="1047341" y="2094682"/>
                  </a:cubicBezTo>
                  <a:cubicBezTo>
                    <a:pt x="468911" y="2094682"/>
                    <a:pt x="0" y="1625771"/>
                    <a:pt x="0" y="1047341"/>
                  </a:cubicBezTo>
                  <a:close/>
                </a:path>
              </a:pathLst>
            </a:custGeom>
          </p:spPr>
          <p:style>
            <a:lnRef idx="3">
              <a:schemeClr val="lt1">
                <a:hueOff val="0"/>
                <a:satOff val="0"/>
                <a:lumOff val="0"/>
                <a:alphaOff val="0"/>
              </a:schemeClr>
            </a:lnRef>
            <a:fillRef idx="1">
              <a:schemeClr val="accent3">
                <a:hueOff val="0"/>
                <a:satOff val="0"/>
                <a:lumOff val="0"/>
                <a:alphaOff val="0"/>
              </a:schemeClr>
            </a:fillRef>
            <a:effectRef idx="1">
              <a:schemeClr val="accent3">
                <a:hueOff val="0"/>
                <a:satOff val="0"/>
                <a:lumOff val="0"/>
                <a:alphaOff val="0"/>
              </a:schemeClr>
            </a:effectRef>
            <a:fontRef idx="minor">
              <a:schemeClr val="lt1"/>
            </a:fontRef>
          </p:style>
          <p:txBody>
            <a:bodyPr spcFirstLastPara="0" vert="horz" wrap="square" lIns="306759" tIns="306759" rIns="306759" bIns="306759" numCol="1" spcCol="1270" anchor="ctr" anchorCtr="0">
              <a:noAutofit/>
            </a:bodyPr>
            <a:lstStyle/>
            <a:p>
              <a:pPr marL="0" lvl="0" indent="0" algn="ctr" defTabSz="2311400">
                <a:lnSpc>
                  <a:spcPct val="90000"/>
                </a:lnSpc>
                <a:spcBef>
                  <a:spcPct val="0"/>
                </a:spcBef>
                <a:spcAft>
                  <a:spcPct val="35000"/>
                </a:spcAft>
                <a:buNone/>
              </a:pPr>
              <a:r>
                <a:rPr lang="en-US" sz="3600" kern="1200" dirty="0"/>
                <a:t>Stage 1</a:t>
              </a:r>
            </a:p>
          </p:txBody>
        </p:sp>
        <p:sp>
          <p:nvSpPr>
            <p:cNvPr id="11" name="Rectangle: Rounded Corners 10">
              <a:extLst>
                <a:ext uri="{FF2B5EF4-FFF2-40B4-BE49-F238E27FC236}">
                  <a16:creationId xmlns:a16="http://schemas.microsoft.com/office/drawing/2014/main" id="{33F023E7-CE32-2DE4-401D-4BCCEFFF5D36}"/>
                </a:ext>
              </a:extLst>
            </p:cNvPr>
            <p:cNvSpPr/>
            <p:nvPr/>
          </p:nvSpPr>
          <p:spPr>
            <a:xfrm>
              <a:off x="7536363" y="3095240"/>
              <a:ext cx="3142022" cy="2095728"/>
            </a:xfrm>
            <a:prstGeom prst="roundRect">
              <a:avLst/>
            </a:prstGeom>
          </p:spPr>
          <p:style>
            <a:lnRef idx="2">
              <a:schemeClr val="accent3">
                <a:alpha val="90000"/>
                <a:tint val="40000"/>
                <a:hueOff val="0"/>
                <a:satOff val="0"/>
                <a:lumOff val="0"/>
                <a:alphaOff val="0"/>
              </a:schemeClr>
            </a:lnRef>
            <a:fillRef idx="1">
              <a:schemeClr val="accent3">
                <a:alpha val="90000"/>
                <a:tint val="40000"/>
                <a:hueOff val="0"/>
                <a:satOff val="0"/>
                <a:lumOff val="0"/>
                <a:alphaOff val="0"/>
              </a:schemeClr>
            </a:fillRef>
            <a:effectRef idx="0">
              <a:schemeClr val="accent3">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502723" tIns="184912" rIns="184913" bIns="184912" numCol="1" spcCol="1270" anchor="ctr" anchorCtr="0">
              <a:noAutofit/>
            </a:bodyPr>
            <a:lstStyle/>
            <a:p>
              <a:pPr marL="0" lvl="0" indent="0" algn="l" defTabSz="1155700">
                <a:lnSpc>
                  <a:spcPct val="90000"/>
                </a:lnSpc>
                <a:spcBef>
                  <a:spcPct val="0"/>
                </a:spcBef>
                <a:spcAft>
                  <a:spcPct val="35000"/>
                </a:spcAft>
                <a:buNone/>
              </a:pPr>
              <a:r>
                <a:rPr lang="en-US" sz="2600" b="0" i="0" kern="1200" dirty="0"/>
                <a:t>compare profile universes with the full active universe</a:t>
              </a:r>
              <a:endParaRPr lang="en-US" sz="2600" kern="1200" dirty="0"/>
            </a:p>
          </p:txBody>
        </p:sp>
        <p:sp>
          <p:nvSpPr>
            <p:cNvPr id="12" name="Freeform: Shape 11">
              <a:extLst>
                <a:ext uri="{FF2B5EF4-FFF2-40B4-BE49-F238E27FC236}">
                  <a16:creationId xmlns:a16="http://schemas.microsoft.com/office/drawing/2014/main" id="{DA06E568-9AA0-58AD-C18F-7D9C61EA2AC8}"/>
                </a:ext>
              </a:extLst>
            </p:cNvPr>
            <p:cNvSpPr/>
            <p:nvPr/>
          </p:nvSpPr>
          <p:spPr>
            <a:xfrm>
              <a:off x="6335631" y="2449561"/>
              <a:ext cx="1635551" cy="1635551"/>
            </a:xfrm>
            <a:custGeom>
              <a:avLst/>
              <a:gdLst>
                <a:gd name="csX0" fmla="*/ 0 w 2094681"/>
                <a:gd name="csY0" fmla="*/ 1047341 h 2094681"/>
                <a:gd name="csX1" fmla="*/ 1047341 w 2094681"/>
                <a:gd name="csY1" fmla="*/ 0 h 2094681"/>
                <a:gd name="csX2" fmla="*/ 2094682 w 2094681"/>
                <a:gd name="csY2" fmla="*/ 1047341 h 2094681"/>
                <a:gd name="csX3" fmla="*/ 1047341 w 2094681"/>
                <a:gd name="csY3" fmla="*/ 2094682 h 2094681"/>
                <a:gd name="csX4" fmla="*/ 0 w 2094681"/>
                <a:gd name="csY4" fmla="*/ 1047341 h 2094681"/>
              </a:gdLst>
              <a:ahLst/>
              <a:cxnLst>
                <a:cxn ang="0">
                  <a:pos x="csX0" y="csY0"/>
                </a:cxn>
                <a:cxn ang="0">
                  <a:pos x="csX1" y="csY1"/>
                </a:cxn>
                <a:cxn ang="0">
                  <a:pos x="csX2" y="csY2"/>
                </a:cxn>
                <a:cxn ang="0">
                  <a:pos x="csX3" y="csY3"/>
                </a:cxn>
                <a:cxn ang="0">
                  <a:pos x="csX4" y="csY4"/>
                </a:cxn>
              </a:cxnLst>
              <a:rect l="l" t="t" r="r" b="b"/>
              <a:pathLst>
                <a:path w="2094681" h="2094681">
                  <a:moveTo>
                    <a:pt x="0" y="1047341"/>
                  </a:moveTo>
                  <a:cubicBezTo>
                    <a:pt x="0" y="468911"/>
                    <a:pt x="468911" y="0"/>
                    <a:pt x="1047341" y="0"/>
                  </a:cubicBezTo>
                  <a:cubicBezTo>
                    <a:pt x="1625771" y="0"/>
                    <a:pt x="2094682" y="468911"/>
                    <a:pt x="2094682" y="1047341"/>
                  </a:cubicBezTo>
                  <a:cubicBezTo>
                    <a:pt x="2094682" y="1625771"/>
                    <a:pt x="1625771" y="2094682"/>
                    <a:pt x="1047341" y="2094682"/>
                  </a:cubicBezTo>
                  <a:cubicBezTo>
                    <a:pt x="468911" y="2094682"/>
                    <a:pt x="0" y="1625771"/>
                    <a:pt x="0" y="1047341"/>
                  </a:cubicBezTo>
                  <a:close/>
                </a:path>
              </a:pathLst>
            </a:custGeom>
          </p:spPr>
          <p:style>
            <a:lnRef idx="3">
              <a:schemeClr val="lt1">
                <a:hueOff val="0"/>
                <a:satOff val="0"/>
                <a:lumOff val="0"/>
                <a:alphaOff val="0"/>
              </a:schemeClr>
            </a:lnRef>
            <a:fillRef idx="1">
              <a:schemeClr val="accent3">
                <a:hueOff val="0"/>
                <a:satOff val="0"/>
                <a:lumOff val="0"/>
                <a:alphaOff val="0"/>
              </a:schemeClr>
            </a:fillRef>
            <a:effectRef idx="1">
              <a:schemeClr val="accent3">
                <a:hueOff val="0"/>
                <a:satOff val="0"/>
                <a:lumOff val="0"/>
                <a:alphaOff val="0"/>
              </a:schemeClr>
            </a:effectRef>
            <a:fontRef idx="minor">
              <a:schemeClr val="lt1"/>
            </a:fontRef>
          </p:style>
          <p:txBody>
            <a:bodyPr spcFirstLastPara="0" vert="horz" wrap="square" lIns="306759" tIns="306759" rIns="306759" bIns="306759" numCol="1" spcCol="1270" anchor="ctr" anchorCtr="0">
              <a:noAutofit/>
            </a:bodyPr>
            <a:lstStyle/>
            <a:p>
              <a:pPr marL="0" lvl="0" indent="0" algn="ctr" defTabSz="2311400">
                <a:lnSpc>
                  <a:spcPct val="90000"/>
                </a:lnSpc>
                <a:spcBef>
                  <a:spcPct val="0"/>
                </a:spcBef>
                <a:spcAft>
                  <a:spcPct val="35000"/>
                </a:spcAft>
                <a:buNone/>
              </a:pPr>
              <a:r>
                <a:rPr lang="en-US" sz="3600" kern="1200" dirty="0"/>
                <a:t>Stage 2</a:t>
              </a:r>
            </a:p>
          </p:txBody>
        </p:sp>
      </p:grpSp>
      <p:sp>
        <p:nvSpPr>
          <p:cNvPr id="6" name="Rectangle 5">
            <a:extLst>
              <a:ext uri="{FF2B5EF4-FFF2-40B4-BE49-F238E27FC236}">
                <a16:creationId xmlns:a16="http://schemas.microsoft.com/office/drawing/2014/main" id="{A9BDA3D6-C967-B8E8-2D4A-F66F6E3C0212}"/>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21D48F79-F52D-B7D7-4058-64FFC71D4612}"/>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9682387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15A5-7F2E-112D-E47C-2FE80C94359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E14B2536-ECA8-EC81-8CFA-0D628B138722}"/>
              </a:ext>
            </a:extLst>
          </p:cNvPr>
          <p:cNvSpPr/>
          <p:nvPr/>
        </p:nvSpPr>
        <p:spPr>
          <a:xfrm rot="5400000">
            <a:off x="2587337" y="-2587332"/>
            <a:ext cx="6857999" cy="12032677"/>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1544701C-F628-6F3F-F940-B52C93C2A22F}"/>
              </a:ext>
            </a:extLst>
          </p:cNvPr>
          <p:cNvSpPr>
            <a:spLocks noGrp="1"/>
          </p:cNvSpPr>
          <p:nvPr>
            <p:ph type="ctrTitle"/>
          </p:nvPr>
        </p:nvSpPr>
        <p:spPr/>
        <p:txBody>
          <a:bodyPr/>
          <a:lstStyle/>
          <a:p>
            <a:r>
              <a:rPr lang="en-US" dirty="0"/>
              <a:t>Results</a:t>
            </a:r>
          </a:p>
        </p:txBody>
      </p:sp>
      <p:sp>
        <p:nvSpPr>
          <p:cNvPr id="3" name="Slide Number Placeholder 2">
            <a:extLst>
              <a:ext uri="{FF2B5EF4-FFF2-40B4-BE49-F238E27FC236}">
                <a16:creationId xmlns:a16="http://schemas.microsoft.com/office/drawing/2014/main" id="{253B747F-2A86-5BCD-3D7C-3E55DC07C81B}"/>
              </a:ext>
            </a:extLst>
          </p:cNvPr>
          <p:cNvSpPr>
            <a:spLocks noGrp="1"/>
          </p:cNvSpPr>
          <p:nvPr>
            <p:ph type="sldNum" sz="quarter" idx="12"/>
          </p:nvPr>
        </p:nvSpPr>
        <p:spPr/>
        <p:txBody>
          <a:bodyPr/>
          <a:lstStyle/>
          <a:p>
            <a:fld id="{1370230A-709D-4205-8636-A3280FD27E74}" type="slidenum">
              <a:rPr lang="en-US" smtClean="0"/>
              <a:t>35</a:t>
            </a:fld>
            <a:endParaRPr lang="en-US"/>
          </a:p>
        </p:txBody>
      </p:sp>
      <p:sp>
        <p:nvSpPr>
          <p:cNvPr id="9" name="Rectangle 8">
            <a:extLst>
              <a:ext uri="{FF2B5EF4-FFF2-40B4-BE49-F238E27FC236}">
                <a16:creationId xmlns:a16="http://schemas.microsoft.com/office/drawing/2014/main" id="{42830F7D-8751-F5D7-1627-87D68BE83F14}"/>
              </a:ext>
            </a:extLst>
          </p:cNvPr>
          <p:cNvSpPr/>
          <p:nvPr/>
        </p:nvSpPr>
        <p:spPr>
          <a:xfrm rot="5400000">
            <a:off x="8657014"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4" name="Straight Connector 3">
            <a:extLst>
              <a:ext uri="{FF2B5EF4-FFF2-40B4-BE49-F238E27FC236}">
                <a16:creationId xmlns:a16="http://schemas.microsoft.com/office/drawing/2014/main" id="{2750F8D5-BBD4-82EB-75DD-505AB8341A3E}"/>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6975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63674-5DE0-20CA-0FE9-47D472065CDE}"/>
            </a:ext>
          </a:extLst>
        </p:cNvPr>
        <p:cNvGrpSpPr/>
        <p:nvPr/>
      </p:nvGrpSpPr>
      <p:grpSpPr>
        <a:xfrm>
          <a:off x="0" y="0"/>
          <a:ext cx="0" cy="0"/>
          <a:chOff x="0" y="0"/>
          <a:chExt cx="0" cy="0"/>
        </a:xfrm>
      </p:grpSpPr>
      <p:pic>
        <p:nvPicPr>
          <p:cNvPr id="5" name="Picture 4" descr="Transparent rank-alignment figure without title">
            <a:extLst>
              <a:ext uri="{FF2B5EF4-FFF2-40B4-BE49-F238E27FC236}">
                <a16:creationId xmlns:a16="http://schemas.microsoft.com/office/drawing/2014/main" id="{7084A535-AB1C-9913-09E7-690A28660CC1}"/>
              </a:ext>
            </a:extLst>
          </p:cNvPr>
          <p:cNvPicPr>
            <a:picLocks noChangeAspect="1"/>
          </p:cNvPicPr>
          <p:nvPr/>
        </p:nvPicPr>
        <p:blipFill>
          <a:blip r:embed="rId3"/>
          <a:stretch>
            <a:fillRect/>
          </a:stretch>
        </p:blipFill>
        <p:spPr>
          <a:xfrm>
            <a:off x="3362067" y="1905000"/>
            <a:ext cx="5498469" cy="4346145"/>
          </a:xfrm>
          <a:prstGeom prst="rect">
            <a:avLst/>
          </a:prstGeom>
        </p:spPr>
      </p:pic>
      <p:sp>
        <p:nvSpPr>
          <p:cNvPr id="2" name="Title 1">
            <a:extLst>
              <a:ext uri="{FF2B5EF4-FFF2-40B4-BE49-F238E27FC236}">
                <a16:creationId xmlns:a16="http://schemas.microsoft.com/office/drawing/2014/main" id="{D1AB6A65-814F-D5B0-BA17-9B2667BFC20B}"/>
              </a:ext>
            </a:extLst>
          </p:cNvPr>
          <p:cNvSpPr>
            <a:spLocks noGrp="1"/>
          </p:cNvSpPr>
          <p:nvPr>
            <p:ph type="title"/>
          </p:nvPr>
        </p:nvSpPr>
        <p:spPr/>
        <p:txBody>
          <a:bodyPr/>
          <a:lstStyle/>
          <a:p>
            <a:r>
              <a:rPr lang="en-US" dirty="0"/>
              <a:t>Ranking Quality</a:t>
            </a:r>
          </a:p>
        </p:txBody>
      </p:sp>
      <p:sp>
        <p:nvSpPr>
          <p:cNvPr id="4" name="Slide Number Placeholder 3">
            <a:extLst>
              <a:ext uri="{FF2B5EF4-FFF2-40B4-BE49-F238E27FC236}">
                <a16:creationId xmlns:a16="http://schemas.microsoft.com/office/drawing/2014/main" id="{7799C7BA-C4B8-BBB1-124C-EBD24C0E9E84}"/>
              </a:ext>
            </a:extLst>
          </p:cNvPr>
          <p:cNvSpPr>
            <a:spLocks noGrp="1"/>
          </p:cNvSpPr>
          <p:nvPr>
            <p:ph type="sldNum" sz="quarter" idx="12"/>
          </p:nvPr>
        </p:nvSpPr>
        <p:spPr/>
        <p:txBody>
          <a:bodyPr/>
          <a:lstStyle/>
          <a:p>
            <a:fld id="{1370230A-709D-4205-8636-A3280FD27E74}" type="slidenum">
              <a:rPr lang="en-US" smtClean="0"/>
              <a:t>36</a:t>
            </a:fld>
            <a:endParaRPr lang="en-US"/>
          </a:p>
        </p:txBody>
      </p:sp>
      <p:sp>
        <p:nvSpPr>
          <p:cNvPr id="6" name="Rectangle 5">
            <a:extLst>
              <a:ext uri="{FF2B5EF4-FFF2-40B4-BE49-F238E27FC236}">
                <a16:creationId xmlns:a16="http://schemas.microsoft.com/office/drawing/2014/main" id="{BEF09A94-88DB-DACE-40EA-8F7007B66C17}"/>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D38F5017-6895-12B4-CA1B-C74D895CA3EA}"/>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5" name="Content Placeholder 34">
            <a:extLst>
              <a:ext uri="{FF2B5EF4-FFF2-40B4-BE49-F238E27FC236}">
                <a16:creationId xmlns:a16="http://schemas.microsoft.com/office/drawing/2014/main" id="{E785BC03-083F-03CE-9393-22EB400080ED}"/>
              </a:ext>
            </a:extLst>
          </p:cNvPr>
          <p:cNvSpPr>
            <a:spLocks noGrp="1"/>
          </p:cNvSpPr>
          <p:nvPr>
            <p:ph idx="13"/>
          </p:nvPr>
        </p:nvSpPr>
        <p:spPr/>
        <p:txBody>
          <a:bodyPr/>
          <a:lstStyle/>
          <a:p>
            <a:pPr>
              <a:buFont typeface="Courier New" panose="02070309020205020404" pitchFamily="49" charset="0"/>
              <a:buChar char="o"/>
            </a:pPr>
            <a:r>
              <a:rPr lang="en-US" dirty="0"/>
              <a:t> Mean reward: 0.75</a:t>
            </a:r>
          </a:p>
          <a:p>
            <a:pPr>
              <a:buFont typeface="Courier New" panose="02070309020205020404" pitchFamily="49" charset="0"/>
              <a:buChar char="o"/>
            </a:pPr>
            <a:r>
              <a:rPr lang="en-US" dirty="0"/>
              <a:t> Mean Spearman correlation: 0.67</a:t>
            </a:r>
          </a:p>
          <a:p>
            <a:pPr>
              <a:buFont typeface="Courier New" panose="02070309020205020404" pitchFamily="49" charset="0"/>
              <a:buChar char="o"/>
            </a:pPr>
            <a:r>
              <a:rPr lang="en-US" dirty="0"/>
              <a:t> Predicted rankings meaningfully align with realized-risk rankings</a:t>
            </a:r>
          </a:p>
        </p:txBody>
      </p:sp>
    </p:spTree>
    <p:extLst>
      <p:ext uri="{BB962C8B-B14F-4D97-AF65-F5344CB8AC3E}">
        <p14:creationId xmlns:p14="http://schemas.microsoft.com/office/powerpoint/2010/main" val="342062738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5">
                                            <p:txEl>
                                              <p:pRg st="0" end="0"/>
                                            </p:txEl>
                                          </p:spTgt>
                                        </p:tgtEl>
                                      </p:cBhvr>
                                    </p:animEffect>
                                    <p:set>
                                      <p:cBhvr>
                                        <p:cTn id="7" dur="1" fill="hold">
                                          <p:stCondLst>
                                            <p:cond delay="499"/>
                                          </p:stCondLst>
                                        </p:cTn>
                                        <p:tgtEl>
                                          <p:spTgt spid="35">
                                            <p:txEl>
                                              <p:pRg st="0" end="0"/>
                                            </p:txEl>
                                          </p:spTgt>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35">
                                            <p:txEl>
                                              <p:pRg st="1" end="1"/>
                                            </p:txEl>
                                          </p:spTgt>
                                        </p:tgtEl>
                                      </p:cBhvr>
                                    </p:animEffect>
                                    <p:set>
                                      <p:cBhvr>
                                        <p:cTn id="10" dur="1" fill="hold">
                                          <p:stCondLst>
                                            <p:cond delay="499"/>
                                          </p:stCondLst>
                                        </p:cTn>
                                        <p:tgtEl>
                                          <p:spTgt spid="35">
                                            <p:txEl>
                                              <p:pRg st="1" end="1"/>
                                            </p:txEl>
                                          </p:spTgt>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12" dur="500"/>
                                        <p:tgtEl>
                                          <p:spTgt spid="35">
                                            <p:txEl>
                                              <p:pRg st="2" end="2"/>
                                            </p:txEl>
                                          </p:spTgt>
                                        </p:tgtEl>
                                      </p:cBhvr>
                                    </p:animEffect>
                                    <p:set>
                                      <p:cBhvr>
                                        <p:cTn id="13" dur="1" fill="hold">
                                          <p:stCondLst>
                                            <p:cond delay="499"/>
                                          </p:stCondLst>
                                        </p:cTn>
                                        <p:tgtEl>
                                          <p:spTgt spid="35">
                                            <p:txEl>
                                              <p:pRg st="2" end="2"/>
                                            </p:txEl>
                                          </p:spTgt>
                                        </p:tgtEl>
                                        <p:attrNameLst>
                                          <p:attrName>style.visibility</p:attrName>
                                        </p:attrNameLst>
                                      </p:cBhvr>
                                      <p:to>
                                        <p:strVal val="hidden"/>
                                      </p:to>
                                    </p:set>
                                  </p:childTnLst>
                                </p:cTn>
                              </p:par>
                              <p:par>
                                <p:cTn id="14" presetID="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58EC8-24B5-7FA3-1936-5089DDD0039D}"/>
              </a:ext>
            </a:extLst>
          </p:cNvPr>
          <p:cNvSpPr>
            <a:spLocks noGrp="1"/>
          </p:cNvSpPr>
          <p:nvPr>
            <p:ph type="title"/>
          </p:nvPr>
        </p:nvSpPr>
        <p:spPr/>
        <p:txBody>
          <a:bodyPr/>
          <a:lstStyle/>
          <a:p>
            <a:r>
              <a:rPr lang="en-US" dirty="0"/>
              <a:t>Risk Separation</a:t>
            </a:r>
          </a:p>
        </p:txBody>
      </p:sp>
      <p:sp>
        <p:nvSpPr>
          <p:cNvPr id="4" name="Slide Number Placeholder 3">
            <a:extLst>
              <a:ext uri="{FF2B5EF4-FFF2-40B4-BE49-F238E27FC236}">
                <a16:creationId xmlns:a16="http://schemas.microsoft.com/office/drawing/2014/main" id="{8B8E5BC4-0926-59FA-A9AF-74C4FBA7225B}"/>
              </a:ext>
            </a:extLst>
          </p:cNvPr>
          <p:cNvSpPr>
            <a:spLocks noGrp="1"/>
          </p:cNvSpPr>
          <p:nvPr>
            <p:ph type="sldNum" sz="quarter" idx="12"/>
          </p:nvPr>
        </p:nvSpPr>
        <p:spPr/>
        <p:txBody>
          <a:bodyPr/>
          <a:lstStyle/>
          <a:p>
            <a:fld id="{1370230A-709D-4205-8636-A3280FD27E74}" type="slidenum">
              <a:rPr lang="en-US" smtClean="0"/>
              <a:t>37</a:t>
            </a:fld>
            <a:endParaRPr lang="en-US"/>
          </a:p>
        </p:txBody>
      </p:sp>
      <p:sp>
        <p:nvSpPr>
          <p:cNvPr id="5" name="TextBox 4">
            <a:extLst>
              <a:ext uri="{FF2B5EF4-FFF2-40B4-BE49-F238E27FC236}">
                <a16:creationId xmlns:a16="http://schemas.microsoft.com/office/drawing/2014/main" id="{D4326A8D-26C5-4441-AB1B-1494BCB00801}"/>
              </a:ext>
            </a:extLst>
          </p:cNvPr>
          <p:cNvSpPr txBox="1"/>
          <p:nvPr/>
        </p:nvSpPr>
        <p:spPr>
          <a:xfrm>
            <a:off x="1600200" y="1955800"/>
            <a:ext cx="9499600" cy="304800"/>
          </a:xfrm>
          <a:prstGeom prst="rect">
            <a:avLst/>
          </a:prstGeom>
          <a:noFill/>
        </p:spPr>
        <p:txBody>
          <a:bodyPr vertOverflow="overflow" vert="horz" wrap="square" rtlCol="0" anchor="t">
            <a:noAutofit/>
          </a:bodyPr>
          <a:lstStyle/>
          <a:p>
            <a:pPr algn="l"/>
            <a:r>
              <a:rPr lang="en-US" sz="1450" dirty="0">
                <a:solidFill>
                  <a:srgbClr val="071426"/>
                </a:solidFill>
                <a:latin typeface="Aptos Display"/>
              </a:rPr>
              <a:t>Conservative, Full Universe, Balanced, and Aggressive universes mean realized risk across testing period</a:t>
            </a:r>
          </a:p>
        </p:txBody>
      </p:sp>
      <p:sp>
        <p:nvSpPr>
          <p:cNvPr id="6" name="TextBox 5">
            <a:extLst>
              <a:ext uri="{FF2B5EF4-FFF2-40B4-BE49-F238E27FC236}">
                <a16:creationId xmlns:a16="http://schemas.microsoft.com/office/drawing/2014/main" id="{C849853A-F912-4AD9-B127-C5CFD8C143FA}"/>
              </a:ext>
            </a:extLst>
          </p:cNvPr>
          <p:cNvSpPr txBox="1"/>
          <p:nvPr/>
        </p:nvSpPr>
        <p:spPr>
          <a:xfrm>
            <a:off x="1600200" y="5969000"/>
            <a:ext cx="9499600" cy="228600"/>
          </a:xfrm>
          <a:prstGeom prst="rect">
            <a:avLst/>
          </a:prstGeom>
          <a:noFill/>
        </p:spPr>
        <p:txBody>
          <a:bodyPr vertOverflow="overflow" vert="horz" wrap="square" rtlCol="0" anchor="t">
            <a:noAutofit/>
          </a:bodyPr>
          <a:lstStyle/>
          <a:p>
            <a:pPr algn="l"/>
            <a:r>
              <a:rPr lang="en-US" sz="950" dirty="0">
                <a:solidFill>
                  <a:srgbClr val="44546A"/>
                </a:solidFill>
                <a:latin typeface="Aptos Display"/>
              </a:rPr>
              <a:t>Monotonic ordering held in 11 of 11 test months.</a:t>
            </a:r>
          </a:p>
        </p:txBody>
      </p:sp>
      <p:graphicFrame>
        <p:nvGraphicFramePr>
          <p:cNvPr id="7" name="Restored risk separation chart"/>
          <p:cNvGraphicFramePr/>
          <p:nvPr/>
        </p:nvGraphicFramePr>
        <p:xfrm>
          <a:off x="1600200" y="2565400"/>
          <a:ext cx="9499600" cy="30988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18493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E1B7F-8345-7D68-AD20-A4736C36E6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BA707-3F67-90D9-987D-70286401A8AF}"/>
              </a:ext>
            </a:extLst>
          </p:cNvPr>
          <p:cNvSpPr>
            <a:spLocks noGrp="1"/>
          </p:cNvSpPr>
          <p:nvPr>
            <p:ph type="title"/>
          </p:nvPr>
        </p:nvSpPr>
        <p:spPr/>
        <p:txBody>
          <a:bodyPr/>
          <a:lstStyle/>
          <a:p>
            <a:r>
              <a:rPr lang="en-US" dirty="0"/>
              <a:t>Return Separation</a:t>
            </a:r>
          </a:p>
        </p:txBody>
      </p:sp>
      <p:sp>
        <p:nvSpPr>
          <p:cNvPr id="4" name="Slide Number Placeholder 3">
            <a:extLst>
              <a:ext uri="{FF2B5EF4-FFF2-40B4-BE49-F238E27FC236}">
                <a16:creationId xmlns:a16="http://schemas.microsoft.com/office/drawing/2014/main" id="{B376CD98-5B1A-0E15-DB2C-4414F5C37CD0}"/>
              </a:ext>
            </a:extLst>
          </p:cNvPr>
          <p:cNvSpPr>
            <a:spLocks noGrp="1"/>
          </p:cNvSpPr>
          <p:nvPr>
            <p:ph type="sldNum" sz="quarter" idx="12"/>
          </p:nvPr>
        </p:nvSpPr>
        <p:spPr/>
        <p:txBody>
          <a:bodyPr/>
          <a:lstStyle/>
          <a:p>
            <a:fld id="{1370230A-709D-4205-8636-A3280FD27E74}" type="slidenum">
              <a:rPr lang="en-US" smtClean="0"/>
              <a:t>38</a:t>
            </a:fld>
            <a:endParaRPr lang="en-US"/>
          </a:p>
        </p:txBody>
      </p:sp>
      <p:sp>
        <p:nvSpPr>
          <p:cNvPr id="3" name="Content Placeholder 2">
            <a:extLst>
              <a:ext uri="{FF2B5EF4-FFF2-40B4-BE49-F238E27FC236}">
                <a16:creationId xmlns:a16="http://schemas.microsoft.com/office/drawing/2014/main" id="{D588E94A-8995-E0EA-5E63-2FD72CAABF92}"/>
              </a:ext>
            </a:extLst>
          </p:cNvPr>
          <p:cNvSpPr>
            <a:spLocks noGrp="1"/>
          </p:cNvSpPr>
          <p:nvPr>
            <p:ph idx="13"/>
          </p:nvPr>
        </p:nvSpPr>
        <p:spPr/>
        <p:txBody>
          <a:bodyPr/>
          <a:lstStyle/>
          <a:p>
            <a:endParaRPr lang="en-US"/>
          </a:p>
        </p:txBody>
      </p:sp>
      <p:sp>
        <p:nvSpPr>
          <p:cNvPr id="5" name="TextBox 4">
            <a:extLst>
              <a:ext uri="{FF2B5EF4-FFF2-40B4-BE49-F238E27FC236}">
                <a16:creationId xmlns:a16="http://schemas.microsoft.com/office/drawing/2014/main" id="{8C7B7F69-FBEB-45C4-9A06-0587D552249B}"/>
              </a:ext>
            </a:extLst>
          </p:cNvPr>
          <p:cNvSpPr txBox="1"/>
          <p:nvPr/>
        </p:nvSpPr>
        <p:spPr>
          <a:xfrm>
            <a:off x="1600200" y="1955800"/>
            <a:ext cx="9499600" cy="304800"/>
          </a:xfrm>
          <a:prstGeom prst="rect">
            <a:avLst/>
          </a:prstGeom>
          <a:noFill/>
        </p:spPr>
        <p:txBody>
          <a:bodyPr vertOverflow="overflow" vert="horz" wrap="square" rtlCol="0" anchor="t">
            <a:noAutofit/>
          </a:bodyPr>
          <a:lstStyle/>
          <a:p>
            <a:pPr algn="l"/>
            <a:r>
              <a:rPr lang="en-US" sz="1450" dirty="0">
                <a:solidFill>
                  <a:srgbClr val="071426"/>
                </a:solidFill>
                <a:latin typeface="Aptos Display"/>
              </a:rPr>
              <a:t>Return diagnostics used to compare returns against the Full Universe benchmark under the equal-weight allocation rule.</a:t>
            </a:r>
          </a:p>
        </p:txBody>
      </p:sp>
      <p:graphicFrame>
        <p:nvGraphicFramePr>
          <p:cNvPr id="7" name="Restored economic diagnostic histogram"/>
          <p:cNvGraphicFramePr/>
          <p:nvPr>
            <p:extLst>
              <p:ext uri="{D42A27DB-BD31-4B8C-83A1-F6EECF244321}">
                <p14:modId xmlns:p14="http://schemas.microsoft.com/office/powerpoint/2010/main" val="2747031575"/>
              </p:ext>
            </p:extLst>
          </p:nvPr>
        </p:nvGraphicFramePr>
        <p:xfrm>
          <a:off x="1600200" y="2565400"/>
          <a:ext cx="9499600" cy="3098800"/>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a:extLst>
              <a:ext uri="{FF2B5EF4-FFF2-40B4-BE49-F238E27FC236}">
                <a16:creationId xmlns:a16="http://schemas.microsoft.com/office/drawing/2014/main" id="{6DCC73FD-21DD-6FE6-D2D4-5C34DFF31CC9}"/>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8" name="Rectangle 7">
            <a:extLst>
              <a:ext uri="{FF2B5EF4-FFF2-40B4-BE49-F238E27FC236}">
                <a16:creationId xmlns:a16="http://schemas.microsoft.com/office/drawing/2014/main" id="{5DAECD11-086C-E3BE-CFC9-E50394FC768B}"/>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53038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AAB5DB-24D8-D1AE-E3A5-09372C4AB7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DD4CA9-F0FC-5ACE-28E7-FEF4BC5F854C}"/>
              </a:ext>
            </a:extLst>
          </p:cNvPr>
          <p:cNvSpPr>
            <a:spLocks noGrp="1"/>
          </p:cNvSpPr>
          <p:nvPr>
            <p:ph type="title"/>
          </p:nvPr>
        </p:nvSpPr>
        <p:spPr/>
        <p:txBody>
          <a:bodyPr/>
          <a:lstStyle/>
          <a:p>
            <a:r>
              <a:rPr lang="en-US" dirty="0"/>
              <a:t>Baseline Comparison</a:t>
            </a:r>
          </a:p>
        </p:txBody>
      </p:sp>
      <p:sp>
        <p:nvSpPr>
          <p:cNvPr id="4" name="Slide Number Placeholder 3">
            <a:extLst>
              <a:ext uri="{FF2B5EF4-FFF2-40B4-BE49-F238E27FC236}">
                <a16:creationId xmlns:a16="http://schemas.microsoft.com/office/drawing/2014/main" id="{C402A42C-5C49-66F5-FFDE-73431AA4CE65}"/>
              </a:ext>
            </a:extLst>
          </p:cNvPr>
          <p:cNvSpPr>
            <a:spLocks noGrp="1"/>
          </p:cNvSpPr>
          <p:nvPr>
            <p:ph type="sldNum" sz="quarter" idx="12"/>
          </p:nvPr>
        </p:nvSpPr>
        <p:spPr/>
        <p:txBody>
          <a:bodyPr/>
          <a:lstStyle/>
          <a:p>
            <a:fld id="{1370230A-709D-4205-8636-A3280FD27E74}" type="slidenum">
              <a:rPr lang="en-US" smtClean="0"/>
              <a:t>39</a:t>
            </a:fld>
            <a:endParaRPr lang="en-US"/>
          </a:p>
        </p:txBody>
      </p:sp>
      <p:sp>
        <p:nvSpPr>
          <p:cNvPr id="6" name="Rectangle 5">
            <a:extLst>
              <a:ext uri="{FF2B5EF4-FFF2-40B4-BE49-F238E27FC236}">
                <a16:creationId xmlns:a16="http://schemas.microsoft.com/office/drawing/2014/main" id="{5AD70B5F-48C9-83BF-E364-ABCFE597276C}"/>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D6BD6CDF-5287-B242-E27D-70C130C9F2E7}"/>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Box 2">
            <a:extLst>
              <a:ext uri="{FF2B5EF4-FFF2-40B4-BE49-F238E27FC236}">
                <a16:creationId xmlns:a16="http://schemas.microsoft.com/office/drawing/2014/main" id="{4D1559CF-3E95-B0A8-03E4-D4DC78ADA7CF}"/>
              </a:ext>
            </a:extLst>
          </p:cNvPr>
          <p:cNvSpPr txBox="1"/>
          <p:nvPr/>
        </p:nvSpPr>
        <p:spPr>
          <a:xfrm>
            <a:off x="1151233" y="1800678"/>
            <a:ext cx="8890000" cy="939800"/>
          </a:xfrm>
          <a:prstGeom prst="rect">
            <a:avLst/>
          </a:prstGeom>
          <a:noFill/>
        </p:spPr>
        <p:txBody>
          <a:bodyPr vertOverflow="overflow" vert="horz" wrap="square" rtlCol="0" anchor="t">
            <a:noAutofit/>
          </a:bodyPr>
          <a:lstStyle/>
          <a:p>
            <a:r>
              <a:rPr lang="en-US" dirty="0"/>
              <a:t>The baseline used is full active universe without filtering</a:t>
            </a:r>
          </a:p>
          <a:p>
            <a:pPr algn="l"/>
            <a:endParaRPr lang="en-US" sz="1400" dirty="0">
              <a:solidFill>
                <a:srgbClr val="071426"/>
              </a:solidFill>
              <a:latin typeface="+mj-lt"/>
            </a:endParaRPr>
          </a:p>
        </p:txBody>
      </p:sp>
      <p:sp>
        <p:nvSpPr>
          <p:cNvPr id="8" name="Rectangle 7">
            <a:extLst>
              <a:ext uri="{FF2B5EF4-FFF2-40B4-BE49-F238E27FC236}">
                <a16:creationId xmlns:a16="http://schemas.microsoft.com/office/drawing/2014/main" id="{024634D3-1727-F77C-DD84-9C41A277DEF3}"/>
              </a:ext>
            </a:extLst>
          </p:cNvPr>
          <p:cNvSpPr/>
          <p:nvPr/>
        </p:nvSpPr>
        <p:spPr>
          <a:xfrm>
            <a:off x="6088380" y="3109243"/>
            <a:ext cx="15240" cy="2133600"/>
          </a:xfrm>
          <a:prstGeom prst="rect">
            <a:avLst/>
          </a:prstGeom>
          <a:solidFill>
            <a:srgbClr val="07142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Oval 8">
            <a:extLst>
              <a:ext uri="{FF2B5EF4-FFF2-40B4-BE49-F238E27FC236}">
                <a16:creationId xmlns:a16="http://schemas.microsoft.com/office/drawing/2014/main" id="{20E7D9B9-DB3F-D209-39D6-C265C3BA9B71}"/>
              </a:ext>
            </a:extLst>
          </p:cNvPr>
          <p:cNvSpPr/>
          <p:nvPr/>
        </p:nvSpPr>
        <p:spPr>
          <a:xfrm>
            <a:off x="1304849" y="3609526"/>
            <a:ext cx="69850" cy="69850"/>
          </a:xfrm>
          <a:prstGeom prst="ellipse">
            <a:avLst/>
          </a:prstGeom>
          <a:solidFill>
            <a:srgbClr val="00F00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4D30760F-32C3-DB6C-2CDA-FC44ECA5DE9C}"/>
              </a:ext>
            </a:extLst>
          </p:cNvPr>
          <p:cNvSpPr txBox="1"/>
          <p:nvPr/>
        </p:nvSpPr>
        <p:spPr>
          <a:xfrm>
            <a:off x="1462378" y="3450776"/>
            <a:ext cx="4543859" cy="457200"/>
          </a:xfrm>
          <a:prstGeom prst="rect">
            <a:avLst/>
          </a:prstGeom>
          <a:noFill/>
        </p:spPr>
        <p:txBody>
          <a:bodyPr vertOverflow="overflow" vert="horz" wrap="square" rtlCol="0" anchor="t">
            <a:noAutofit/>
          </a:bodyPr>
          <a:lstStyle/>
          <a:p>
            <a:pPr algn="l"/>
            <a:r>
              <a:rPr lang="en-US" sz="2050" b="1" dirty="0">
                <a:solidFill>
                  <a:srgbClr val="071426"/>
                </a:solidFill>
                <a:latin typeface="Aptos Display"/>
              </a:rPr>
              <a:t>Conservative Universe</a:t>
            </a:r>
          </a:p>
        </p:txBody>
      </p:sp>
      <p:sp>
        <p:nvSpPr>
          <p:cNvPr id="11" name="TextBox 10">
            <a:extLst>
              <a:ext uri="{FF2B5EF4-FFF2-40B4-BE49-F238E27FC236}">
                <a16:creationId xmlns:a16="http://schemas.microsoft.com/office/drawing/2014/main" id="{D0388CC8-89AC-ACD4-62C8-BA4E0DD05BAC}"/>
              </a:ext>
            </a:extLst>
          </p:cNvPr>
          <p:cNvSpPr txBox="1"/>
          <p:nvPr/>
        </p:nvSpPr>
        <p:spPr>
          <a:xfrm>
            <a:off x="1490622" y="4062320"/>
            <a:ext cx="4038600" cy="787400"/>
          </a:xfrm>
          <a:prstGeom prst="rect">
            <a:avLst/>
          </a:prstGeom>
          <a:noFill/>
        </p:spPr>
        <p:txBody>
          <a:bodyPr vertOverflow="overflow" vert="horz" wrap="square" rtlCol="0" anchor="t">
            <a:noAutofit/>
          </a:bodyPr>
          <a:lstStyle/>
          <a:p>
            <a:r>
              <a:rPr lang="en-US" sz="1750" dirty="0">
                <a:solidFill>
                  <a:srgbClr val="111827"/>
                </a:solidFill>
                <a:latin typeface="Aptos Display"/>
              </a:rPr>
              <a:t>Reduced mean realized risk by </a:t>
            </a:r>
            <a:r>
              <a:rPr lang="en-US" sz="1750" b="1" dirty="0">
                <a:solidFill>
                  <a:srgbClr val="111827"/>
                </a:solidFill>
                <a:latin typeface="Aptos Display"/>
              </a:rPr>
              <a:t>52.2%</a:t>
            </a:r>
          </a:p>
        </p:txBody>
      </p:sp>
      <p:sp>
        <p:nvSpPr>
          <p:cNvPr id="12" name="Oval 11">
            <a:extLst>
              <a:ext uri="{FF2B5EF4-FFF2-40B4-BE49-F238E27FC236}">
                <a16:creationId xmlns:a16="http://schemas.microsoft.com/office/drawing/2014/main" id="{D17038CF-7CFD-98B4-BA8B-12035E3096DB}"/>
              </a:ext>
            </a:extLst>
          </p:cNvPr>
          <p:cNvSpPr/>
          <p:nvPr/>
        </p:nvSpPr>
        <p:spPr>
          <a:xfrm>
            <a:off x="6662778" y="3609526"/>
            <a:ext cx="69850" cy="69850"/>
          </a:xfrm>
          <a:prstGeom prst="ellipse">
            <a:avLst/>
          </a:prstGeom>
          <a:solidFill>
            <a:srgbClr val="00F00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BD77314C-43F1-AAC9-E3F9-73992799B1CE}"/>
              </a:ext>
            </a:extLst>
          </p:cNvPr>
          <p:cNvSpPr txBox="1"/>
          <p:nvPr/>
        </p:nvSpPr>
        <p:spPr>
          <a:xfrm>
            <a:off x="6896913" y="3450776"/>
            <a:ext cx="4114800" cy="457200"/>
          </a:xfrm>
          <a:prstGeom prst="rect">
            <a:avLst/>
          </a:prstGeom>
          <a:noFill/>
        </p:spPr>
        <p:txBody>
          <a:bodyPr vertOverflow="overflow" vert="horz" wrap="square" rtlCol="0" anchor="t">
            <a:noAutofit/>
          </a:bodyPr>
          <a:lstStyle/>
          <a:p>
            <a:pPr algn="l"/>
            <a:r>
              <a:rPr lang="en-US" sz="2050" b="1" dirty="0">
                <a:solidFill>
                  <a:srgbClr val="071426"/>
                </a:solidFill>
                <a:latin typeface="Aptos Display"/>
              </a:rPr>
              <a:t>Aggressive Universe</a:t>
            </a:r>
          </a:p>
        </p:txBody>
      </p:sp>
      <p:sp>
        <p:nvSpPr>
          <p:cNvPr id="14" name="TextBox 13">
            <a:extLst>
              <a:ext uri="{FF2B5EF4-FFF2-40B4-BE49-F238E27FC236}">
                <a16:creationId xmlns:a16="http://schemas.microsoft.com/office/drawing/2014/main" id="{6A3C0EC3-1C53-6214-362F-7277ADDFE503}"/>
              </a:ext>
            </a:extLst>
          </p:cNvPr>
          <p:cNvSpPr txBox="1"/>
          <p:nvPr/>
        </p:nvSpPr>
        <p:spPr>
          <a:xfrm>
            <a:off x="6990080" y="4739133"/>
            <a:ext cx="4165600" cy="787400"/>
          </a:xfrm>
          <a:prstGeom prst="rect">
            <a:avLst/>
          </a:prstGeom>
          <a:noFill/>
        </p:spPr>
        <p:txBody>
          <a:bodyPr vertOverflow="overflow" vert="horz" wrap="square" rtlCol="0" anchor="t">
            <a:noAutofit/>
          </a:bodyPr>
          <a:lstStyle/>
          <a:p>
            <a:pPr algn="l"/>
            <a:r>
              <a:rPr lang="en-US" sz="1750" dirty="0">
                <a:solidFill>
                  <a:srgbClr val="111827"/>
                </a:solidFill>
                <a:latin typeface="Aptos Display"/>
              </a:rPr>
              <a:t>Higher historical cumulative return by </a:t>
            </a:r>
            <a:r>
              <a:rPr lang="en-US" sz="1750" b="1" dirty="0">
                <a:solidFill>
                  <a:srgbClr val="111827"/>
                </a:solidFill>
                <a:latin typeface="Aptos Display"/>
              </a:rPr>
              <a:t>73.9%</a:t>
            </a:r>
          </a:p>
        </p:txBody>
      </p:sp>
      <p:sp>
        <p:nvSpPr>
          <p:cNvPr id="15" name="TextBox 14">
            <a:extLst>
              <a:ext uri="{FF2B5EF4-FFF2-40B4-BE49-F238E27FC236}">
                <a16:creationId xmlns:a16="http://schemas.microsoft.com/office/drawing/2014/main" id="{83B35185-1DB8-3AAD-BE6D-573BF6B1B0DE}"/>
              </a:ext>
            </a:extLst>
          </p:cNvPr>
          <p:cNvSpPr txBox="1"/>
          <p:nvPr/>
        </p:nvSpPr>
        <p:spPr>
          <a:xfrm>
            <a:off x="6990080" y="4062320"/>
            <a:ext cx="4165600" cy="787400"/>
          </a:xfrm>
          <a:prstGeom prst="rect">
            <a:avLst/>
          </a:prstGeom>
          <a:noFill/>
        </p:spPr>
        <p:txBody>
          <a:bodyPr vertOverflow="overflow" vert="horz" wrap="square" rtlCol="0" anchor="t">
            <a:noAutofit/>
          </a:bodyPr>
          <a:lstStyle/>
          <a:p>
            <a:pPr algn="l"/>
            <a:r>
              <a:rPr lang="en-US" sz="1750" dirty="0">
                <a:solidFill>
                  <a:srgbClr val="111827"/>
                </a:solidFill>
                <a:latin typeface="Aptos Display"/>
              </a:rPr>
              <a:t>Increased mean realized risk by </a:t>
            </a:r>
            <a:r>
              <a:rPr lang="en-US" sz="1750" b="1" dirty="0">
                <a:solidFill>
                  <a:srgbClr val="111827"/>
                </a:solidFill>
                <a:latin typeface="Aptos Display"/>
              </a:rPr>
              <a:t>37.6%</a:t>
            </a:r>
          </a:p>
        </p:txBody>
      </p:sp>
      <p:sp>
        <p:nvSpPr>
          <p:cNvPr id="16" name="TextBox 15">
            <a:extLst>
              <a:ext uri="{FF2B5EF4-FFF2-40B4-BE49-F238E27FC236}">
                <a16:creationId xmlns:a16="http://schemas.microsoft.com/office/drawing/2014/main" id="{3062AB8A-6528-B127-833E-A9A5665FCDF0}"/>
              </a:ext>
            </a:extLst>
          </p:cNvPr>
          <p:cNvSpPr txBox="1"/>
          <p:nvPr/>
        </p:nvSpPr>
        <p:spPr>
          <a:xfrm>
            <a:off x="1462378" y="4739133"/>
            <a:ext cx="4038600" cy="787400"/>
          </a:xfrm>
          <a:prstGeom prst="rect">
            <a:avLst/>
          </a:prstGeom>
          <a:noFill/>
        </p:spPr>
        <p:txBody>
          <a:bodyPr vertOverflow="overflow" vert="horz" wrap="square" rtlCol="0" anchor="t">
            <a:noAutofit/>
          </a:bodyPr>
          <a:lstStyle/>
          <a:p>
            <a:pPr algn="l"/>
            <a:r>
              <a:rPr lang="en-US" sz="1750" dirty="0">
                <a:solidFill>
                  <a:srgbClr val="111827"/>
                </a:solidFill>
                <a:latin typeface="Aptos Display"/>
              </a:rPr>
              <a:t>Lower realized risk in all test months</a:t>
            </a:r>
          </a:p>
        </p:txBody>
      </p:sp>
    </p:spTree>
    <p:extLst>
      <p:ext uri="{BB962C8B-B14F-4D97-AF65-F5344CB8AC3E}">
        <p14:creationId xmlns:p14="http://schemas.microsoft.com/office/powerpoint/2010/main" val="9647337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D9D52-CC5A-BF16-5B9F-E79D96702C2B}"/>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999BEAF-2E72-73DF-E73D-D84116C055D9}"/>
              </a:ext>
            </a:extLst>
          </p:cNvPr>
          <p:cNvSpPr/>
          <p:nvPr/>
        </p:nvSpPr>
        <p:spPr>
          <a:xfrm rot="5400000">
            <a:off x="2587337" y="-2587332"/>
            <a:ext cx="6857999" cy="12032677"/>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8C43F0D8-DA27-6AEB-A485-6F1095613986}"/>
              </a:ext>
            </a:extLst>
          </p:cNvPr>
          <p:cNvSpPr>
            <a:spLocks noGrp="1"/>
          </p:cNvSpPr>
          <p:nvPr>
            <p:ph type="ctrTitle"/>
          </p:nvPr>
        </p:nvSpPr>
        <p:spPr/>
        <p:txBody>
          <a:bodyPr/>
          <a:lstStyle/>
          <a:p>
            <a:r>
              <a:rPr lang="en-US" dirty="0"/>
              <a:t>Conclusion</a:t>
            </a:r>
          </a:p>
        </p:txBody>
      </p:sp>
      <p:sp>
        <p:nvSpPr>
          <p:cNvPr id="3" name="Slide Number Placeholder 2">
            <a:extLst>
              <a:ext uri="{FF2B5EF4-FFF2-40B4-BE49-F238E27FC236}">
                <a16:creationId xmlns:a16="http://schemas.microsoft.com/office/drawing/2014/main" id="{6E9C0BEA-4E3D-1E19-6481-4578A8D183C8}"/>
              </a:ext>
            </a:extLst>
          </p:cNvPr>
          <p:cNvSpPr>
            <a:spLocks noGrp="1"/>
          </p:cNvSpPr>
          <p:nvPr>
            <p:ph type="sldNum" sz="quarter" idx="12"/>
          </p:nvPr>
        </p:nvSpPr>
        <p:spPr/>
        <p:txBody>
          <a:bodyPr/>
          <a:lstStyle/>
          <a:p>
            <a:fld id="{1370230A-709D-4205-8636-A3280FD27E74}" type="slidenum">
              <a:rPr lang="en-US" smtClean="0"/>
              <a:t>40</a:t>
            </a:fld>
            <a:endParaRPr lang="en-US"/>
          </a:p>
        </p:txBody>
      </p:sp>
      <p:sp>
        <p:nvSpPr>
          <p:cNvPr id="9" name="Rectangle 8">
            <a:extLst>
              <a:ext uri="{FF2B5EF4-FFF2-40B4-BE49-F238E27FC236}">
                <a16:creationId xmlns:a16="http://schemas.microsoft.com/office/drawing/2014/main" id="{72B75C39-476C-E33D-53C4-E2D02CC52168}"/>
              </a:ext>
            </a:extLst>
          </p:cNvPr>
          <p:cNvSpPr/>
          <p:nvPr/>
        </p:nvSpPr>
        <p:spPr>
          <a:xfrm rot="5400000">
            <a:off x="8657014"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4" name="Straight Connector 3">
            <a:extLst>
              <a:ext uri="{FF2B5EF4-FFF2-40B4-BE49-F238E27FC236}">
                <a16:creationId xmlns:a16="http://schemas.microsoft.com/office/drawing/2014/main" id="{C3DF6A21-F194-49D4-3A9A-D47DF55AE682}"/>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66625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BE34F-4A33-28A7-0170-9B1372B05438}"/>
            </a:ext>
          </a:extLst>
        </p:cNvPr>
        <p:cNvGrpSpPr/>
        <p:nvPr/>
      </p:nvGrpSpPr>
      <p:grpSpPr>
        <a:xfrm>
          <a:off x="0" y="0"/>
          <a:ext cx="0" cy="0"/>
          <a:chOff x="0" y="0"/>
          <a:chExt cx="0" cy="0"/>
        </a:xfrm>
      </p:grpSpPr>
      <p:sp>
        <p:nvSpPr>
          <p:cNvPr id="67" name="RQA2_card_1">
            <a:extLst>
              <a:ext uri="{FF2B5EF4-FFF2-40B4-BE49-F238E27FC236}">
                <a16:creationId xmlns:a16="http://schemas.microsoft.com/office/drawing/2014/main" id="{0E0B164B-5948-450D-8D6A-CF3BA3098601}"/>
              </a:ext>
            </a:extLst>
          </p:cNvPr>
          <p:cNvSpPr/>
          <p:nvPr/>
        </p:nvSpPr>
        <p:spPr>
          <a:xfrm>
            <a:off x="1371600" y="2413000"/>
            <a:ext cx="3048000" cy="2946400"/>
          </a:xfrm>
          <a:prstGeom prst="rect">
            <a:avLst/>
          </a:prstGeom>
          <a:solidFill>
            <a:srgbClr val="F8F8F8"/>
          </a:solidFill>
          <a:ln w="15875" cap="flat" cmpd="sng" algn="ctr">
            <a:solidFill>
              <a:srgbClr val="0C171F"/>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dirty="0"/>
          </a:p>
        </p:txBody>
      </p:sp>
      <p:sp>
        <p:nvSpPr>
          <p:cNvPr id="71" name="RQA2_answer_label_1">
            <a:extLst>
              <a:ext uri="{FF2B5EF4-FFF2-40B4-BE49-F238E27FC236}">
                <a16:creationId xmlns:a16="http://schemas.microsoft.com/office/drawing/2014/main" id="{DF84D7B5-3F6C-46A2-8DC9-228AF8E006F4}"/>
              </a:ext>
            </a:extLst>
          </p:cNvPr>
          <p:cNvSpPr txBox="1"/>
          <p:nvPr/>
        </p:nvSpPr>
        <p:spPr>
          <a:xfrm>
            <a:off x="1600200" y="3377427"/>
            <a:ext cx="2470868" cy="368300"/>
          </a:xfrm>
          <a:prstGeom prst="rect">
            <a:avLst/>
          </a:prstGeom>
          <a:noFill/>
          <a:ln>
            <a:noFill/>
          </a:ln>
        </p:spPr>
        <p:txBody>
          <a:bodyPr vertOverflow="overflow" vert="horz" wrap="square" rtlCol="0" anchor="t">
            <a:noAutofit/>
          </a:bodyPr>
          <a:lstStyle/>
          <a:p>
            <a:pPr algn="l"/>
            <a:r>
              <a:rPr lang="en-US" sz="1100" b="1" dirty="0">
                <a:solidFill>
                  <a:srgbClr val="00F700"/>
                </a:solidFill>
                <a:latin typeface="Century Gothic"/>
              </a:rPr>
              <a:t>Yes</a:t>
            </a:r>
          </a:p>
        </p:txBody>
      </p:sp>
      <p:sp>
        <p:nvSpPr>
          <p:cNvPr id="72" name="RQA2_answer_1">
            <a:extLst>
              <a:ext uri="{FF2B5EF4-FFF2-40B4-BE49-F238E27FC236}">
                <a16:creationId xmlns:a16="http://schemas.microsoft.com/office/drawing/2014/main" id="{B695E458-DC5D-47D8-BFE6-2D5BD3EC4851}"/>
              </a:ext>
            </a:extLst>
          </p:cNvPr>
          <p:cNvSpPr txBox="1"/>
          <p:nvPr/>
        </p:nvSpPr>
        <p:spPr>
          <a:xfrm>
            <a:off x="1600200" y="3632200"/>
            <a:ext cx="2590800" cy="1117600"/>
          </a:xfrm>
          <a:prstGeom prst="rect">
            <a:avLst/>
          </a:prstGeom>
          <a:noFill/>
          <a:ln>
            <a:noFill/>
          </a:ln>
        </p:spPr>
        <p:txBody>
          <a:bodyPr vertOverflow="overflow" vert="horz" wrap="square" rtlCol="0" anchor="t">
            <a:normAutofit/>
          </a:bodyPr>
          <a:lstStyle/>
          <a:p>
            <a:r>
              <a:rPr lang="en-US" sz="1200" dirty="0"/>
              <a:t>PPO model produced meaningful profile asset universes across the changing active universe according to the predicted risk </a:t>
            </a:r>
            <a:r>
              <a:rPr lang="en-US" sz="1200" dirty="0" err="1"/>
              <a:t>behaviour</a:t>
            </a:r>
            <a:endParaRPr lang="en-US" sz="1200" dirty="0">
              <a:solidFill>
                <a:srgbClr val="0C171F"/>
              </a:solidFill>
              <a:latin typeface="Calibri"/>
              <a:ea typeface="Calibri"/>
              <a:cs typeface="Calibri"/>
            </a:endParaRPr>
          </a:p>
        </p:txBody>
      </p:sp>
      <p:sp>
        <p:nvSpPr>
          <p:cNvPr id="2" name="Title 1">
            <a:extLst>
              <a:ext uri="{FF2B5EF4-FFF2-40B4-BE49-F238E27FC236}">
                <a16:creationId xmlns:a16="http://schemas.microsoft.com/office/drawing/2014/main" id="{D77A2604-B93C-8903-C2CC-C64CB3B1C31C}"/>
              </a:ext>
            </a:extLst>
          </p:cNvPr>
          <p:cNvSpPr>
            <a:spLocks noGrp="1"/>
          </p:cNvSpPr>
          <p:nvPr>
            <p:ph type="title"/>
          </p:nvPr>
        </p:nvSpPr>
        <p:spPr/>
        <p:txBody>
          <a:bodyPr/>
          <a:lstStyle/>
          <a:p>
            <a:r>
              <a:rPr lang="en-US" dirty="0"/>
              <a:t>Research Question Answers</a:t>
            </a:r>
          </a:p>
        </p:txBody>
      </p:sp>
      <p:sp>
        <p:nvSpPr>
          <p:cNvPr id="4" name="Slide Number Placeholder 3">
            <a:extLst>
              <a:ext uri="{FF2B5EF4-FFF2-40B4-BE49-F238E27FC236}">
                <a16:creationId xmlns:a16="http://schemas.microsoft.com/office/drawing/2014/main" id="{E9B19D73-7C6D-EF3D-4F51-F27F65CD2C2F}"/>
              </a:ext>
            </a:extLst>
          </p:cNvPr>
          <p:cNvSpPr>
            <a:spLocks noGrp="1"/>
          </p:cNvSpPr>
          <p:nvPr>
            <p:ph type="sldNum" sz="quarter" idx="12"/>
          </p:nvPr>
        </p:nvSpPr>
        <p:spPr/>
        <p:txBody>
          <a:bodyPr/>
          <a:lstStyle/>
          <a:p>
            <a:fld id="{1370230A-709D-4205-8636-A3280FD27E74}" type="slidenum">
              <a:rPr lang="en-US" smtClean="0"/>
              <a:t>41</a:t>
            </a:fld>
            <a:endParaRPr lang="en-US"/>
          </a:p>
        </p:txBody>
      </p:sp>
      <p:sp>
        <p:nvSpPr>
          <p:cNvPr id="6" name="Rectangle 5">
            <a:extLst>
              <a:ext uri="{FF2B5EF4-FFF2-40B4-BE49-F238E27FC236}">
                <a16:creationId xmlns:a16="http://schemas.microsoft.com/office/drawing/2014/main" id="{9A5A719C-6953-E763-E8A8-04E8AAEE4BA2}"/>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60E768D6-85A6-F903-CDFD-56166A158578}"/>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8" name="RQA2_dot_1">
            <a:extLst>
              <a:ext uri="{FF2B5EF4-FFF2-40B4-BE49-F238E27FC236}">
                <a16:creationId xmlns:a16="http://schemas.microsoft.com/office/drawing/2014/main" id="{ED21C862-2682-4F08-B235-2AA32E998ED4}"/>
              </a:ext>
            </a:extLst>
          </p:cNvPr>
          <p:cNvSpPr/>
          <p:nvPr/>
        </p:nvSpPr>
        <p:spPr>
          <a:xfrm>
            <a:off x="1600200" y="2692400"/>
            <a:ext cx="88900" cy="88900"/>
          </a:xfrm>
          <a:prstGeom prst="ellipse">
            <a:avLst/>
          </a:prstGeom>
          <a:solidFill>
            <a:srgbClr val="00F70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RQA2_heading_1">
            <a:extLst>
              <a:ext uri="{FF2B5EF4-FFF2-40B4-BE49-F238E27FC236}">
                <a16:creationId xmlns:a16="http://schemas.microsoft.com/office/drawing/2014/main" id="{CC365A62-7BBC-48E6-B90F-C2EF19E8E211}"/>
              </a:ext>
            </a:extLst>
          </p:cNvPr>
          <p:cNvSpPr txBox="1"/>
          <p:nvPr/>
        </p:nvSpPr>
        <p:spPr>
          <a:xfrm>
            <a:off x="1790700" y="2565400"/>
            <a:ext cx="762000" cy="355600"/>
          </a:xfrm>
          <a:prstGeom prst="rect">
            <a:avLst/>
          </a:prstGeom>
          <a:noFill/>
          <a:ln>
            <a:noFill/>
          </a:ln>
        </p:spPr>
        <p:txBody>
          <a:bodyPr vertOverflow="overflow" vert="horz" wrap="square" rtlCol="0" anchor="t">
            <a:normAutofit lnSpcReduction="10000"/>
          </a:bodyPr>
          <a:lstStyle/>
          <a:p>
            <a:pPr algn="l"/>
            <a:r>
              <a:rPr lang="en-US" b="1" dirty="0">
                <a:solidFill>
                  <a:srgbClr val="0C171F"/>
                </a:solidFill>
                <a:latin typeface="Century Gothic"/>
              </a:rPr>
              <a:t>RQ1</a:t>
            </a:r>
          </a:p>
        </p:txBody>
      </p:sp>
      <p:sp>
        <p:nvSpPr>
          <p:cNvPr id="70" name="RQA2_top_rule_1">
            <a:extLst>
              <a:ext uri="{FF2B5EF4-FFF2-40B4-BE49-F238E27FC236}">
                <a16:creationId xmlns:a16="http://schemas.microsoft.com/office/drawing/2014/main" id="{2C4CD5E5-01D2-425D-B20D-45C7C89A290F}"/>
              </a:ext>
            </a:extLst>
          </p:cNvPr>
          <p:cNvSpPr/>
          <p:nvPr/>
        </p:nvSpPr>
        <p:spPr>
          <a:xfrm>
            <a:off x="1600200" y="3060700"/>
            <a:ext cx="2590800" cy="12700"/>
          </a:xfrm>
          <a:prstGeom prst="rect">
            <a:avLst/>
          </a:prstGeom>
          <a:solidFill>
            <a:srgbClr val="0C171F"/>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RQA2_footer_rule_1">
            <a:extLst>
              <a:ext uri="{FF2B5EF4-FFF2-40B4-BE49-F238E27FC236}">
                <a16:creationId xmlns:a16="http://schemas.microsoft.com/office/drawing/2014/main" id="{9EC6D629-5B13-42CD-B175-C988BD167550}"/>
              </a:ext>
            </a:extLst>
          </p:cNvPr>
          <p:cNvSpPr/>
          <p:nvPr/>
        </p:nvSpPr>
        <p:spPr>
          <a:xfrm>
            <a:off x="1600200" y="4749800"/>
            <a:ext cx="2590800" cy="12700"/>
          </a:xfrm>
          <a:prstGeom prst="rect">
            <a:avLst/>
          </a:prstGeom>
          <a:solidFill>
            <a:srgbClr val="1F394D"/>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7" name="RQA2_footer_1">
            <a:extLst>
              <a:ext uri="{FF2B5EF4-FFF2-40B4-BE49-F238E27FC236}">
                <a16:creationId xmlns:a16="http://schemas.microsoft.com/office/drawing/2014/main" id="{39E96C68-1BD7-4933-ABDE-93874343DC8B}"/>
              </a:ext>
            </a:extLst>
          </p:cNvPr>
          <p:cNvSpPr txBox="1"/>
          <p:nvPr/>
        </p:nvSpPr>
        <p:spPr>
          <a:xfrm>
            <a:off x="1600200" y="4914900"/>
            <a:ext cx="2590800" cy="228600"/>
          </a:xfrm>
          <a:prstGeom prst="rect">
            <a:avLst/>
          </a:prstGeom>
          <a:noFill/>
          <a:ln>
            <a:noFill/>
          </a:ln>
        </p:spPr>
        <p:txBody>
          <a:bodyPr vertOverflow="overflow" vert="horz" wrap="square" rtlCol="0" anchor="t">
            <a:normAutofit/>
          </a:bodyPr>
          <a:lstStyle/>
          <a:p>
            <a:pPr algn="l"/>
            <a:r>
              <a:rPr lang="en-US" sz="900">
                <a:solidFill>
                  <a:srgbClr val="1F394D"/>
                </a:solidFill>
                <a:latin typeface="Calibri"/>
                <a:ea typeface="Calibri"/>
                <a:cs typeface="Calibri"/>
              </a:rPr>
              <a:t>Universe selection</a:t>
            </a:r>
          </a:p>
        </p:txBody>
      </p:sp>
      <p:sp>
        <p:nvSpPr>
          <p:cNvPr id="78" name="RQA2_card_2">
            <a:extLst>
              <a:ext uri="{FF2B5EF4-FFF2-40B4-BE49-F238E27FC236}">
                <a16:creationId xmlns:a16="http://schemas.microsoft.com/office/drawing/2014/main" id="{4A32E6AB-835E-4067-ABD4-262763322877}"/>
              </a:ext>
            </a:extLst>
          </p:cNvPr>
          <p:cNvSpPr/>
          <p:nvPr/>
        </p:nvSpPr>
        <p:spPr>
          <a:xfrm>
            <a:off x="4851400" y="2413000"/>
            <a:ext cx="3048000" cy="2946400"/>
          </a:xfrm>
          <a:prstGeom prst="rect">
            <a:avLst/>
          </a:prstGeom>
          <a:solidFill>
            <a:srgbClr val="F8F8F8"/>
          </a:solidFill>
          <a:ln w="15875" cap="flat" cmpd="sng" algn="ctr">
            <a:solidFill>
              <a:srgbClr val="0C171F"/>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9" name="RQA2_dot_2">
            <a:extLst>
              <a:ext uri="{FF2B5EF4-FFF2-40B4-BE49-F238E27FC236}">
                <a16:creationId xmlns:a16="http://schemas.microsoft.com/office/drawing/2014/main" id="{C68EC843-BF26-4E0F-8F02-D7005ACE9D31}"/>
              </a:ext>
            </a:extLst>
          </p:cNvPr>
          <p:cNvSpPr/>
          <p:nvPr/>
        </p:nvSpPr>
        <p:spPr>
          <a:xfrm>
            <a:off x="5080000" y="2692400"/>
            <a:ext cx="88900" cy="88900"/>
          </a:xfrm>
          <a:prstGeom prst="ellipse">
            <a:avLst/>
          </a:prstGeom>
          <a:solidFill>
            <a:srgbClr val="00F70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0" name="RQA2_heading_2">
            <a:extLst>
              <a:ext uri="{FF2B5EF4-FFF2-40B4-BE49-F238E27FC236}">
                <a16:creationId xmlns:a16="http://schemas.microsoft.com/office/drawing/2014/main" id="{81D84A85-A936-4602-AC92-4B254AFEB73C}"/>
              </a:ext>
            </a:extLst>
          </p:cNvPr>
          <p:cNvSpPr txBox="1"/>
          <p:nvPr/>
        </p:nvSpPr>
        <p:spPr>
          <a:xfrm>
            <a:off x="5270500" y="2565400"/>
            <a:ext cx="762000" cy="355600"/>
          </a:xfrm>
          <a:prstGeom prst="rect">
            <a:avLst/>
          </a:prstGeom>
          <a:noFill/>
          <a:ln>
            <a:noFill/>
          </a:ln>
        </p:spPr>
        <p:txBody>
          <a:bodyPr vertOverflow="overflow" vert="horz" wrap="square" rtlCol="0" anchor="t">
            <a:normAutofit lnSpcReduction="10000"/>
          </a:bodyPr>
          <a:lstStyle/>
          <a:p>
            <a:pPr algn="l"/>
            <a:r>
              <a:rPr lang="en-US" b="1">
                <a:solidFill>
                  <a:srgbClr val="0C171F"/>
                </a:solidFill>
                <a:latin typeface="Century Gothic"/>
              </a:rPr>
              <a:t>RQ2</a:t>
            </a:r>
          </a:p>
        </p:txBody>
      </p:sp>
      <p:sp>
        <p:nvSpPr>
          <p:cNvPr id="81" name="RQA2_top_rule_2">
            <a:extLst>
              <a:ext uri="{FF2B5EF4-FFF2-40B4-BE49-F238E27FC236}">
                <a16:creationId xmlns:a16="http://schemas.microsoft.com/office/drawing/2014/main" id="{227B37C2-A381-4A18-B2B6-01489F682760}"/>
              </a:ext>
            </a:extLst>
          </p:cNvPr>
          <p:cNvSpPr/>
          <p:nvPr/>
        </p:nvSpPr>
        <p:spPr>
          <a:xfrm>
            <a:off x="5080000" y="3060700"/>
            <a:ext cx="2590800" cy="12700"/>
          </a:xfrm>
          <a:prstGeom prst="rect">
            <a:avLst/>
          </a:prstGeom>
          <a:solidFill>
            <a:srgbClr val="0C171F"/>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RQA2_answer_label_2">
            <a:extLst>
              <a:ext uri="{FF2B5EF4-FFF2-40B4-BE49-F238E27FC236}">
                <a16:creationId xmlns:a16="http://schemas.microsoft.com/office/drawing/2014/main" id="{9B7A0020-5CB8-C274-5FC8-63BF1C1887F2}"/>
              </a:ext>
            </a:extLst>
          </p:cNvPr>
          <p:cNvSpPr txBox="1"/>
          <p:nvPr/>
        </p:nvSpPr>
        <p:spPr>
          <a:xfrm>
            <a:off x="5080000" y="3377427"/>
            <a:ext cx="2470868" cy="368300"/>
          </a:xfrm>
          <a:prstGeom prst="rect">
            <a:avLst/>
          </a:prstGeom>
          <a:noFill/>
          <a:ln>
            <a:noFill/>
          </a:ln>
        </p:spPr>
        <p:txBody>
          <a:bodyPr vertOverflow="overflow" vert="horz" wrap="square" rtlCol="0" anchor="t">
            <a:noAutofit/>
          </a:bodyPr>
          <a:lstStyle/>
          <a:p>
            <a:pPr algn="l"/>
            <a:r>
              <a:rPr lang="en-US" sz="1100" b="1" dirty="0">
                <a:solidFill>
                  <a:srgbClr val="00F700"/>
                </a:solidFill>
                <a:latin typeface="Century Gothic"/>
              </a:rPr>
              <a:t>Yes</a:t>
            </a:r>
          </a:p>
        </p:txBody>
      </p:sp>
      <p:sp>
        <p:nvSpPr>
          <p:cNvPr id="83" name="RQA2_answer_2">
            <a:extLst>
              <a:ext uri="{FF2B5EF4-FFF2-40B4-BE49-F238E27FC236}">
                <a16:creationId xmlns:a16="http://schemas.microsoft.com/office/drawing/2014/main" id="{102AD599-9722-46C1-ABEC-64E2DB1A6241}"/>
              </a:ext>
            </a:extLst>
          </p:cNvPr>
          <p:cNvSpPr txBox="1"/>
          <p:nvPr/>
        </p:nvSpPr>
        <p:spPr>
          <a:xfrm>
            <a:off x="5080000" y="3632200"/>
            <a:ext cx="2590800" cy="1117600"/>
          </a:xfrm>
          <a:prstGeom prst="rect">
            <a:avLst/>
          </a:prstGeom>
          <a:noFill/>
          <a:ln>
            <a:noFill/>
          </a:ln>
        </p:spPr>
        <p:txBody>
          <a:bodyPr vertOverflow="overflow" vert="horz" wrap="square" rtlCol="0" anchor="t">
            <a:normAutofit/>
          </a:bodyPr>
          <a:lstStyle/>
          <a:p>
            <a:pPr algn="l"/>
            <a:r>
              <a:rPr lang="en-US" sz="1200" dirty="0">
                <a:solidFill>
                  <a:srgbClr val="0C171F"/>
                </a:solidFill>
                <a:latin typeface="Calibri"/>
                <a:ea typeface="Calibri"/>
                <a:cs typeface="Calibri"/>
              </a:rPr>
              <a:t>Conservative filtering aligned with risk reduction, while aggressive filtering captured stronger return participation with higher realized risk.</a:t>
            </a:r>
          </a:p>
        </p:txBody>
      </p:sp>
      <p:sp>
        <p:nvSpPr>
          <p:cNvPr id="84" name="RQA2_question_cover_2">
            <a:extLst>
              <a:ext uri="{FF2B5EF4-FFF2-40B4-BE49-F238E27FC236}">
                <a16:creationId xmlns:a16="http://schemas.microsoft.com/office/drawing/2014/main" id="{4034351F-CB96-4ADE-BFA4-6339187CCC2E}"/>
              </a:ext>
            </a:extLst>
          </p:cNvPr>
          <p:cNvSpPr/>
          <p:nvPr/>
        </p:nvSpPr>
        <p:spPr>
          <a:xfrm>
            <a:off x="5003800" y="3225800"/>
            <a:ext cx="2743200" cy="1549400"/>
          </a:xfrm>
          <a:prstGeom prst="rect">
            <a:avLst/>
          </a:prstGeom>
          <a:ln>
            <a:noFill/>
          </a:ln>
        </p:spPr>
        <p:style>
          <a:lnRef idx="2">
            <a:schemeClr val="accent3"/>
          </a:lnRef>
          <a:fillRef idx="1">
            <a:schemeClr val="lt1"/>
          </a:fillRef>
          <a:effectRef idx="0">
            <a:schemeClr val="accent3"/>
          </a:effectRef>
          <a:fontRef idx="minor">
            <a:schemeClr val="dk1"/>
          </a:fontRef>
        </p:style>
        <p:txBody>
          <a:bodyPr vertOverflow="clip" horzOverflow="clip" wrap="square" rtlCol="0" anchor="t">
            <a:normAutofit/>
          </a:bodyPr>
          <a:lstStyle/>
          <a:p>
            <a:pPr algn="l"/>
            <a:r>
              <a:rPr lang="en-US" sz="1250" dirty="0">
                <a:solidFill>
                  <a:srgbClr val="0C171F"/>
                </a:solidFill>
                <a:latin typeface="Calibri"/>
                <a:ea typeface="Calibri"/>
                <a:cs typeface="Calibri"/>
              </a:rPr>
              <a:t>QUESTION
Do selected universes align with investor profiles?</a:t>
            </a:r>
          </a:p>
        </p:txBody>
      </p:sp>
      <p:sp>
        <p:nvSpPr>
          <p:cNvPr id="87" name="RQA2_footer_rule_2">
            <a:extLst>
              <a:ext uri="{FF2B5EF4-FFF2-40B4-BE49-F238E27FC236}">
                <a16:creationId xmlns:a16="http://schemas.microsoft.com/office/drawing/2014/main" id="{86F5D802-877E-4714-B74B-F6744B4F0953}"/>
              </a:ext>
            </a:extLst>
          </p:cNvPr>
          <p:cNvSpPr/>
          <p:nvPr/>
        </p:nvSpPr>
        <p:spPr>
          <a:xfrm>
            <a:off x="5080000" y="4749800"/>
            <a:ext cx="2590800" cy="12700"/>
          </a:xfrm>
          <a:prstGeom prst="rect">
            <a:avLst/>
          </a:prstGeom>
          <a:solidFill>
            <a:srgbClr val="1F394D"/>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RQA2_footer_2">
            <a:extLst>
              <a:ext uri="{FF2B5EF4-FFF2-40B4-BE49-F238E27FC236}">
                <a16:creationId xmlns:a16="http://schemas.microsoft.com/office/drawing/2014/main" id="{068BEF45-7A3D-4F2B-92A7-46536EA939E9}"/>
              </a:ext>
            </a:extLst>
          </p:cNvPr>
          <p:cNvSpPr txBox="1"/>
          <p:nvPr/>
        </p:nvSpPr>
        <p:spPr>
          <a:xfrm>
            <a:off x="5080000" y="4914900"/>
            <a:ext cx="2590800" cy="228600"/>
          </a:xfrm>
          <a:prstGeom prst="rect">
            <a:avLst/>
          </a:prstGeom>
          <a:noFill/>
          <a:ln>
            <a:noFill/>
          </a:ln>
        </p:spPr>
        <p:txBody>
          <a:bodyPr vertOverflow="overflow" vert="horz" wrap="square" rtlCol="0" anchor="t">
            <a:normAutofit/>
          </a:bodyPr>
          <a:lstStyle/>
          <a:p>
            <a:pPr algn="l"/>
            <a:r>
              <a:rPr lang="en-US" sz="900">
                <a:solidFill>
                  <a:srgbClr val="1F394D"/>
                </a:solidFill>
                <a:latin typeface="Calibri"/>
                <a:ea typeface="Calibri"/>
                <a:cs typeface="Calibri"/>
              </a:rPr>
              <a:t>Investor suitability</a:t>
            </a:r>
          </a:p>
        </p:txBody>
      </p:sp>
      <p:sp>
        <p:nvSpPr>
          <p:cNvPr id="89" name="RQA2_card_3">
            <a:extLst>
              <a:ext uri="{FF2B5EF4-FFF2-40B4-BE49-F238E27FC236}">
                <a16:creationId xmlns:a16="http://schemas.microsoft.com/office/drawing/2014/main" id="{A7E5FF18-1E55-4971-94D6-2128B15FB5F8}"/>
              </a:ext>
            </a:extLst>
          </p:cNvPr>
          <p:cNvSpPr/>
          <p:nvPr/>
        </p:nvSpPr>
        <p:spPr>
          <a:xfrm>
            <a:off x="8331200" y="2413000"/>
            <a:ext cx="3048000" cy="2946400"/>
          </a:xfrm>
          <a:prstGeom prst="rect">
            <a:avLst/>
          </a:prstGeom>
          <a:solidFill>
            <a:srgbClr val="F8F8F8"/>
          </a:solidFill>
          <a:ln w="15875" cap="flat" cmpd="sng" algn="ctr">
            <a:solidFill>
              <a:srgbClr val="0C171F"/>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0" name="RQA2_dot_3">
            <a:extLst>
              <a:ext uri="{FF2B5EF4-FFF2-40B4-BE49-F238E27FC236}">
                <a16:creationId xmlns:a16="http://schemas.microsoft.com/office/drawing/2014/main" id="{B7D8EE04-060F-4246-B86F-76A418FFB97E}"/>
              </a:ext>
            </a:extLst>
          </p:cNvPr>
          <p:cNvSpPr/>
          <p:nvPr/>
        </p:nvSpPr>
        <p:spPr>
          <a:xfrm>
            <a:off x="8559800" y="2692400"/>
            <a:ext cx="88900" cy="88900"/>
          </a:xfrm>
          <a:prstGeom prst="ellipse">
            <a:avLst/>
          </a:prstGeom>
          <a:solidFill>
            <a:srgbClr val="00F70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1" name="RQA2_heading_3">
            <a:extLst>
              <a:ext uri="{FF2B5EF4-FFF2-40B4-BE49-F238E27FC236}">
                <a16:creationId xmlns:a16="http://schemas.microsoft.com/office/drawing/2014/main" id="{03F47DE9-31A8-4143-B32E-257753EFFBE5}"/>
              </a:ext>
            </a:extLst>
          </p:cNvPr>
          <p:cNvSpPr txBox="1"/>
          <p:nvPr/>
        </p:nvSpPr>
        <p:spPr>
          <a:xfrm>
            <a:off x="8750300" y="2565400"/>
            <a:ext cx="762000" cy="355600"/>
          </a:xfrm>
          <a:prstGeom prst="rect">
            <a:avLst/>
          </a:prstGeom>
          <a:noFill/>
          <a:ln>
            <a:noFill/>
          </a:ln>
        </p:spPr>
        <p:txBody>
          <a:bodyPr vertOverflow="overflow" vert="horz" wrap="square" rtlCol="0" anchor="t">
            <a:normAutofit lnSpcReduction="10000"/>
          </a:bodyPr>
          <a:lstStyle/>
          <a:p>
            <a:pPr algn="l"/>
            <a:r>
              <a:rPr lang="en-US" b="1">
                <a:solidFill>
                  <a:srgbClr val="0C171F"/>
                </a:solidFill>
                <a:latin typeface="Century Gothic"/>
              </a:rPr>
              <a:t>RQ3</a:t>
            </a:r>
          </a:p>
        </p:txBody>
      </p:sp>
      <p:sp>
        <p:nvSpPr>
          <p:cNvPr id="92" name="RQA2_top_rule_3">
            <a:extLst>
              <a:ext uri="{FF2B5EF4-FFF2-40B4-BE49-F238E27FC236}">
                <a16:creationId xmlns:a16="http://schemas.microsoft.com/office/drawing/2014/main" id="{92F4F080-361F-4F07-9FD3-16375081A4C3}"/>
              </a:ext>
            </a:extLst>
          </p:cNvPr>
          <p:cNvSpPr/>
          <p:nvPr/>
        </p:nvSpPr>
        <p:spPr>
          <a:xfrm>
            <a:off x="8559800" y="3060700"/>
            <a:ext cx="2590800" cy="12700"/>
          </a:xfrm>
          <a:prstGeom prst="rect">
            <a:avLst/>
          </a:prstGeom>
          <a:solidFill>
            <a:srgbClr val="0C171F"/>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QA2_answer_label_3">
            <a:extLst>
              <a:ext uri="{FF2B5EF4-FFF2-40B4-BE49-F238E27FC236}">
                <a16:creationId xmlns:a16="http://schemas.microsoft.com/office/drawing/2014/main" id="{13A1D39B-3BF7-CA6E-C111-255BBDC4909E}"/>
              </a:ext>
            </a:extLst>
          </p:cNvPr>
          <p:cNvSpPr txBox="1"/>
          <p:nvPr/>
        </p:nvSpPr>
        <p:spPr>
          <a:xfrm>
            <a:off x="8559800" y="3379249"/>
            <a:ext cx="2470868" cy="368300"/>
          </a:xfrm>
          <a:prstGeom prst="rect">
            <a:avLst/>
          </a:prstGeom>
          <a:noFill/>
          <a:ln>
            <a:noFill/>
          </a:ln>
        </p:spPr>
        <p:txBody>
          <a:bodyPr vertOverflow="overflow" vert="horz" wrap="square" rtlCol="0" anchor="t">
            <a:noAutofit/>
          </a:bodyPr>
          <a:lstStyle/>
          <a:p>
            <a:pPr algn="l"/>
            <a:r>
              <a:rPr lang="en-US" sz="1100" b="1" dirty="0">
                <a:solidFill>
                  <a:srgbClr val="00F700"/>
                </a:solidFill>
                <a:latin typeface="Century Gothic"/>
              </a:rPr>
              <a:t>ANSWER</a:t>
            </a:r>
          </a:p>
        </p:txBody>
      </p:sp>
      <p:sp>
        <p:nvSpPr>
          <p:cNvPr id="94" name="RQA2_answer_3">
            <a:extLst>
              <a:ext uri="{FF2B5EF4-FFF2-40B4-BE49-F238E27FC236}">
                <a16:creationId xmlns:a16="http://schemas.microsoft.com/office/drawing/2014/main" id="{567BED27-727D-4755-9D42-B5227111CB0E}"/>
              </a:ext>
            </a:extLst>
          </p:cNvPr>
          <p:cNvSpPr txBox="1"/>
          <p:nvPr/>
        </p:nvSpPr>
        <p:spPr>
          <a:xfrm>
            <a:off x="8559800" y="3632200"/>
            <a:ext cx="2590800" cy="1117600"/>
          </a:xfrm>
          <a:prstGeom prst="rect">
            <a:avLst/>
          </a:prstGeom>
          <a:noFill/>
          <a:ln>
            <a:noFill/>
          </a:ln>
        </p:spPr>
        <p:txBody>
          <a:bodyPr vertOverflow="overflow" vert="horz" wrap="square" rtlCol="0" anchor="t">
            <a:normAutofit/>
          </a:bodyPr>
          <a:lstStyle/>
          <a:p>
            <a:pPr algn="l"/>
            <a:r>
              <a:rPr lang="en-US" sz="1200" dirty="0">
                <a:solidFill>
                  <a:srgbClr val="0C171F"/>
                </a:solidFill>
                <a:latin typeface="Calibri"/>
                <a:ea typeface="Calibri"/>
                <a:cs typeface="Calibri"/>
              </a:rPr>
              <a:t>Filtering changed the opportunity set under the same equal-weight rule. Conservative reduced realized risk. Aggressive increased realized risk and return participation.</a:t>
            </a:r>
          </a:p>
        </p:txBody>
      </p:sp>
      <p:sp>
        <p:nvSpPr>
          <p:cNvPr id="95" name="RQA2_question_cover_3">
            <a:extLst>
              <a:ext uri="{FF2B5EF4-FFF2-40B4-BE49-F238E27FC236}">
                <a16:creationId xmlns:a16="http://schemas.microsoft.com/office/drawing/2014/main" id="{5DAB3DB9-D8E3-4511-92DC-A95BF0E03DEE}"/>
              </a:ext>
            </a:extLst>
          </p:cNvPr>
          <p:cNvSpPr/>
          <p:nvPr/>
        </p:nvSpPr>
        <p:spPr>
          <a:xfrm>
            <a:off x="8483600" y="3225800"/>
            <a:ext cx="2743200" cy="1549400"/>
          </a:xfrm>
          <a:prstGeom prst="rect">
            <a:avLst/>
          </a:prstGeom>
          <a:ln>
            <a:noFill/>
          </a:ln>
        </p:spPr>
        <p:style>
          <a:lnRef idx="2">
            <a:schemeClr val="accent3"/>
          </a:lnRef>
          <a:fillRef idx="1">
            <a:schemeClr val="lt1"/>
          </a:fillRef>
          <a:effectRef idx="0">
            <a:schemeClr val="accent3"/>
          </a:effectRef>
          <a:fontRef idx="minor">
            <a:schemeClr val="dk1"/>
          </a:fontRef>
        </p:style>
        <p:txBody>
          <a:bodyPr vertOverflow="clip" horzOverflow="clip" wrap="square" rtlCol="0" anchor="t">
            <a:normAutofit/>
          </a:bodyPr>
          <a:lstStyle/>
          <a:p>
            <a:pPr algn="l"/>
            <a:r>
              <a:rPr lang="en-US" sz="1250" dirty="0">
                <a:solidFill>
                  <a:srgbClr val="0C171F"/>
                </a:solidFill>
                <a:latin typeface="Calibri"/>
                <a:ea typeface="Calibri"/>
                <a:cs typeface="Calibri"/>
              </a:rPr>
              <a:t>QUESTION
How do selected universes compare with the full active universe?</a:t>
            </a:r>
          </a:p>
        </p:txBody>
      </p:sp>
      <p:sp>
        <p:nvSpPr>
          <p:cNvPr id="98" name="RQA2_footer_rule_3">
            <a:extLst>
              <a:ext uri="{FF2B5EF4-FFF2-40B4-BE49-F238E27FC236}">
                <a16:creationId xmlns:a16="http://schemas.microsoft.com/office/drawing/2014/main" id="{196CEBD7-B3B0-47FD-BD6A-BE8B1C342FEF}"/>
              </a:ext>
            </a:extLst>
          </p:cNvPr>
          <p:cNvSpPr/>
          <p:nvPr/>
        </p:nvSpPr>
        <p:spPr>
          <a:xfrm>
            <a:off x="8559800" y="4749800"/>
            <a:ext cx="2590800" cy="12700"/>
          </a:xfrm>
          <a:prstGeom prst="rect">
            <a:avLst/>
          </a:prstGeom>
          <a:solidFill>
            <a:srgbClr val="1F394D"/>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9" name="RQA2_footer_3">
            <a:extLst>
              <a:ext uri="{FF2B5EF4-FFF2-40B4-BE49-F238E27FC236}">
                <a16:creationId xmlns:a16="http://schemas.microsoft.com/office/drawing/2014/main" id="{30621A20-2FEE-4C2C-AFC2-131BE8AAE78C}"/>
              </a:ext>
            </a:extLst>
          </p:cNvPr>
          <p:cNvSpPr txBox="1"/>
          <p:nvPr/>
        </p:nvSpPr>
        <p:spPr>
          <a:xfrm>
            <a:off x="8559800" y="4914900"/>
            <a:ext cx="2590800" cy="228600"/>
          </a:xfrm>
          <a:prstGeom prst="rect">
            <a:avLst/>
          </a:prstGeom>
          <a:noFill/>
          <a:ln>
            <a:noFill/>
          </a:ln>
        </p:spPr>
        <p:txBody>
          <a:bodyPr vertOverflow="overflow" vert="horz" wrap="square" rtlCol="0" anchor="t">
            <a:normAutofit/>
          </a:bodyPr>
          <a:lstStyle/>
          <a:p>
            <a:pPr algn="l"/>
            <a:r>
              <a:rPr lang="en-US" sz="900">
                <a:solidFill>
                  <a:srgbClr val="1F394D"/>
                </a:solidFill>
                <a:latin typeface="Calibri"/>
                <a:ea typeface="Calibri"/>
                <a:cs typeface="Calibri"/>
              </a:rPr>
              <a:t>Baseline comparison</a:t>
            </a:r>
          </a:p>
        </p:txBody>
      </p:sp>
      <p:grpSp>
        <p:nvGrpSpPr>
          <p:cNvPr id="20" name="Group 19">
            <a:extLst>
              <a:ext uri="{FF2B5EF4-FFF2-40B4-BE49-F238E27FC236}">
                <a16:creationId xmlns:a16="http://schemas.microsoft.com/office/drawing/2014/main" id="{0609F568-F568-D929-125C-523D7479A9C0}"/>
              </a:ext>
            </a:extLst>
          </p:cNvPr>
          <p:cNvGrpSpPr/>
          <p:nvPr/>
        </p:nvGrpSpPr>
        <p:grpSpPr>
          <a:xfrm>
            <a:off x="1587500" y="3225800"/>
            <a:ext cx="2717800" cy="1511300"/>
            <a:chOff x="1587500" y="3225800"/>
            <a:chExt cx="2717800" cy="965200"/>
          </a:xfrm>
        </p:grpSpPr>
        <p:sp>
          <p:nvSpPr>
            <p:cNvPr id="17" name="Rectangle 16">
              <a:extLst>
                <a:ext uri="{FF2B5EF4-FFF2-40B4-BE49-F238E27FC236}">
                  <a16:creationId xmlns:a16="http://schemas.microsoft.com/office/drawing/2014/main" id="{DBB0B36F-C0B8-45B5-8857-9EDFAA8C9231}"/>
                </a:ext>
              </a:extLst>
            </p:cNvPr>
            <p:cNvSpPr/>
            <p:nvPr/>
          </p:nvSpPr>
          <p:spPr>
            <a:xfrm>
              <a:off x="1587500" y="3225800"/>
              <a:ext cx="2717800" cy="965200"/>
            </a:xfrm>
            <a:prstGeom prst="rect">
              <a:avLst/>
            </a:prstGeom>
            <a:solidFill>
              <a:srgbClr val="F7F7F7"/>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066670BF-FEA2-4D91-BF8D-3DD7E5E81403}"/>
                </a:ext>
              </a:extLst>
            </p:cNvPr>
            <p:cNvSpPr txBox="1"/>
            <p:nvPr/>
          </p:nvSpPr>
          <p:spPr>
            <a:xfrm>
              <a:off x="1600200" y="3240660"/>
              <a:ext cx="1524000" cy="203200"/>
            </a:xfrm>
            <a:prstGeom prst="rect">
              <a:avLst/>
            </a:prstGeom>
            <a:noFill/>
          </p:spPr>
          <p:txBody>
            <a:bodyPr vertOverflow="overflow" vert="horz" wrap="none" rtlCol="0" anchor="t">
              <a:noAutofit/>
            </a:bodyPr>
            <a:lstStyle/>
            <a:p>
              <a:pPr algn="l"/>
              <a:r>
                <a:rPr lang="en-US" sz="1250" dirty="0">
                  <a:solidFill>
                    <a:srgbClr val="000000"/>
                  </a:solidFill>
                  <a:latin typeface="Calibri"/>
                  <a:ea typeface="Calibri"/>
                  <a:cs typeface="Calibri"/>
                </a:rPr>
                <a:t>QUESTION</a:t>
              </a:r>
            </a:p>
          </p:txBody>
        </p:sp>
        <p:sp>
          <p:nvSpPr>
            <p:cNvPr id="19" name="TextBox 18">
              <a:extLst>
                <a:ext uri="{FF2B5EF4-FFF2-40B4-BE49-F238E27FC236}">
                  <a16:creationId xmlns:a16="http://schemas.microsoft.com/office/drawing/2014/main" id="{CAEDB935-9353-4548-A293-F43EE094BC56}"/>
                </a:ext>
              </a:extLst>
            </p:cNvPr>
            <p:cNvSpPr txBox="1"/>
            <p:nvPr/>
          </p:nvSpPr>
          <p:spPr>
            <a:xfrm>
              <a:off x="1600200" y="3426610"/>
              <a:ext cx="2616200" cy="584200"/>
            </a:xfrm>
            <a:prstGeom prst="rect">
              <a:avLst/>
            </a:prstGeom>
            <a:noFill/>
          </p:spPr>
          <p:txBody>
            <a:bodyPr vertOverflow="overflow" vert="horz" wrap="square" rtlCol="0" anchor="t">
              <a:noAutofit/>
            </a:bodyPr>
            <a:lstStyle/>
            <a:p>
              <a:pPr algn="l"/>
              <a:r>
                <a:rPr lang="en-US" sz="1250" dirty="0">
                  <a:solidFill>
                    <a:srgbClr val="000000"/>
                  </a:solidFill>
                  <a:latin typeface="Calibri"/>
                  <a:ea typeface="Calibri"/>
                  <a:cs typeface="Calibri"/>
                </a:rPr>
                <a:t>Can RL support dynamic risk-based
universe selection?</a:t>
              </a:r>
            </a:p>
          </p:txBody>
        </p:sp>
      </p:grpSp>
    </p:spTree>
    <p:extLst>
      <p:ext uri="{BB962C8B-B14F-4D97-AF65-F5344CB8AC3E}">
        <p14:creationId xmlns:p14="http://schemas.microsoft.com/office/powerpoint/2010/main" val="40564879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presetID="10" presetClass="exit" presetSubtype="0" fill="hold" nodeType="clickEffect">
                      <p:stCondLst>
                        <p:cond delay="indefinite"/>
                      </p:stCondLst>
                      <p:childTnLst>
                        <p:par>
                          <p:cTn id="4" presetID="10" presetClass="exit" presetSubtype="0" fill="hold" nodeType="clickEffect">
                            <p:stCondLst>
                              <p:cond delay="0"/>
                            </p:stCondLst>
                            <p:childTnLst>
                              <p:animEffect transition="out" filter="fade">
                                <p:cBhvr>
                                  <p:cTn id="5" dur="500" nodeType="clickEffect">
                                    <p:stCondLst>
                                      <p:cond delay="0"/>
                                    </p:stCondLst>
                                  </p:cTn>
                                  <p:tgtEl>
                                    <p:spTgt spid="20"/>
                                  </p:tgtEl>
                                </p:cBhvr>
                              </p:animEffect>
                              <p:set>
                                <p:cBhvr>
                                  <p:cTn id="6" dur="1" fill="hold">
                                    <p:stCondLst>
                                      <p:cond delay="499"/>
                                    </p:stCondLst>
                                  </p:cTn>
                                  <p:tgtEl>
                                    <p:spTgt spid="20"/>
                                  </p:tgtEl>
                                  <p:attrNameLst>
                                    <p:attrName>style.visibility</p:attrName>
                                  </p:attrNameLst>
                                </p:cBhvr>
                                <p:to>
                                  <p:strVal val="hidden"/>
                                </p:to>
                              </p:set>
                            </p:childTnLst>
                          </p:cTn>
                        </p:par>
                      </p:childTnLst>
                    </p:cTn>
                  </p:par>
                  <p:par>
                    <p:cTn id="7" fill="hold">
                      <p:stCondLst>
                        <p:cond delay="indefinite"/>
                      </p:stCondLst>
                      <p:childTnLst>
                        <p:par>
                          <p:cTn id="8" fill="hold">
                            <p:stCondLst>
                              <p:cond delay="0"/>
                            </p:stCondLst>
                            <p:childTnLst>
                              <p:par>
                                <p:cTn id="9" presetID="10" presetClass="exit" presetSubtype="0" fill="hold" grpId="0" nodeType="clickEffect">
                                  <p:stCondLst>
                                    <p:cond delay="0"/>
                                  </p:stCondLst>
                                  <p:childTnLst>
                                    <p:animEffect transition="out" filter="fade">
                                      <p:cBhvr>
                                        <p:cTn id="10" dur="500"/>
                                        <p:tgtEl>
                                          <p:spTgt spid="84"/>
                                        </p:tgtEl>
                                      </p:cBhvr>
                                    </p:animEffect>
                                    <p:set>
                                      <p:cBhvr>
                                        <p:cTn id="11" dur="1" fill="hold">
                                          <p:stCondLst>
                                            <p:cond delay="499"/>
                                          </p:stCondLst>
                                        </p:cTn>
                                        <p:tgtEl>
                                          <p:spTgt spid="84"/>
                                        </p:tgtEl>
                                        <p:attrNameLst>
                                          <p:attrName>style.visibility</p:attrName>
                                        </p:attrNameLst>
                                      </p:cBhvr>
                                      <p:to>
                                        <p:strVal val="hidden"/>
                                      </p:to>
                                    </p:set>
                                  </p:childTnLst>
                                </p:cTn>
                              </p:par>
                            </p:childTnLst>
                          </p:cTn>
                        </p:par>
                      </p:childTnLst>
                    </p:cTn>
                  </p:par>
                  <p:par>
                    <p:cTn id="12" fill="hold">
                      <p:stCondLst>
                        <p:cond delay="indefinite"/>
                      </p:stCondLst>
                      <p:childTnLst>
                        <p:par>
                          <p:cTn id="13" fill="hold">
                            <p:stCondLst>
                              <p:cond delay="0"/>
                            </p:stCondLst>
                            <p:childTnLst>
                              <p:par>
                                <p:cTn id="14" presetID="10" presetClass="exit" presetSubtype="0" fill="hold" grpId="0" nodeType="clickEffect">
                                  <p:stCondLst>
                                    <p:cond delay="0"/>
                                  </p:stCondLst>
                                  <p:childTnLst>
                                    <p:animEffect transition="out" filter="fade">
                                      <p:cBhvr>
                                        <p:cTn id="15" dur="500"/>
                                        <p:tgtEl>
                                          <p:spTgt spid="95"/>
                                        </p:tgtEl>
                                      </p:cBhvr>
                                    </p:animEffect>
                                    <p:set>
                                      <p:cBhvr>
                                        <p:cTn id="16" dur="1" fill="hold">
                                          <p:stCondLst>
                                            <p:cond delay="499"/>
                                          </p:stCondLst>
                                        </p:cTn>
                                        <p:tgtEl>
                                          <p:spTgt spid="9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9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FD1AC-5DDE-CF93-0946-1D789193E2D1}"/>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5EA2AA5A-7712-CE85-0446-44BBDFFF900B}"/>
              </a:ext>
            </a:extLst>
          </p:cNvPr>
          <p:cNvSpPr/>
          <p:nvPr/>
        </p:nvSpPr>
        <p:spPr>
          <a:xfrm rot="5400000">
            <a:off x="2587337" y="-2587332"/>
            <a:ext cx="6857999" cy="12032677"/>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83CC2137-B381-6765-3EA2-9F4FC2B9276A}"/>
              </a:ext>
            </a:extLst>
          </p:cNvPr>
          <p:cNvSpPr>
            <a:spLocks noGrp="1"/>
          </p:cNvSpPr>
          <p:nvPr>
            <p:ph type="ctrTitle"/>
          </p:nvPr>
        </p:nvSpPr>
        <p:spPr/>
        <p:txBody>
          <a:bodyPr/>
          <a:lstStyle/>
          <a:p>
            <a:r>
              <a:rPr lang="en-US" dirty="0"/>
              <a:t>Limitations &amp; </a:t>
            </a:r>
            <a:br>
              <a:rPr lang="en-US" dirty="0"/>
            </a:br>
            <a:r>
              <a:rPr lang="en-US" dirty="0"/>
              <a:t>Future Work</a:t>
            </a:r>
          </a:p>
        </p:txBody>
      </p:sp>
      <p:sp>
        <p:nvSpPr>
          <p:cNvPr id="3" name="Slide Number Placeholder 2">
            <a:extLst>
              <a:ext uri="{FF2B5EF4-FFF2-40B4-BE49-F238E27FC236}">
                <a16:creationId xmlns:a16="http://schemas.microsoft.com/office/drawing/2014/main" id="{9A3F4243-6829-3577-F4D1-9AFDDDF06F9D}"/>
              </a:ext>
            </a:extLst>
          </p:cNvPr>
          <p:cNvSpPr>
            <a:spLocks noGrp="1"/>
          </p:cNvSpPr>
          <p:nvPr>
            <p:ph type="sldNum" sz="quarter" idx="12"/>
          </p:nvPr>
        </p:nvSpPr>
        <p:spPr/>
        <p:txBody>
          <a:bodyPr/>
          <a:lstStyle/>
          <a:p>
            <a:fld id="{1370230A-709D-4205-8636-A3280FD27E74}" type="slidenum">
              <a:rPr lang="en-US" smtClean="0"/>
              <a:t>42</a:t>
            </a:fld>
            <a:endParaRPr lang="en-US"/>
          </a:p>
        </p:txBody>
      </p:sp>
      <p:sp>
        <p:nvSpPr>
          <p:cNvPr id="9" name="Rectangle 8">
            <a:extLst>
              <a:ext uri="{FF2B5EF4-FFF2-40B4-BE49-F238E27FC236}">
                <a16:creationId xmlns:a16="http://schemas.microsoft.com/office/drawing/2014/main" id="{26791D62-E96F-A213-85E8-8B9E380A8EBA}"/>
              </a:ext>
            </a:extLst>
          </p:cNvPr>
          <p:cNvSpPr/>
          <p:nvPr/>
        </p:nvSpPr>
        <p:spPr>
          <a:xfrm rot="5400000">
            <a:off x="8657014"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4" name="Straight Connector 3">
            <a:extLst>
              <a:ext uri="{FF2B5EF4-FFF2-40B4-BE49-F238E27FC236}">
                <a16:creationId xmlns:a16="http://schemas.microsoft.com/office/drawing/2014/main" id="{36FC8B30-4035-3013-7C1B-AAFD322C2C8E}"/>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4305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64F4C-3ED9-0D41-70B4-FFD13C69013D}"/>
            </a:ext>
          </a:extLst>
        </p:cNvPr>
        <p:cNvGrpSpPr/>
        <p:nvPr/>
      </p:nvGrpSpPr>
      <p:grpSpPr>
        <a:xfrm>
          <a:off x="0" y="0"/>
          <a:ext cx="0" cy="0"/>
          <a:chOff x="0" y="0"/>
          <a:chExt cx="0" cy="0"/>
        </a:xfrm>
      </p:grpSpPr>
      <p:pic>
        <p:nvPicPr>
          <p:cNvPr id="3" name="Picture 2" descr="Updated limitation diagram">
            <a:extLst>
              <a:ext uri="{FF2B5EF4-FFF2-40B4-BE49-F238E27FC236}">
                <a16:creationId xmlns:a16="http://schemas.microsoft.com/office/drawing/2014/main" id="{BC27EB50-8533-CE70-9BD1-3C9D04F8A2D2}"/>
              </a:ext>
            </a:extLst>
          </p:cNvPr>
          <p:cNvPicPr>
            <a:picLocks noChangeAspect="1"/>
          </p:cNvPicPr>
          <p:nvPr/>
        </p:nvPicPr>
        <p:blipFill>
          <a:blip r:embed="rId3"/>
          <a:stretch>
            <a:fillRect/>
          </a:stretch>
        </p:blipFill>
        <p:spPr>
          <a:xfrm>
            <a:off x="1054150" y="2740325"/>
            <a:ext cx="10155555" cy="2702051"/>
          </a:xfrm>
          <a:prstGeom prst="rect">
            <a:avLst/>
          </a:prstGeom>
        </p:spPr>
      </p:pic>
      <p:sp>
        <p:nvSpPr>
          <p:cNvPr id="2" name="Title 1">
            <a:extLst>
              <a:ext uri="{FF2B5EF4-FFF2-40B4-BE49-F238E27FC236}">
                <a16:creationId xmlns:a16="http://schemas.microsoft.com/office/drawing/2014/main" id="{BDFEB3A9-1AFC-0C0D-3259-EF07750BBA03}"/>
              </a:ext>
            </a:extLst>
          </p:cNvPr>
          <p:cNvSpPr>
            <a:spLocks noGrp="1"/>
          </p:cNvSpPr>
          <p:nvPr>
            <p:ph type="title"/>
          </p:nvPr>
        </p:nvSpPr>
        <p:spPr/>
        <p:txBody>
          <a:bodyPr/>
          <a:lstStyle/>
          <a:p>
            <a:r>
              <a:rPr lang="en-US" dirty="0"/>
              <a:t>Key Limitations</a:t>
            </a:r>
          </a:p>
        </p:txBody>
      </p:sp>
      <p:sp>
        <p:nvSpPr>
          <p:cNvPr id="4" name="Slide Number Placeholder 3">
            <a:extLst>
              <a:ext uri="{FF2B5EF4-FFF2-40B4-BE49-F238E27FC236}">
                <a16:creationId xmlns:a16="http://schemas.microsoft.com/office/drawing/2014/main" id="{416C8416-D226-C509-CB72-D604A9827CF6}"/>
              </a:ext>
            </a:extLst>
          </p:cNvPr>
          <p:cNvSpPr>
            <a:spLocks noGrp="1"/>
          </p:cNvSpPr>
          <p:nvPr>
            <p:ph type="sldNum" sz="quarter" idx="12"/>
          </p:nvPr>
        </p:nvSpPr>
        <p:spPr/>
        <p:txBody>
          <a:bodyPr/>
          <a:lstStyle/>
          <a:p>
            <a:fld id="{1370230A-709D-4205-8636-A3280FD27E74}" type="slidenum">
              <a:rPr lang="en-US" smtClean="0"/>
              <a:t>43</a:t>
            </a:fld>
            <a:endParaRPr lang="en-US"/>
          </a:p>
        </p:txBody>
      </p:sp>
      <p:sp>
        <p:nvSpPr>
          <p:cNvPr id="6" name="Rectangle 5">
            <a:extLst>
              <a:ext uri="{FF2B5EF4-FFF2-40B4-BE49-F238E27FC236}">
                <a16:creationId xmlns:a16="http://schemas.microsoft.com/office/drawing/2014/main" id="{772880ED-7A80-EAC9-1ACE-E73EB0EA1B27}"/>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056805A1-476C-B101-0042-020292DE801C}"/>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6840757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C72CD-1FA5-5BD7-7549-C6FD2F6074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B5452-E424-5FA2-53E3-40E0B407B62F}"/>
              </a:ext>
            </a:extLst>
          </p:cNvPr>
          <p:cNvSpPr>
            <a:spLocks noGrp="1"/>
          </p:cNvSpPr>
          <p:nvPr>
            <p:ph type="title"/>
          </p:nvPr>
        </p:nvSpPr>
        <p:spPr/>
        <p:txBody>
          <a:bodyPr/>
          <a:lstStyle/>
          <a:p>
            <a:r>
              <a:rPr lang="en-US" dirty="0"/>
              <a:t>Live Data and Forward Testing</a:t>
            </a:r>
          </a:p>
        </p:txBody>
      </p:sp>
      <p:sp>
        <p:nvSpPr>
          <p:cNvPr id="4" name="Slide Number Placeholder 3">
            <a:extLst>
              <a:ext uri="{FF2B5EF4-FFF2-40B4-BE49-F238E27FC236}">
                <a16:creationId xmlns:a16="http://schemas.microsoft.com/office/drawing/2014/main" id="{13A43503-5E3E-E433-D210-5B4F5261A98D}"/>
              </a:ext>
            </a:extLst>
          </p:cNvPr>
          <p:cNvSpPr>
            <a:spLocks noGrp="1"/>
          </p:cNvSpPr>
          <p:nvPr>
            <p:ph type="sldNum" sz="quarter" idx="12"/>
          </p:nvPr>
        </p:nvSpPr>
        <p:spPr/>
        <p:txBody>
          <a:bodyPr/>
          <a:lstStyle/>
          <a:p>
            <a:fld id="{1370230A-709D-4205-8636-A3280FD27E74}" type="slidenum">
              <a:rPr lang="en-US" smtClean="0"/>
              <a:t>44</a:t>
            </a:fld>
            <a:endParaRPr lang="en-US"/>
          </a:p>
        </p:txBody>
      </p:sp>
      <p:pic>
        <p:nvPicPr>
          <p:cNvPr id="3" name="Content Placeholder 2" descr="Updated Live Forward-Testing Loop">
            <a:extLst>
              <a:ext uri="{FF2B5EF4-FFF2-40B4-BE49-F238E27FC236}">
                <a16:creationId xmlns:a16="http://schemas.microsoft.com/office/drawing/2014/main" id="{98F2AAE0-5607-42A3-EB2C-3B36BA7F77B7}"/>
              </a:ext>
            </a:extLst>
          </p:cNvPr>
          <p:cNvPicPr>
            <a:picLocks noGrp="1" noChangeAspect="1"/>
          </p:cNvPicPr>
          <p:nvPr>
            <p:ph idx="13"/>
          </p:nvPr>
        </p:nvPicPr>
        <p:blipFill>
          <a:blip r:embed="rId3"/>
          <a:stretch>
            <a:fillRect/>
          </a:stretch>
        </p:blipFill>
        <p:spPr>
          <a:xfrm>
            <a:off x="1392609" y="2942524"/>
            <a:ext cx="9467107" cy="1947676"/>
          </a:xfrm>
          <a:prstGeom prst="rect">
            <a:avLst/>
          </a:prstGeom>
        </p:spPr>
      </p:pic>
      <p:sp>
        <p:nvSpPr>
          <p:cNvPr id="6" name="Rectangle 5">
            <a:extLst>
              <a:ext uri="{FF2B5EF4-FFF2-40B4-BE49-F238E27FC236}">
                <a16:creationId xmlns:a16="http://schemas.microsoft.com/office/drawing/2014/main" id="{AD33A49E-1CD1-153B-22DC-E540F739E85E}"/>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8EF3B326-6448-9FAF-A8B1-0BCE259CE63D}"/>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1506139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4AFBC-57C1-671C-2937-91C00058F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2DC4-A870-7360-7669-9DABB4FC4571}"/>
              </a:ext>
            </a:extLst>
          </p:cNvPr>
          <p:cNvSpPr>
            <a:spLocks noGrp="1"/>
          </p:cNvSpPr>
          <p:nvPr>
            <p:ph type="title"/>
          </p:nvPr>
        </p:nvSpPr>
        <p:spPr/>
        <p:txBody>
          <a:bodyPr/>
          <a:lstStyle/>
          <a:p>
            <a:r>
              <a:rPr lang="en-US" dirty="0"/>
              <a:t>Return-Aware Suitability</a:t>
            </a:r>
          </a:p>
        </p:txBody>
      </p:sp>
      <p:sp>
        <p:nvSpPr>
          <p:cNvPr id="4" name="Slide Number Placeholder 3">
            <a:extLst>
              <a:ext uri="{FF2B5EF4-FFF2-40B4-BE49-F238E27FC236}">
                <a16:creationId xmlns:a16="http://schemas.microsoft.com/office/drawing/2014/main" id="{2DA583BF-2BDE-633A-5C25-AACDDF9110B7}"/>
              </a:ext>
            </a:extLst>
          </p:cNvPr>
          <p:cNvSpPr>
            <a:spLocks noGrp="1"/>
          </p:cNvSpPr>
          <p:nvPr>
            <p:ph type="sldNum" sz="quarter" idx="12"/>
          </p:nvPr>
        </p:nvSpPr>
        <p:spPr/>
        <p:txBody>
          <a:bodyPr/>
          <a:lstStyle/>
          <a:p>
            <a:fld id="{1370230A-709D-4205-8636-A3280FD27E74}" type="slidenum">
              <a:rPr lang="en-US" smtClean="0"/>
              <a:t>45</a:t>
            </a:fld>
            <a:endParaRPr lang="en-US"/>
          </a:p>
        </p:txBody>
      </p:sp>
      <p:sp>
        <p:nvSpPr>
          <p:cNvPr id="6" name="Rectangle 5">
            <a:extLst>
              <a:ext uri="{FF2B5EF4-FFF2-40B4-BE49-F238E27FC236}">
                <a16:creationId xmlns:a16="http://schemas.microsoft.com/office/drawing/2014/main" id="{D92A5F04-BDCD-CC33-C444-D39B844EC847}"/>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7" name="Rectangle 6">
            <a:extLst>
              <a:ext uri="{FF2B5EF4-FFF2-40B4-BE49-F238E27FC236}">
                <a16:creationId xmlns:a16="http://schemas.microsoft.com/office/drawing/2014/main" id="{509B7C6A-99D8-352A-0D4F-B4DCCCC179D7}"/>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TextBox 9">
            <a:extLst>
              <a:ext uri="{FF2B5EF4-FFF2-40B4-BE49-F238E27FC236}">
                <a16:creationId xmlns:a16="http://schemas.microsoft.com/office/drawing/2014/main" id="{B2F7CF58-F83B-4181-A45C-2CA8CE3A9AF2}"/>
              </a:ext>
            </a:extLst>
          </p:cNvPr>
          <p:cNvSpPr txBox="1"/>
          <p:nvPr/>
        </p:nvSpPr>
        <p:spPr>
          <a:xfrm>
            <a:off x="1151233" y="1800678"/>
            <a:ext cx="8890000" cy="939800"/>
          </a:xfrm>
          <a:prstGeom prst="rect">
            <a:avLst/>
          </a:prstGeom>
          <a:noFill/>
        </p:spPr>
        <p:txBody>
          <a:bodyPr vertOverflow="overflow" vert="horz" wrap="square" rtlCol="0" anchor="t">
            <a:noAutofit/>
          </a:bodyPr>
          <a:lstStyle/>
          <a:p>
            <a:pPr algn="l"/>
            <a:r>
              <a:rPr lang="en-US" sz="1400" dirty="0">
                <a:solidFill>
                  <a:srgbClr val="071426"/>
                </a:solidFill>
                <a:latin typeface="+mj-lt"/>
              </a:rPr>
              <a:t>Return awareness can refine suitability, but it should never override investor risk limits.</a:t>
            </a:r>
          </a:p>
        </p:txBody>
      </p:sp>
      <p:sp>
        <p:nvSpPr>
          <p:cNvPr id="11" name="Rectangle 10">
            <a:extLst>
              <a:ext uri="{FF2B5EF4-FFF2-40B4-BE49-F238E27FC236}">
                <a16:creationId xmlns:a16="http://schemas.microsoft.com/office/drawing/2014/main" id="{128489D2-AFA8-44AB-ADCD-F3FC6D7F38C5}"/>
              </a:ext>
            </a:extLst>
          </p:cNvPr>
          <p:cNvSpPr/>
          <p:nvPr/>
        </p:nvSpPr>
        <p:spPr>
          <a:xfrm>
            <a:off x="6088380" y="3109243"/>
            <a:ext cx="15240" cy="2133600"/>
          </a:xfrm>
          <a:prstGeom prst="rect">
            <a:avLst/>
          </a:prstGeom>
          <a:solidFill>
            <a:srgbClr val="071426"/>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Oval 12">
            <a:extLst>
              <a:ext uri="{FF2B5EF4-FFF2-40B4-BE49-F238E27FC236}">
                <a16:creationId xmlns:a16="http://schemas.microsoft.com/office/drawing/2014/main" id="{7C310EEC-AB52-4AD6-9816-07415DAC27E6}"/>
              </a:ext>
            </a:extLst>
          </p:cNvPr>
          <p:cNvSpPr/>
          <p:nvPr/>
        </p:nvSpPr>
        <p:spPr>
          <a:xfrm>
            <a:off x="1304849" y="3609526"/>
            <a:ext cx="69850" cy="69850"/>
          </a:xfrm>
          <a:prstGeom prst="ellipse">
            <a:avLst/>
          </a:prstGeom>
          <a:solidFill>
            <a:srgbClr val="00F00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5CB260E4-7B44-4484-A20C-9A0AC7483772}"/>
              </a:ext>
            </a:extLst>
          </p:cNvPr>
          <p:cNvSpPr txBox="1"/>
          <p:nvPr/>
        </p:nvSpPr>
        <p:spPr>
          <a:xfrm>
            <a:off x="1462378" y="3450776"/>
            <a:ext cx="4543859" cy="457200"/>
          </a:xfrm>
          <a:prstGeom prst="rect">
            <a:avLst/>
          </a:prstGeom>
          <a:noFill/>
        </p:spPr>
        <p:txBody>
          <a:bodyPr vertOverflow="overflow" vert="horz" wrap="square" rtlCol="0" anchor="t">
            <a:noAutofit/>
          </a:bodyPr>
          <a:lstStyle/>
          <a:p>
            <a:pPr algn="l"/>
            <a:r>
              <a:rPr lang="en-US" sz="2050" b="1" dirty="0">
                <a:solidFill>
                  <a:srgbClr val="071426"/>
                </a:solidFill>
                <a:latin typeface="Aptos Display"/>
              </a:rPr>
              <a:t>Risk suitability defines the boundaries</a:t>
            </a:r>
          </a:p>
        </p:txBody>
      </p:sp>
      <p:sp>
        <p:nvSpPr>
          <p:cNvPr id="15" name="TextBox 14">
            <a:extLst>
              <a:ext uri="{FF2B5EF4-FFF2-40B4-BE49-F238E27FC236}">
                <a16:creationId xmlns:a16="http://schemas.microsoft.com/office/drawing/2014/main" id="{9DAB81A3-08B1-479E-B85E-5C2A5ACBFDA7}"/>
              </a:ext>
            </a:extLst>
          </p:cNvPr>
          <p:cNvSpPr txBox="1"/>
          <p:nvPr/>
        </p:nvSpPr>
        <p:spPr>
          <a:xfrm>
            <a:off x="1490622" y="4062320"/>
            <a:ext cx="4038600" cy="787400"/>
          </a:xfrm>
          <a:prstGeom prst="rect">
            <a:avLst/>
          </a:prstGeom>
          <a:noFill/>
        </p:spPr>
        <p:txBody>
          <a:bodyPr vertOverflow="overflow" vert="horz" wrap="square" rtlCol="0" anchor="t">
            <a:noAutofit/>
          </a:bodyPr>
          <a:lstStyle/>
          <a:p>
            <a:pPr algn="l"/>
            <a:r>
              <a:rPr lang="en-US" sz="1750" dirty="0">
                <a:solidFill>
                  <a:srgbClr val="111827"/>
                </a:solidFill>
                <a:latin typeface="Aptos Display"/>
              </a:rPr>
              <a:t>Choices must remain consistent with
the investor’s risk tolerance without increased risk exposure.</a:t>
            </a:r>
          </a:p>
        </p:txBody>
      </p:sp>
      <p:sp>
        <p:nvSpPr>
          <p:cNvPr id="17" name="Oval 16">
            <a:extLst>
              <a:ext uri="{FF2B5EF4-FFF2-40B4-BE49-F238E27FC236}">
                <a16:creationId xmlns:a16="http://schemas.microsoft.com/office/drawing/2014/main" id="{5B8D2A04-B9B8-47B7-B58E-48CE5BE2389A}"/>
              </a:ext>
            </a:extLst>
          </p:cNvPr>
          <p:cNvSpPr/>
          <p:nvPr/>
        </p:nvSpPr>
        <p:spPr>
          <a:xfrm>
            <a:off x="6662778" y="3609526"/>
            <a:ext cx="69850" cy="69850"/>
          </a:xfrm>
          <a:prstGeom prst="ellipse">
            <a:avLst/>
          </a:prstGeom>
          <a:solidFill>
            <a:srgbClr val="00F000"/>
          </a:solidFill>
          <a:ln w="15875"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7D07610A-1FB9-4084-881B-ED4CC7CF31E3}"/>
              </a:ext>
            </a:extLst>
          </p:cNvPr>
          <p:cNvSpPr txBox="1"/>
          <p:nvPr/>
        </p:nvSpPr>
        <p:spPr>
          <a:xfrm>
            <a:off x="6896913" y="3450776"/>
            <a:ext cx="4114800" cy="457200"/>
          </a:xfrm>
          <a:prstGeom prst="rect">
            <a:avLst/>
          </a:prstGeom>
          <a:noFill/>
        </p:spPr>
        <p:txBody>
          <a:bodyPr vertOverflow="overflow" vert="horz" wrap="square" rtlCol="0" anchor="t">
            <a:noAutofit/>
          </a:bodyPr>
          <a:lstStyle/>
          <a:p>
            <a:pPr algn="l"/>
            <a:r>
              <a:rPr lang="en-US" sz="2050" b="1" dirty="0">
                <a:solidFill>
                  <a:srgbClr val="071426"/>
                </a:solidFill>
                <a:latin typeface="Aptos Display"/>
              </a:rPr>
              <a:t>Return awareness adds context</a:t>
            </a:r>
          </a:p>
        </p:txBody>
      </p:sp>
      <p:sp>
        <p:nvSpPr>
          <p:cNvPr id="19" name="TextBox 18">
            <a:extLst>
              <a:ext uri="{FF2B5EF4-FFF2-40B4-BE49-F238E27FC236}">
                <a16:creationId xmlns:a16="http://schemas.microsoft.com/office/drawing/2014/main" id="{CABE72A2-BF00-46F9-B396-B778EEA086CA}"/>
              </a:ext>
            </a:extLst>
          </p:cNvPr>
          <p:cNvSpPr txBox="1"/>
          <p:nvPr/>
        </p:nvSpPr>
        <p:spPr>
          <a:xfrm>
            <a:off x="6896913" y="4062320"/>
            <a:ext cx="4165600" cy="787400"/>
          </a:xfrm>
          <a:prstGeom prst="rect">
            <a:avLst/>
          </a:prstGeom>
          <a:noFill/>
        </p:spPr>
        <p:txBody>
          <a:bodyPr vertOverflow="overflow" vert="horz" wrap="square" rtlCol="0" anchor="t">
            <a:noAutofit/>
          </a:bodyPr>
          <a:lstStyle/>
          <a:p>
            <a:pPr algn="l"/>
            <a:r>
              <a:rPr lang="en-US" sz="1750" dirty="0">
                <a:solidFill>
                  <a:srgbClr val="111827"/>
                </a:solidFill>
                <a:latin typeface="Aptos Display"/>
              </a:rPr>
              <a:t>Return information may support a more
complete suitability assessment while maintaining better returns for investors.</a:t>
            </a:r>
          </a:p>
        </p:txBody>
      </p:sp>
      <p:sp>
        <p:nvSpPr>
          <p:cNvPr id="20" name="TextBox 19">
            <a:extLst>
              <a:ext uri="{FF2B5EF4-FFF2-40B4-BE49-F238E27FC236}">
                <a16:creationId xmlns:a16="http://schemas.microsoft.com/office/drawing/2014/main" id="{2EA27113-D77F-4065-B346-516853C09071}"/>
              </a:ext>
            </a:extLst>
          </p:cNvPr>
          <p:cNvSpPr txBox="1"/>
          <p:nvPr/>
        </p:nvSpPr>
        <p:spPr>
          <a:xfrm>
            <a:off x="4739843" y="6259971"/>
            <a:ext cx="4775200" cy="279400"/>
          </a:xfrm>
          <a:prstGeom prst="rect">
            <a:avLst/>
          </a:prstGeom>
          <a:noFill/>
        </p:spPr>
        <p:txBody>
          <a:bodyPr vertOverflow="overflow" vert="horz" wrap="square" rtlCol="0" anchor="t">
            <a:noAutofit/>
          </a:bodyPr>
          <a:lstStyle/>
          <a:p>
            <a:pPr algn="l"/>
            <a:r>
              <a:rPr lang="en-US" sz="1250" dirty="0">
                <a:solidFill>
                  <a:srgbClr val="071426"/>
                </a:solidFill>
                <a:latin typeface="Aptos Display"/>
              </a:rPr>
              <a:t>Exact integration requires further research.</a:t>
            </a:r>
          </a:p>
        </p:txBody>
      </p:sp>
    </p:spTree>
    <p:extLst>
      <p:ext uri="{BB962C8B-B14F-4D97-AF65-F5344CB8AC3E}">
        <p14:creationId xmlns:p14="http://schemas.microsoft.com/office/powerpoint/2010/main" val="1822701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98AFA-39AD-9513-D64C-AEFDB678BF73}"/>
              </a:ext>
            </a:extLst>
          </p:cNvPr>
          <p:cNvSpPr>
            <a:spLocks noGrp="1"/>
          </p:cNvSpPr>
          <p:nvPr>
            <p:ph type="title"/>
          </p:nvPr>
        </p:nvSpPr>
        <p:spPr/>
        <p:txBody>
          <a:bodyPr/>
          <a:lstStyle/>
          <a:p>
            <a:r>
              <a:rPr lang="en-US" dirty="0"/>
              <a:t>Key References</a:t>
            </a:r>
          </a:p>
        </p:txBody>
      </p:sp>
      <p:sp>
        <p:nvSpPr>
          <p:cNvPr id="4" name="Slide Number Placeholder 3">
            <a:extLst>
              <a:ext uri="{FF2B5EF4-FFF2-40B4-BE49-F238E27FC236}">
                <a16:creationId xmlns:a16="http://schemas.microsoft.com/office/drawing/2014/main" id="{C9822F69-DAAD-B8E5-58DF-15BED3BBA8F6}"/>
              </a:ext>
            </a:extLst>
          </p:cNvPr>
          <p:cNvSpPr>
            <a:spLocks noGrp="1"/>
          </p:cNvSpPr>
          <p:nvPr>
            <p:ph type="sldNum" sz="quarter" idx="12"/>
          </p:nvPr>
        </p:nvSpPr>
        <p:spPr/>
        <p:txBody>
          <a:bodyPr/>
          <a:lstStyle/>
          <a:p>
            <a:fld id="{1370230A-709D-4205-8636-A3280FD27E74}" type="slidenum">
              <a:rPr lang="en-US" smtClean="0"/>
              <a:t>46</a:t>
            </a:fld>
            <a:endParaRPr lang="en-US"/>
          </a:p>
        </p:txBody>
      </p:sp>
      <p:sp>
        <p:nvSpPr>
          <p:cNvPr id="5" name="KR_core_heading_dot"/>
          <p:cNvSpPr/>
          <p:nvPr/>
        </p:nvSpPr>
        <p:spPr>
          <a:xfrm>
            <a:off x="1097280" y="2409472"/>
            <a:ext cx="88900" cy="88900"/>
          </a:xfrm>
          <a:prstGeom prst="ellipse">
            <a:avLst/>
          </a:prstGeom>
          <a:solidFill>
            <a:srgbClr val="00F700"/>
          </a:solidFill>
          <a:ln>
            <a:noFill/>
          </a:ln>
        </p:spPr>
        <p:txBody>
          <a:bodyPr/>
          <a:lstStyle/>
          <a:p>
            <a:endParaRPr lang="en-US" dirty="0"/>
          </a:p>
        </p:txBody>
      </p:sp>
      <p:sp>
        <p:nvSpPr>
          <p:cNvPr id="6" name="KR_core_heading"/>
          <p:cNvSpPr txBox="1"/>
          <p:nvPr/>
        </p:nvSpPr>
        <p:spPr>
          <a:xfrm>
            <a:off x="1300480" y="2282472"/>
            <a:ext cx="4381500" cy="355600"/>
          </a:xfrm>
          <a:prstGeom prst="rect">
            <a:avLst/>
          </a:prstGeom>
          <a:noFill/>
          <a:ln>
            <a:noFill/>
          </a:ln>
        </p:spPr>
        <p:txBody>
          <a:bodyPr wrap="square" lIns="0" tIns="0" rIns="0" bIns="0" anchor="t"/>
          <a:lstStyle/>
          <a:p>
            <a:pPr algn="l"/>
            <a:r>
              <a:rPr lang="en-US" sz="2000" dirty="0">
                <a:solidFill>
                  <a:srgbClr val="0C171F"/>
                </a:solidFill>
                <a:latin typeface="Century Gothic"/>
                <a:cs typeface="Century Gothic"/>
              </a:rPr>
              <a:t>Academic References</a:t>
            </a:r>
            <a:endParaRPr lang="en-US" sz="2000" dirty="0"/>
          </a:p>
        </p:txBody>
      </p:sp>
      <p:sp>
        <p:nvSpPr>
          <p:cNvPr id="7" name="KR_data_heading_dot"/>
          <p:cNvSpPr/>
          <p:nvPr/>
        </p:nvSpPr>
        <p:spPr>
          <a:xfrm>
            <a:off x="7802880" y="2409472"/>
            <a:ext cx="88900" cy="88900"/>
          </a:xfrm>
          <a:prstGeom prst="ellipse">
            <a:avLst/>
          </a:prstGeom>
          <a:solidFill>
            <a:srgbClr val="00F700"/>
          </a:solidFill>
          <a:ln>
            <a:noFill/>
          </a:ln>
        </p:spPr>
        <p:txBody>
          <a:bodyPr/>
          <a:lstStyle/>
          <a:p>
            <a:endParaRPr lang="en-US" dirty="0"/>
          </a:p>
        </p:txBody>
      </p:sp>
      <p:sp>
        <p:nvSpPr>
          <p:cNvPr id="8" name="KR_data_heading"/>
          <p:cNvSpPr txBox="1"/>
          <p:nvPr/>
        </p:nvSpPr>
        <p:spPr>
          <a:xfrm>
            <a:off x="8006080" y="2282472"/>
            <a:ext cx="3048000" cy="355600"/>
          </a:xfrm>
          <a:prstGeom prst="rect">
            <a:avLst/>
          </a:prstGeom>
          <a:noFill/>
          <a:ln>
            <a:noFill/>
          </a:ln>
        </p:spPr>
        <p:txBody>
          <a:bodyPr wrap="square" lIns="0" tIns="0" rIns="0" bIns="0" anchor="t"/>
          <a:lstStyle/>
          <a:p>
            <a:pPr algn="l"/>
            <a:r>
              <a:rPr lang="en-US" sz="2000" dirty="0">
                <a:solidFill>
                  <a:srgbClr val="0C171F"/>
                </a:solidFill>
                <a:latin typeface="Century Gothic"/>
                <a:cs typeface="Century Gothic"/>
              </a:rPr>
              <a:t>Historical Data Sources</a:t>
            </a:r>
            <a:endParaRPr lang="en-US" sz="2000" dirty="0"/>
          </a:p>
        </p:txBody>
      </p:sp>
      <p:sp>
        <p:nvSpPr>
          <p:cNvPr id="9" name="KR_vertical_divider"/>
          <p:cNvSpPr/>
          <p:nvPr/>
        </p:nvSpPr>
        <p:spPr>
          <a:xfrm>
            <a:off x="7269480" y="2320572"/>
            <a:ext cx="15240" cy="3238500"/>
          </a:xfrm>
          <a:prstGeom prst="rect">
            <a:avLst/>
          </a:prstGeom>
          <a:solidFill>
            <a:srgbClr val="1F394D">
              <a:alpha val="45000"/>
            </a:srgbClr>
          </a:solidFill>
          <a:ln>
            <a:noFill/>
          </a:ln>
        </p:spPr>
        <p:txBody>
          <a:bodyPr/>
          <a:lstStyle/>
          <a:p>
            <a:endParaRPr lang="en-US" dirty="0"/>
          </a:p>
        </p:txBody>
      </p:sp>
      <p:sp>
        <p:nvSpPr>
          <p:cNvPr id="20" name="KR_data_source_1"/>
          <p:cNvSpPr txBox="1"/>
          <p:nvPr/>
        </p:nvSpPr>
        <p:spPr>
          <a:xfrm>
            <a:off x="8006080" y="2904772"/>
            <a:ext cx="3175000" cy="584200"/>
          </a:xfrm>
          <a:prstGeom prst="rect">
            <a:avLst/>
          </a:prstGeom>
          <a:noFill/>
          <a:ln>
            <a:noFill/>
          </a:ln>
        </p:spPr>
        <p:txBody>
          <a:bodyPr wrap="square" lIns="0" tIns="0" rIns="0" bIns="0" anchor="t"/>
          <a:lstStyle/>
          <a:p>
            <a:pPr algn="l"/>
            <a:r>
              <a:rPr lang="en-US" sz="1700" dirty="0">
                <a:solidFill>
                  <a:srgbClr val="0C171F"/>
                </a:solidFill>
                <a:latin typeface="Calibri"/>
                <a:cs typeface="Calibri"/>
              </a:rPr>
              <a:t>Investing.com</a:t>
            </a:r>
            <a:r>
              <a:rPr lang="en-US" sz="1700" dirty="0">
                <a:solidFill>
                  <a:srgbClr val="1F394D"/>
                </a:solidFill>
                <a:latin typeface="Calibri"/>
                <a:cs typeface="Calibri"/>
              </a:rPr>
              <a:t> — historical market-series CSV data</a:t>
            </a:r>
            <a:endParaRPr lang="en-US" sz="1700" dirty="0"/>
          </a:p>
        </p:txBody>
      </p:sp>
      <p:sp>
        <p:nvSpPr>
          <p:cNvPr id="21" name="KR_data_source_2"/>
          <p:cNvSpPr txBox="1"/>
          <p:nvPr/>
        </p:nvSpPr>
        <p:spPr>
          <a:xfrm>
            <a:off x="8006080" y="3781072"/>
            <a:ext cx="3175000" cy="635000"/>
          </a:xfrm>
          <a:prstGeom prst="rect">
            <a:avLst/>
          </a:prstGeom>
          <a:noFill/>
          <a:ln>
            <a:noFill/>
          </a:ln>
        </p:spPr>
        <p:txBody>
          <a:bodyPr wrap="square" lIns="0" tIns="0" rIns="0" bIns="0" anchor="t"/>
          <a:lstStyle/>
          <a:p>
            <a:pPr algn="l"/>
            <a:r>
              <a:rPr lang="en-US" sz="1700" dirty="0">
                <a:solidFill>
                  <a:srgbClr val="0C171F"/>
                </a:solidFill>
                <a:latin typeface="Calibri"/>
                <a:cs typeface="Calibri"/>
              </a:rPr>
              <a:t>Egyptian Exchange (EGX)</a:t>
            </a:r>
            <a:r>
              <a:rPr lang="en-US" sz="1700" dirty="0">
                <a:solidFill>
                  <a:srgbClr val="1F394D"/>
                </a:solidFill>
                <a:latin typeface="Calibri"/>
                <a:cs typeface="Calibri"/>
              </a:rPr>
              <a:t> — Macro-economics data</a:t>
            </a:r>
            <a:endParaRPr lang="en-US" sz="1700" dirty="0"/>
          </a:p>
        </p:txBody>
      </p:sp>
      <p:sp>
        <p:nvSpPr>
          <p:cNvPr id="23" name="KR_core_ref_1"/>
          <p:cNvSpPr txBox="1"/>
          <p:nvPr/>
        </p:nvSpPr>
        <p:spPr>
          <a:xfrm>
            <a:off x="1300480" y="2904772"/>
            <a:ext cx="5461000" cy="381000"/>
          </a:xfrm>
          <a:prstGeom prst="rect">
            <a:avLst/>
          </a:prstGeom>
          <a:noFill/>
          <a:ln>
            <a:noFill/>
          </a:ln>
        </p:spPr>
        <p:txBody>
          <a:bodyPr wrap="square" lIns="0" tIns="0" rIns="0" bIns="0" anchor="t"/>
          <a:lstStyle/>
          <a:p>
            <a:pPr algn="l"/>
            <a:r>
              <a:rPr lang="en-US" sz="1700" dirty="0">
                <a:solidFill>
                  <a:srgbClr val="0C171F"/>
                </a:solidFill>
                <a:latin typeface="Calibri"/>
                <a:cs typeface="Calibri"/>
              </a:rPr>
              <a:t>Markowitz (1952)</a:t>
            </a:r>
            <a:r>
              <a:rPr lang="en-US" sz="1700" dirty="0">
                <a:solidFill>
                  <a:srgbClr val="1F394D"/>
                </a:solidFill>
                <a:latin typeface="Calibri"/>
                <a:cs typeface="Calibri"/>
              </a:rPr>
              <a:t> — Portfolio Selection</a:t>
            </a:r>
            <a:endParaRPr lang="en-US" sz="1700" dirty="0"/>
          </a:p>
        </p:txBody>
      </p:sp>
      <p:sp>
        <p:nvSpPr>
          <p:cNvPr id="24" name="KR_core_ref_2"/>
          <p:cNvSpPr txBox="1"/>
          <p:nvPr/>
        </p:nvSpPr>
        <p:spPr>
          <a:xfrm>
            <a:off x="1300480" y="3450872"/>
            <a:ext cx="5461000" cy="381000"/>
          </a:xfrm>
          <a:prstGeom prst="rect">
            <a:avLst/>
          </a:prstGeom>
          <a:noFill/>
          <a:ln>
            <a:noFill/>
          </a:ln>
        </p:spPr>
        <p:txBody>
          <a:bodyPr wrap="square" lIns="0" tIns="0" rIns="0" bIns="0" anchor="t"/>
          <a:lstStyle/>
          <a:p>
            <a:pPr algn="l"/>
            <a:r>
              <a:rPr lang="en-US" sz="1700" dirty="0">
                <a:solidFill>
                  <a:srgbClr val="0C171F"/>
                </a:solidFill>
                <a:latin typeface="Calibri"/>
                <a:cs typeface="Calibri"/>
              </a:rPr>
              <a:t>Wang et al. (2020)</a:t>
            </a:r>
            <a:r>
              <a:rPr lang="en-US" sz="1700" dirty="0">
                <a:solidFill>
                  <a:srgbClr val="1F394D"/>
                </a:solidFill>
                <a:latin typeface="Calibri"/>
                <a:cs typeface="Calibri"/>
              </a:rPr>
              <a:t> — Deep-Learning Portfolio Preselection</a:t>
            </a:r>
            <a:endParaRPr lang="en-US" sz="1700" dirty="0"/>
          </a:p>
        </p:txBody>
      </p:sp>
      <p:sp>
        <p:nvSpPr>
          <p:cNvPr id="25" name="KR_core_ref_3"/>
          <p:cNvSpPr txBox="1"/>
          <p:nvPr/>
        </p:nvSpPr>
        <p:spPr>
          <a:xfrm>
            <a:off x="1300480" y="3996972"/>
            <a:ext cx="5461000" cy="381000"/>
          </a:xfrm>
          <a:prstGeom prst="rect">
            <a:avLst/>
          </a:prstGeom>
          <a:noFill/>
          <a:ln>
            <a:noFill/>
          </a:ln>
        </p:spPr>
        <p:txBody>
          <a:bodyPr wrap="square" lIns="0" tIns="0" rIns="0" bIns="0" anchor="t"/>
          <a:lstStyle/>
          <a:p>
            <a:pPr algn="l"/>
            <a:r>
              <a:rPr lang="en-US" sz="1700" dirty="0">
                <a:solidFill>
                  <a:srgbClr val="0C171F"/>
                </a:solidFill>
                <a:latin typeface="Calibri"/>
                <a:cs typeface="Calibri"/>
              </a:rPr>
              <a:t>Ma et al. (2021)</a:t>
            </a:r>
            <a:r>
              <a:rPr lang="en-US" sz="1700" dirty="0">
                <a:solidFill>
                  <a:srgbClr val="1F394D"/>
                </a:solidFill>
                <a:latin typeface="Calibri"/>
                <a:cs typeface="Calibri"/>
              </a:rPr>
              <a:t> — Return Prediction and Portfolio Optimization</a:t>
            </a:r>
            <a:endParaRPr lang="en-US" sz="1700" dirty="0"/>
          </a:p>
        </p:txBody>
      </p:sp>
      <p:sp>
        <p:nvSpPr>
          <p:cNvPr id="26" name="KR_core_ref_4"/>
          <p:cNvSpPr txBox="1"/>
          <p:nvPr/>
        </p:nvSpPr>
        <p:spPr>
          <a:xfrm>
            <a:off x="1300480" y="4543072"/>
            <a:ext cx="5461000" cy="381000"/>
          </a:xfrm>
          <a:prstGeom prst="rect">
            <a:avLst/>
          </a:prstGeom>
          <a:noFill/>
          <a:ln>
            <a:noFill/>
          </a:ln>
        </p:spPr>
        <p:txBody>
          <a:bodyPr wrap="square" lIns="0" tIns="0" rIns="0" bIns="0" anchor="t"/>
          <a:lstStyle/>
          <a:p>
            <a:pPr algn="l"/>
            <a:r>
              <a:rPr lang="en-US" sz="1700" dirty="0">
                <a:solidFill>
                  <a:srgbClr val="0C171F"/>
                </a:solidFill>
                <a:latin typeface="Calibri"/>
                <a:cs typeface="Calibri"/>
              </a:rPr>
              <a:t>Chaweewanchon &amp; Chaysiri (2022)</a:t>
            </a:r>
            <a:r>
              <a:rPr lang="en-US" sz="1700" dirty="0">
                <a:solidFill>
                  <a:srgbClr val="1F394D"/>
                </a:solidFill>
                <a:latin typeface="Calibri"/>
                <a:cs typeface="Calibri"/>
              </a:rPr>
              <a:t> — Predictive Stock Selection</a:t>
            </a:r>
            <a:endParaRPr lang="en-US" sz="1700" dirty="0"/>
          </a:p>
        </p:txBody>
      </p:sp>
      <p:sp>
        <p:nvSpPr>
          <p:cNvPr id="27" name="KR_core_ref_5"/>
          <p:cNvSpPr txBox="1"/>
          <p:nvPr/>
        </p:nvSpPr>
        <p:spPr>
          <a:xfrm>
            <a:off x="1300480" y="5089172"/>
            <a:ext cx="5461000" cy="381000"/>
          </a:xfrm>
          <a:prstGeom prst="rect">
            <a:avLst/>
          </a:prstGeom>
          <a:noFill/>
          <a:ln>
            <a:noFill/>
          </a:ln>
        </p:spPr>
        <p:txBody>
          <a:bodyPr wrap="square" lIns="0" tIns="0" rIns="0" bIns="0" anchor="t"/>
          <a:lstStyle/>
          <a:p>
            <a:pPr algn="l"/>
            <a:r>
              <a:rPr lang="en-US" sz="1700" dirty="0">
                <a:solidFill>
                  <a:srgbClr val="0C171F"/>
                </a:solidFill>
                <a:latin typeface="Calibri"/>
                <a:cs typeface="Calibri"/>
              </a:rPr>
              <a:t>Atta Mills &amp; Anyomi (2022)</a:t>
            </a:r>
            <a:r>
              <a:rPr lang="en-US" sz="1700" dirty="0">
                <a:solidFill>
                  <a:srgbClr val="1F394D"/>
                </a:solidFill>
                <a:latin typeface="Calibri"/>
                <a:cs typeface="Calibri"/>
              </a:rPr>
              <a:t> — DEA-Based Portfolio Preselection</a:t>
            </a:r>
            <a:endParaRPr lang="en-US" sz="1700" dirty="0"/>
          </a:p>
        </p:txBody>
      </p:sp>
      <p:sp>
        <p:nvSpPr>
          <p:cNvPr id="10" name="Rectangle 9">
            <a:extLst>
              <a:ext uri="{FF2B5EF4-FFF2-40B4-BE49-F238E27FC236}">
                <a16:creationId xmlns:a16="http://schemas.microsoft.com/office/drawing/2014/main" id="{8743CB5F-FDF2-C3B6-3F85-CD4DB93E0E7E}"/>
              </a:ext>
            </a:extLst>
          </p:cNvPr>
          <p:cNvSpPr/>
          <p:nvPr/>
        </p:nvSpPr>
        <p:spPr>
          <a:xfrm rot="5400000">
            <a:off x="-3297182" y="3294122"/>
            <a:ext cx="6857999" cy="269764"/>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11" name="Rectangle 10">
            <a:extLst>
              <a:ext uri="{FF2B5EF4-FFF2-40B4-BE49-F238E27FC236}">
                <a16:creationId xmlns:a16="http://schemas.microsoft.com/office/drawing/2014/main" id="{B33B32C9-CF96-6445-591E-A4452BC50360}"/>
              </a:ext>
            </a:extLst>
          </p:cNvPr>
          <p:cNvSpPr/>
          <p:nvPr/>
        </p:nvSpPr>
        <p:spPr>
          <a:xfrm rot="5400000">
            <a:off x="-3108962" y="3406141"/>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62447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37EE6-31DC-CF8C-3527-3455145C11C5}"/>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8DCD7553-10BB-6B70-CE9C-6873E1E0FDBD}"/>
              </a:ext>
            </a:extLst>
          </p:cNvPr>
          <p:cNvSpPr/>
          <p:nvPr/>
        </p:nvSpPr>
        <p:spPr>
          <a:xfrm rot="5400000">
            <a:off x="2587337" y="-2587332"/>
            <a:ext cx="6857999" cy="12032677"/>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a:lstStyle/>
          <a:p>
            <a:endParaRPr lang="en-US">
              <a:solidFill>
                <a:schemeClr val="tx1"/>
              </a:solidFill>
            </a:endParaRPr>
          </a:p>
        </p:txBody>
      </p:sp>
      <p:sp>
        <p:nvSpPr>
          <p:cNvPr id="2" name="Title 1">
            <a:extLst>
              <a:ext uri="{FF2B5EF4-FFF2-40B4-BE49-F238E27FC236}">
                <a16:creationId xmlns:a16="http://schemas.microsoft.com/office/drawing/2014/main" id="{8D01E4A5-C67C-4F9F-0930-AFE7DB6D02F4}"/>
              </a:ext>
            </a:extLst>
          </p:cNvPr>
          <p:cNvSpPr>
            <a:spLocks noGrp="1"/>
          </p:cNvSpPr>
          <p:nvPr>
            <p:ph type="ctrTitle"/>
          </p:nvPr>
        </p:nvSpPr>
        <p:spPr/>
        <p:txBody>
          <a:bodyPr/>
          <a:lstStyle/>
          <a:p>
            <a:r>
              <a:rPr lang="en-US" dirty="0"/>
              <a:t>Q&amp;A</a:t>
            </a:r>
          </a:p>
        </p:txBody>
      </p:sp>
      <p:sp>
        <p:nvSpPr>
          <p:cNvPr id="3" name="Slide Number Placeholder 2">
            <a:extLst>
              <a:ext uri="{FF2B5EF4-FFF2-40B4-BE49-F238E27FC236}">
                <a16:creationId xmlns:a16="http://schemas.microsoft.com/office/drawing/2014/main" id="{A72EF5A2-72A1-C1FD-7C49-8FE02533DD3D}"/>
              </a:ext>
            </a:extLst>
          </p:cNvPr>
          <p:cNvSpPr>
            <a:spLocks noGrp="1"/>
          </p:cNvSpPr>
          <p:nvPr>
            <p:ph type="sldNum" sz="quarter" idx="12"/>
          </p:nvPr>
        </p:nvSpPr>
        <p:spPr/>
        <p:txBody>
          <a:bodyPr/>
          <a:lstStyle/>
          <a:p>
            <a:fld id="{1370230A-709D-4205-8636-A3280FD27E74}" type="slidenum">
              <a:rPr lang="en-US" smtClean="0"/>
              <a:t>47</a:t>
            </a:fld>
            <a:endParaRPr lang="en-US"/>
          </a:p>
        </p:txBody>
      </p:sp>
      <p:sp>
        <p:nvSpPr>
          <p:cNvPr id="9" name="Rectangle 8">
            <a:extLst>
              <a:ext uri="{FF2B5EF4-FFF2-40B4-BE49-F238E27FC236}">
                <a16:creationId xmlns:a16="http://schemas.microsoft.com/office/drawing/2014/main" id="{887E2BE3-BC4F-9CE7-1C9E-45709A45E2C1}"/>
              </a:ext>
            </a:extLst>
          </p:cNvPr>
          <p:cNvSpPr/>
          <p:nvPr/>
        </p:nvSpPr>
        <p:spPr>
          <a:xfrm rot="5400000">
            <a:off x="8657014" y="3406143"/>
            <a:ext cx="6858002"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4" name="Straight Connector 3">
            <a:extLst>
              <a:ext uri="{FF2B5EF4-FFF2-40B4-BE49-F238E27FC236}">
                <a16:creationId xmlns:a16="http://schemas.microsoft.com/office/drawing/2014/main" id="{3E4F9760-FA75-20B0-B1FD-60A6EA00284F}"/>
              </a:ext>
            </a:extLst>
          </p:cNvPr>
          <p:cNvCxnSpPr>
            <a:cxnSpLocks/>
          </p:cNvCxnSpPr>
          <p:nvPr/>
        </p:nvCxnSpPr>
        <p:spPr>
          <a:xfrm>
            <a:off x="1186070" y="5212080"/>
            <a:ext cx="9939130" cy="0"/>
          </a:xfrm>
          <a:prstGeom prst="line">
            <a:avLst/>
          </a:prstGeom>
          <a:ln>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03083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719DD-D800-0D7A-C7CE-1FA0D0345929}"/>
              </a:ext>
            </a:extLst>
          </p:cNvPr>
          <p:cNvSpPr>
            <a:spLocks noGrp="1"/>
          </p:cNvSpPr>
          <p:nvPr>
            <p:ph type="ctrTitle"/>
          </p:nvPr>
        </p:nvSpPr>
        <p:spPr/>
        <p:txBody>
          <a:bodyPr/>
          <a:lstStyle/>
          <a:p>
            <a:r>
              <a:rPr lang="en-US" dirty="0"/>
              <a:t>Thank You</a:t>
            </a:r>
          </a:p>
        </p:txBody>
      </p:sp>
      <p:sp>
        <p:nvSpPr>
          <p:cNvPr id="3" name="Slide Number Placeholder 2">
            <a:extLst>
              <a:ext uri="{FF2B5EF4-FFF2-40B4-BE49-F238E27FC236}">
                <a16:creationId xmlns:a16="http://schemas.microsoft.com/office/drawing/2014/main" id="{828648F4-4DB9-7651-9CC5-CBEFF75BBF41}"/>
              </a:ext>
            </a:extLst>
          </p:cNvPr>
          <p:cNvSpPr>
            <a:spLocks noGrp="1"/>
          </p:cNvSpPr>
          <p:nvPr>
            <p:ph type="sldNum" sz="quarter" idx="12"/>
          </p:nvPr>
        </p:nvSpPr>
        <p:spPr/>
        <p:txBody>
          <a:bodyPr/>
          <a:lstStyle/>
          <a:p>
            <a:fld id="{1370230A-709D-4205-8636-A3280FD27E74}" type="slidenum">
              <a:rPr lang="en-US" smtClean="0"/>
              <a:t>48</a:t>
            </a:fld>
            <a:endParaRPr lang="en-US"/>
          </a:p>
        </p:txBody>
      </p:sp>
    </p:spTree>
    <p:extLst>
      <p:ext uri="{BB962C8B-B14F-4D97-AF65-F5344CB8AC3E}">
        <p14:creationId xmlns:p14="http://schemas.microsoft.com/office/powerpoint/2010/main" val="2830587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412B1-43CA-B52A-B106-36A36C6389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94DE5-A299-0A43-118F-03D5E7EF65CE}"/>
              </a:ext>
            </a:extLst>
          </p:cNvPr>
          <p:cNvSpPr>
            <a:spLocks noGrp="1"/>
          </p:cNvSpPr>
          <p:nvPr>
            <p:ph type="title"/>
          </p:nvPr>
        </p:nvSpPr>
        <p:spPr/>
        <p:txBody>
          <a:bodyPr/>
          <a:lstStyle/>
          <a:p>
            <a:r>
              <a:rPr lang="en-US" dirty="0"/>
              <a:t>Asset Universe Selection Formulas</a:t>
            </a:r>
          </a:p>
        </p:txBody>
      </p:sp>
      <p:sp>
        <p:nvSpPr>
          <p:cNvPr id="4" name="Slide Number Placeholder 3">
            <a:extLst>
              <a:ext uri="{FF2B5EF4-FFF2-40B4-BE49-F238E27FC236}">
                <a16:creationId xmlns:a16="http://schemas.microsoft.com/office/drawing/2014/main" id="{0EB1478D-5223-C0CE-E7B4-A72E1B1A8A23}"/>
              </a:ext>
            </a:extLst>
          </p:cNvPr>
          <p:cNvSpPr>
            <a:spLocks noGrp="1"/>
          </p:cNvSpPr>
          <p:nvPr>
            <p:ph type="sldNum" sz="quarter" idx="12"/>
          </p:nvPr>
        </p:nvSpPr>
        <p:spPr/>
        <p:txBody>
          <a:bodyPr/>
          <a:lstStyle/>
          <a:p>
            <a:fld id="{1370230A-709D-4205-8636-A3280FD27E74}" type="slidenum">
              <a:rPr lang="en-US" smtClean="0"/>
              <a:t>49</a:t>
            </a:fld>
            <a:endParaRPr lang="en-US"/>
          </a:p>
        </p:txBody>
      </p:sp>
      <p:pic>
        <p:nvPicPr>
          <p:cNvPr id="8" name="Content Placeholder 7" descr="Selection approaches table">
            <a:extLst>
              <a:ext uri="{FF2B5EF4-FFF2-40B4-BE49-F238E27FC236}">
                <a16:creationId xmlns:a16="http://schemas.microsoft.com/office/drawing/2014/main" id="{8860823A-FB11-A795-C6F5-9AF12599045B}"/>
              </a:ext>
            </a:extLst>
          </p:cNvPr>
          <p:cNvPicPr>
            <a:picLocks noGrp="1" noChangeAspect="1"/>
          </p:cNvPicPr>
          <p:nvPr>
            <p:ph idx="1"/>
          </p:nvPr>
        </p:nvPicPr>
        <p:blipFill>
          <a:blip r:embed="rId3"/>
          <a:stretch>
            <a:fillRect/>
          </a:stretch>
        </p:blipFill>
        <p:spPr>
          <a:xfrm>
            <a:off x="1044460" y="2457286"/>
            <a:ext cx="9952045" cy="3060254"/>
          </a:xfrm>
          <a:prstGeom prst="rect">
            <a:avLst/>
          </a:prstGeom>
        </p:spPr>
      </p:pic>
    </p:spTree>
    <p:extLst>
      <p:ext uri="{BB962C8B-B14F-4D97-AF65-F5344CB8AC3E}">
        <p14:creationId xmlns:p14="http://schemas.microsoft.com/office/powerpoint/2010/main" val="2238103973"/>
      </p:ext>
    </p:extLst>
  </p:cSld>
  <p:clrMapOvr>
    <a:masterClrMapping/>
  </p:clrMapOvr>
</p:sld>
</file>

<file path=ppt/theme/theme1.xml><?xml version="1.0" encoding="utf-8"?>
<a:theme xmlns:a="http://schemas.openxmlformats.org/drawingml/2006/main" name="Retrospect">
  <a:themeElements>
    <a:clrScheme name="Custom 4">
      <a:dk1>
        <a:srgbClr val="0C171F"/>
      </a:dk1>
      <a:lt1>
        <a:srgbClr val="F8F8F8"/>
      </a:lt1>
      <a:dk2>
        <a:srgbClr val="0C171F"/>
      </a:dk2>
      <a:lt2>
        <a:srgbClr val="F8F8F8"/>
      </a:lt2>
      <a:accent1>
        <a:srgbClr val="00F700"/>
      </a:accent1>
      <a:accent2>
        <a:srgbClr val="00F700"/>
      </a:accent2>
      <a:accent3>
        <a:srgbClr val="1F394D"/>
      </a:accent3>
      <a:accent4>
        <a:srgbClr val="9B8357"/>
      </a:accent4>
      <a:accent5>
        <a:srgbClr val="C2BC80"/>
      </a:accent5>
      <a:accent6>
        <a:srgbClr val="94A088"/>
      </a:accent6>
      <a:hlink>
        <a:srgbClr val="2998E3"/>
      </a:hlink>
      <a:folHlink>
        <a:srgbClr val="8C8C8C"/>
      </a:folHlink>
    </a:clrScheme>
    <a:fontScheme name="Advansys">
      <a:majorFont>
        <a:latin typeface="Century Gothic"/>
        <a:ea typeface=""/>
        <a:cs typeface=""/>
      </a:majorFont>
      <a:minorFont>
        <a:latin typeface="Calibri"/>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F3695E-1BAD-43B2-8A26-56D2BC4DA976}">
  <we:reference id="wa200010215" version="2.0.0.0" store="en-US" storeType="OMEX"/>
  <we:alternateReferences>
    <we:reference id="wa200010215" version="2.0.0.0" store="wa200010215"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Retrospect</Template>
  <TotalTime>8086</TotalTime>
  <Words>4415</Words>
  <Application>Microsoft Office PowerPoint</Application>
  <PresentationFormat>Widescreen</PresentationFormat>
  <Paragraphs>372</Paragraphs>
  <Slides>49</Slides>
  <Notes>49</Notes>
  <HiddenSlides>3</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Aptos</vt:lpstr>
      <vt:lpstr>Aptos Display</vt:lpstr>
      <vt:lpstr>Calibri</vt:lpstr>
      <vt:lpstr>Century Gothic</vt:lpstr>
      <vt:lpstr>Courier New</vt:lpstr>
      <vt:lpstr>Retrospect</vt:lpstr>
      <vt:lpstr>Portfolio Optimization</vt:lpstr>
      <vt:lpstr>Roadmap</vt:lpstr>
      <vt:lpstr>Problem Definition</vt:lpstr>
      <vt:lpstr>The Fixed-Universe Assumption</vt:lpstr>
      <vt:lpstr>PowerPoint Presentation</vt:lpstr>
      <vt:lpstr>Why Universe Selection Matters?</vt:lpstr>
      <vt:lpstr>Scope and Asset Universe</vt:lpstr>
      <vt:lpstr>Research Questions</vt:lpstr>
      <vt:lpstr>Literature Review</vt:lpstr>
      <vt:lpstr>Classical Allocation Context</vt:lpstr>
      <vt:lpstr>AI/ML Preselection Context</vt:lpstr>
      <vt:lpstr>DEA Preselection Paper</vt:lpstr>
      <vt:lpstr>RL And Investor Personalization</vt:lpstr>
      <vt:lpstr>Proposed Solution</vt:lpstr>
      <vt:lpstr>Contribution In One View</vt:lpstr>
      <vt:lpstr>Methodology</vt:lpstr>
      <vt:lpstr>Chronological Split Design</vt:lpstr>
      <vt:lpstr>Raw Data Engineering</vt:lpstr>
      <vt:lpstr>Point-In-Time Monthly Panel</vt:lpstr>
      <vt:lpstr>Feature Families</vt:lpstr>
      <vt:lpstr>Realized Risk Target</vt:lpstr>
      <vt:lpstr>What Is Reinforcement Learning</vt:lpstr>
      <vt:lpstr>Reinforcement Learning</vt:lpstr>
      <vt:lpstr>Why PPO</vt:lpstr>
      <vt:lpstr>PPO Episode Format</vt:lpstr>
      <vt:lpstr>Variable Universe &amp; Masking</vt:lpstr>
      <vt:lpstr>Actor-Critic Architecture</vt:lpstr>
      <vt:lpstr>Reward Definition</vt:lpstr>
      <vt:lpstr>Profile-Specific Asset Universes</vt:lpstr>
      <vt:lpstr>Experiments</vt:lpstr>
      <vt:lpstr>Framework Selection</vt:lpstr>
      <vt:lpstr>Features and Reward Function</vt:lpstr>
      <vt:lpstr>Hyper-parameters and Selection</vt:lpstr>
      <vt:lpstr>Evaluation Logic</vt:lpstr>
      <vt:lpstr>Results</vt:lpstr>
      <vt:lpstr>Ranking Quality</vt:lpstr>
      <vt:lpstr>Risk Separation</vt:lpstr>
      <vt:lpstr>Return Separation</vt:lpstr>
      <vt:lpstr>Baseline Comparison</vt:lpstr>
      <vt:lpstr>Conclusion</vt:lpstr>
      <vt:lpstr>Research Question Answers</vt:lpstr>
      <vt:lpstr>Limitations &amp;  Future Work</vt:lpstr>
      <vt:lpstr>Key Limitations</vt:lpstr>
      <vt:lpstr>Live Data and Forward Testing</vt:lpstr>
      <vt:lpstr>Return-Aware Suitability</vt:lpstr>
      <vt:lpstr>Key References</vt:lpstr>
      <vt:lpstr>Q&amp;A</vt:lpstr>
      <vt:lpstr>Thank You</vt:lpstr>
      <vt:lpstr>Asset Universe Selection Formulas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 Abuelkheir</dc:creator>
  <cp:lastModifiedBy>Ali Abuelkheir</cp:lastModifiedBy>
  <cp:revision>22</cp:revision>
  <cp:lastPrinted>2026-06-21T18:32:42Z</cp:lastPrinted>
  <dcterms:created xsi:type="dcterms:W3CDTF">2026-06-04T02:00:01Z</dcterms:created>
  <dcterms:modified xsi:type="dcterms:W3CDTF">2026-06-23T05:10:47Z</dcterms:modified>
</cp:coreProperties>
</file>