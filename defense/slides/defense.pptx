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4.xml" ContentType="application/vnd.openxmlformats-officedocument.presentationml.notesSlide+xml"/>
  <Override PartName="/ppt/charts/chart2.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359" r:id="rId3"/>
    <p:sldId id="258" r:id="rId4"/>
    <p:sldId id="360" r:id="rId5"/>
    <p:sldId id="361" r:id="rId6"/>
    <p:sldId id="362" r:id="rId7"/>
    <p:sldId id="363" r:id="rId8"/>
    <p:sldId id="264" r:id="rId9"/>
    <p:sldId id="364" r:id="rId10"/>
    <p:sldId id="365" r:id="rId11"/>
    <p:sldId id="366" r:id="rId12"/>
    <p:sldId id="367" r:id="rId13"/>
    <p:sldId id="269" r:id="rId14"/>
    <p:sldId id="368" r:id="rId15"/>
    <p:sldId id="369" r:id="rId16"/>
    <p:sldId id="272"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286" r:id="rId30"/>
    <p:sldId id="382" r:id="rId31"/>
    <p:sldId id="383" r:id="rId32"/>
    <p:sldId id="384" r:id="rId33"/>
    <p:sldId id="385" r:id="rId34"/>
    <p:sldId id="317" r:id="rId35"/>
    <p:sldId id="386" r:id="rId36"/>
    <p:sldId id="387" r:id="rId37"/>
    <p:sldId id="388" r:id="rId38"/>
    <p:sldId id="389" r:id="rId39"/>
    <p:sldId id="324" r:id="rId40"/>
    <p:sldId id="390" r:id="rId41"/>
    <p:sldId id="326" r:id="rId42"/>
    <p:sldId id="391" r:id="rId43"/>
    <p:sldId id="392" r:id="rId44"/>
    <p:sldId id="393" r:id="rId45"/>
    <p:sldId id="337" r:id="rId46"/>
    <p:sldId id="33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68" userDrawn="1">
          <p15:clr>
            <a:srgbClr val="A4A3A4"/>
          </p15:clr>
        </p15:guide>
        <p15:guide id="3" pos="21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76" autoAdjust="0"/>
    <p:restoredTop sz="73635" autoAdjust="0"/>
  </p:normalViewPr>
  <p:slideViewPr>
    <p:cSldViewPr snapToGrid="0">
      <p:cViewPr varScale="1">
        <p:scale>
          <a:sx n="70" d="100"/>
          <a:sy n="70" d="100"/>
        </p:scale>
        <p:origin x="1860" y="64"/>
      </p:cViewPr>
      <p:guideLst>
        <p:guide orient="horz" pos="2160"/>
        <p:guide pos="168"/>
        <p:guide pos="216"/>
      </p:guideLst>
    </p:cSldViewPr>
  </p:slideViewPr>
  <p:outlineViewPr>
    <p:cViewPr>
      <p:scale>
        <a:sx n="33" d="100"/>
        <a:sy n="33" d="100"/>
      </p:scale>
      <p:origin x="0" y="-1188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72" d="100"/>
          <a:sy n="72" d="100"/>
        </p:scale>
        <p:origin x="3524" y="7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r>
              <a:rPr lang="en-US" sz="1800" dirty="0"/>
              <a:t>Mean realized risk (%)</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en-US"/>
        </a:p>
      </c:txPr>
    </c:title>
    <c:autoTitleDeleted val="0"/>
    <c:plotArea>
      <c:layout/>
      <c:barChart>
        <c:barDir val="col"/>
        <c:grouping val="clustered"/>
        <c:varyColors val="0"/>
        <c:ser>
          <c:idx val="0"/>
          <c:order val="0"/>
          <c:tx>
            <c:v>Mean realized risk</c:v>
          </c:tx>
          <c:spPr>
            <a:solidFill>
              <a:srgbClr val="1F394D"/>
            </a:solidFill>
            <a:ln>
              <a:noFill/>
            </a:ln>
            <a:effectLst/>
          </c:spPr>
          <c:invertIfNegative val="1"/>
          <c:dLbls>
            <c:numFmt formatCode="0.0" sourceLinked="0"/>
            <c:spPr>
              <a:noFill/>
              <a:ln>
                <a:noFill/>
              </a:ln>
              <a:effectLst/>
            </c:spPr>
            <c:txPr>
              <a:bodyPr rot="0" spcFirstLastPara="1" vertOverflow="ellipsis" vert="horz" wrap="square" anchor="ctr" anchorCtr="1"/>
              <a:lstStyle/>
              <a:p>
                <a:pPr>
                  <a:defRPr sz="95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4"/>
              <c:pt idx="0">
                <c:v>Conservative</c:v>
              </c:pt>
              <c:pt idx="1">
                <c:v>Full Universe</c:v>
              </c:pt>
              <c:pt idx="2">
                <c:v>Balanced</c:v>
              </c:pt>
              <c:pt idx="3">
                <c:v>Aggressive</c:v>
              </c:pt>
            </c:strLit>
          </c:cat>
          <c:val>
            <c:numLit>
              <c:formatCode>0.0</c:formatCode>
              <c:ptCount val="4"/>
              <c:pt idx="0">
                <c:v>23.9</c:v>
              </c:pt>
              <c:pt idx="1">
                <c:v>50</c:v>
              </c:pt>
              <c:pt idx="2">
                <c:v>53.6</c:v>
              </c:pt>
              <c:pt idx="3">
                <c:v>68.8</c:v>
              </c:pt>
            </c:numLit>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0-2969-4A03-9F25-B533251479B4}"/>
            </c:ext>
          </c:extLst>
        </c:ser>
        <c:dLbls>
          <c:showLegendKey val="0"/>
          <c:showVal val="0"/>
          <c:showCatName val="0"/>
          <c:showSerName val="0"/>
          <c:showPercent val="0"/>
          <c:showBubbleSize val="0"/>
        </c:dLbls>
        <c:gapWidth val="70"/>
        <c:axId val="901"/>
        <c:axId val="902"/>
      </c:barChart>
      <c:catAx>
        <c:axId val="901"/>
        <c:scaling>
          <c:orientation val="minMax"/>
        </c:scaling>
        <c:delete val="0"/>
        <c:axPos val="b"/>
        <c:numFmt formatCode="General" sourceLinked="0"/>
        <c:majorTickMark val="none"/>
        <c:minorTickMark val="none"/>
        <c:tickLblPos val="nextTo"/>
        <c:spPr>
          <a:noFill/>
          <a:ln w="12700" cap="flat" cmpd="sng" algn="ctr">
            <a:solidFill>
              <a:schemeClr val="tx1"/>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02"/>
        <c:crosses val="autoZero"/>
        <c:auto val="1"/>
        <c:lblAlgn val="ctr"/>
        <c:lblOffset val="100"/>
        <c:noMultiLvlLbl val="1"/>
      </c:catAx>
      <c:valAx>
        <c:axId val="902"/>
        <c:scaling>
          <c:orientation val="minMax"/>
          <c:max val="80"/>
          <c:min val="0"/>
        </c:scaling>
        <c:delete val="0"/>
        <c:axPos val="l"/>
        <c:majorGridlines>
          <c:spPr>
            <a:ln w="12700" cap="flat" cmpd="sng" algn="ctr">
              <a:solidFill>
                <a:schemeClr val="tx1"/>
              </a:solidFill>
              <a:prstDash val="solid"/>
              <a:round/>
            </a:ln>
            <a:effectLst/>
          </c:spPr>
        </c:majorGridlines>
        <c:numFmt formatCode="0" sourceLinked="0"/>
        <c:majorTickMark val="none"/>
        <c:minorTickMark val="none"/>
        <c:tickLblPos val="nextTo"/>
        <c:spPr>
          <a:noFill/>
          <a:ln w="12700" cap="flat" cmpd="sng" algn="ctr">
            <a:solidFill>
              <a:schemeClr val="tx1"/>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01"/>
        <c:crosses val="autoZero"/>
        <c:crossBetween val="between"/>
        <c:majorUnit val="20"/>
      </c:valAx>
      <c:spPr>
        <a:noFill/>
        <a:ln>
          <a:noFill/>
        </a:ln>
        <a:effectLst/>
      </c:spPr>
    </c:plotArea>
    <c:plotVisOnly val="1"/>
    <c:dispBlanksAs val="gap"/>
    <c:showDLblsOverMax val="1"/>
  </c:chart>
  <c:spPr>
    <a:noFill/>
    <a:ln w="12700" cap="flat" cmpd="sng" algn="ctr">
      <a:noFill/>
      <a:prstDash val="solid"/>
    </a:ln>
    <a:effectLst/>
  </c:spPr>
  <c:txPr>
    <a:bodyPr/>
    <a:lstStyle/>
    <a:p>
      <a:pPr>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5"/>
    </mc:Choice>
    <mc:Fallback>
      <c:style val="5"/>
    </mc:Fallback>
  </mc:AlternateContent>
  <c:chart>
    <c:title>
      <c:tx>
        <c:rich>
          <a:bodyPr rot="0" spcFirstLastPara="1" vertOverflow="ellipsis" vert="horz" wrap="square" anchor="ctr" anchorCtr="1"/>
          <a:lstStyle/>
          <a:p>
            <a:r>
              <a:rPr lang="en-US"/>
              <a:t>Mean annualized return (%) by bucket</a:t>
            </a:r>
          </a:p>
        </c:rich>
      </c:tx>
      <c:overlay val="0"/>
      <c:spPr>
        <a:noFill/>
        <a:ln>
          <a:noFill/>
        </a:ln>
        <a:effectLst/>
      </c:spPr>
    </c:title>
    <c:autoTitleDeleted val="0"/>
    <c:plotArea>
      <c:layout/>
      <c:barChart>
        <c:barDir val="col"/>
        <c:grouping val="clustered"/>
        <c:varyColors val="0"/>
        <c:ser>
          <c:idx val="0"/>
          <c:order val="0"/>
          <c:tx>
            <c:strRef>
              <c:f>Sheet1!$B$1</c:f>
              <c:strCache>
                <c:ptCount val="1"/>
                <c:pt idx="0">
                  <c:v>Mean return</c:v>
                </c:pt>
              </c:strCache>
            </c:strRef>
          </c:tx>
          <c:spPr>
            <a:solidFill>
              <a:srgbClr val="1F394D"/>
            </a:solidFill>
            <a:ln>
              <a:noFill/>
            </a:ln>
            <a:effectLst/>
          </c:spPr>
          <c:invertIfNegative val="1"/>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Conservative</c:v>
                </c:pt>
                <c:pt idx="1">
                  <c:v>Full Universe</c:v>
                </c:pt>
                <c:pt idx="2">
                  <c:v>Balanced</c:v>
                </c:pt>
                <c:pt idx="3">
                  <c:v>Growth</c:v>
                </c:pt>
              </c:strCache>
            </c:strRef>
          </c:cat>
          <c:val>
            <c:numRef>
              <c:f>Sheet1!$B$2:$B$5</c:f>
              <c:numCache>
                <c:formatCode>General</c:formatCode>
                <c:ptCount val="4"/>
                <c:pt idx="0">
                  <c:v>29.91</c:v>
                </c:pt>
                <c:pt idx="1">
                  <c:v>49.59</c:v>
                </c:pt>
                <c:pt idx="2">
                  <c:v>50.17</c:v>
                </c:pt>
                <c:pt idx="3">
                  <c:v>86.24</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0-433B-4CFE-ADE7-8EE3FA3DD072}"/>
            </c:ext>
          </c:extLst>
        </c:ser>
        <c:dLbls>
          <c:showLegendKey val="0"/>
          <c:showVal val="0"/>
          <c:showCatName val="0"/>
          <c:showSerName val="0"/>
          <c:showPercent val="0"/>
          <c:showBubbleSize val="0"/>
        </c:dLbls>
        <c:gapWidth val="199"/>
        <c:axId val="901"/>
        <c:axId val="902"/>
      </c:barChart>
      <c:catAx>
        <c:axId val="901"/>
        <c:scaling>
          <c:orientation val="minMax"/>
        </c:scaling>
        <c:delete val="0"/>
        <c:axPos val="b"/>
        <c:numFmt formatCode="General"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none" spc="0" normalizeH="0" baseline="0">
                <a:solidFill>
                  <a:schemeClr val="tx1">
                    <a:lumMod val="65000"/>
                    <a:lumOff val="35000"/>
                  </a:schemeClr>
                </a:solidFill>
                <a:latin typeface="+mn-lt"/>
                <a:ea typeface="+mn-ea"/>
                <a:cs typeface="+mn-cs"/>
              </a:defRPr>
            </a:pPr>
            <a:endParaRPr lang="en-US"/>
          </a:p>
        </c:txPr>
        <c:crossAx val="902"/>
        <c:crosses val="autoZero"/>
        <c:auto val="1"/>
        <c:lblAlgn val="ctr"/>
        <c:lblOffset val="100"/>
        <c:tickMarkSkip val="1"/>
        <c:noMultiLvlLbl val="1"/>
      </c:catAx>
      <c:valAx>
        <c:axId val="902"/>
        <c:scaling>
          <c:orientation val="minMax"/>
          <c:max val="100"/>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901"/>
        <c:crosses val="autoZero"/>
        <c:crossBetween val="between"/>
        <c:majorUnit val="20"/>
        <c:minorUnit val="10"/>
      </c:valAx>
      <c:spPr>
        <a:noFill/>
        <a:ln>
          <a:noFill/>
        </a:ln>
        <a:effectLst/>
      </c:spPr>
    </c:plotArea>
    <c:plotVisOnly val="1"/>
    <c:dispBlanksAs val="gap"/>
    <c:showDLblsOverMax val="1"/>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
  <cs:axisTitle>
    <cs:lnRef idx="0"/>
    <cs:fillRef idx="0"/>
    <cs:effectRef idx="0"/>
    <cs:fontRef idx="minor">
      <a:schemeClr val="tx1"/>
    </cs:fontRef>
    <cs:defRPr sz="1000" b="1" kern="1200"/>
  </cs:axisTitle>
  <cs:categoryAxis>
    <cs:lnRef idx="1">
      <a:schemeClr val="tx1"/>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0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DEDEA3-BF81-406B-B89D-36228EDB0072}"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434D-5B9B-4A22-BB04-DCAA38E4D51D}" type="slidenum">
              <a:rPr lang="en-US" smtClean="0"/>
              <a:t>‹#›</a:t>
            </a:fld>
            <a:endParaRPr lang="en-US"/>
          </a:p>
        </p:txBody>
      </p:sp>
    </p:spTree>
    <p:extLst>
      <p:ext uri="{BB962C8B-B14F-4D97-AF65-F5344CB8AC3E}">
        <p14:creationId xmlns:p14="http://schemas.microsoft.com/office/powerpoint/2010/main" val="2685782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0" kern="1200" dirty="0">
                <a:solidFill>
                  <a:schemeClr val="tx1"/>
                </a:solidFill>
                <a:effectLst/>
                <a:latin typeface="+mn-lt"/>
                <a:ea typeface="+mn-ea"/>
                <a:cs typeface="+mn-cs"/>
              </a:rPr>
              <a:t>Good morning. My name is Ali, and this presentation covers my bachelor thesis on Asset Universe Selection based on Investor Profile in Portfolio Optimization.</a:t>
            </a:r>
          </a:p>
          <a:p>
            <a:r>
              <a:rPr lang="en-US" sz="2800" b="0" kern="1200" dirty="0">
                <a:solidFill>
                  <a:schemeClr val="tx1"/>
                </a:solidFill>
                <a:effectLst/>
                <a:latin typeface="+mn-lt"/>
                <a:ea typeface="+mn-ea"/>
                <a:cs typeface="+mn-cs"/>
              </a:rPr>
              <a:t>The core idea is simple. Portfolio construction starts with two connected questions: which assets should be considered in the first place, and then how much should be allocated to each asset?</a:t>
            </a:r>
          </a:p>
          <a:p>
            <a:r>
              <a:rPr lang="en-US" sz="2800" b="0" kern="1200" dirty="0">
                <a:solidFill>
                  <a:schemeClr val="tx1"/>
                </a:solidFill>
                <a:effectLst/>
                <a:latin typeface="+mn-lt"/>
                <a:ea typeface="+mn-ea"/>
                <a:cs typeface="+mn-cs"/>
              </a:rPr>
              <a:t>My thesis studies that earlier selection stage. It ranks assets according to their predicted risk behavior, then uses that ranking to build candidate universes that match the investor profile.</a:t>
            </a:r>
          </a:p>
          <a:p>
            <a:r>
              <a:rPr lang="en-US" sz="2800" b="1" kern="1200" dirty="0">
                <a:solidFill>
                  <a:schemeClr val="tx1"/>
                </a:solidFill>
                <a:effectLst/>
                <a:latin typeface="+mn-lt"/>
                <a:ea typeface="+mn-ea"/>
                <a:cs typeface="+mn-cs"/>
              </a:rPr>
              <a:t>Transition</a:t>
            </a:r>
            <a:endParaRPr lang="en-US" sz="2800" b="0" kern="1200" dirty="0">
              <a:solidFill>
                <a:schemeClr val="tx1"/>
              </a:solidFill>
              <a:effectLst/>
              <a:latin typeface="+mn-lt"/>
              <a:ea typeface="+mn-ea"/>
              <a:cs typeface="+mn-cs"/>
            </a:endParaRPr>
          </a:p>
          <a:p>
            <a:r>
              <a:rPr lang="en-US" sz="2800" b="0" kern="1200" dirty="0">
                <a:solidFill>
                  <a:schemeClr val="tx1"/>
                </a:solidFill>
                <a:effectLst/>
                <a:latin typeface="+mn-lt"/>
                <a:ea typeface="+mn-ea"/>
                <a:cs typeface="+mn-cs"/>
              </a:rPr>
              <a:t>I'll start with a quick roadmap.</a:t>
            </a:r>
          </a:p>
          <a:p>
            <a:endParaRPr lang="en-US" dirty="0"/>
          </a:p>
        </p:txBody>
      </p:sp>
      <p:sp>
        <p:nvSpPr>
          <p:cNvPr id="4" name="Slide Number Placeholder 3"/>
          <p:cNvSpPr>
            <a:spLocks noGrp="1"/>
          </p:cNvSpPr>
          <p:nvPr>
            <p:ph type="sldNum" sz="quarter" idx="5"/>
          </p:nvPr>
        </p:nvSpPr>
        <p:spPr/>
        <p:txBody>
          <a:bodyPr/>
          <a:lstStyle/>
          <a:p>
            <a:fld id="{56CA434D-5B9B-4A22-BB04-DCAA38E4D51D}" type="slidenum">
              <a:rPr lang="en-US" smtClean="0"/>
              <a:t>1</a:t>
            </a:fld>
            <a:endParaRPr lang="en-US"/>
          </a:p>
        </p:txBody>
      </p:sp>
    </p:spTree>
    <p:extLst>
      <p:ext uri="{BB962C8B-B14F-4D97-AF65-F5344CB8AC3E}">
        <p14:creationId xmlns:p14="http://schemas.microsoft.com/office/powerpoint/2010/main" val="3178277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I will begin with the problem definition, then the literature gap, then the proposed solution, followed by methodology, experiments, results, conclusion, and future work.</a:t>
            </a:r>
          </a:p>
          <a:p>
            <a:r>
              <a:rPr lang="en-US" dirty="0"/>
              <a:t>Transition: So firstly, what is the actual portfolio problem I am trying to solve?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CA434D-5B9B-4A22-BB04-DCAA38E4D51D}" type="slidenum">
              <a:rPr lang="en-US" smtClean="0"/>
              <a:t>3</a:t>
            </a:fld>
            <a:endParaRPr lang="en-US"/>
          </a:p>
        </p:txBody>
      </p:sp>
    </p:spTree>
    <p:extLst>
      <p:ext uri="{BB962C8B-B14F-4D97-AF65-F5344CB8AC3E}">
        <p14:creationId xmlns:p14="http://schemas.microsoft.com/office/powerpoint/2010/main" val="1519162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Many portfolio optimization methods assume a fixed asset universe. After that assumption is made, the main task becomes how to allocate weights inside that predefined universe.</a:t>
            </a:r>
          </a:p>
          <a:p>
            <a:r>
              <a:rPr lang="en-US" dirty="0"/>
              <a:t>But there is an earlier decision that also matters: which assets should enter the allocation stage. If that first decision is weak, even a strong optimizer is limited by the menu of assets it receives.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sz="1200" b="0" i="0" kern="1200" dirty="0">
                <a:solidFill>
                  <a:schemeClr val="tx1"/>
                </a:solidFill>
                <a:effectLst/>
                <a:latin typeface="+mn-lt"/>
                <a:ea typeface="+mn-ea"/>
                <a:cs typeface="+mn-cs"/>
              </a:rPr>
              <a:t>In the Egyptian investment market, many investors place strong emphasis on stability because of inflation, currency fluctuations, and broader economic uncertainty.</a:t>
            </a:r>
          </a:p>
          <a:p>
            <a:r>
              <a:rPr lang="en-US" sz="1200" b="0" i="0" kern="1200" dirty="0">
                <a:solidFill>
                  <a:schemeClr val="tx1"/>
                </a:solidFill>
                <a:effectLst/>
                <a:latin typeface="+mn-lt"/>
                <a:ea typeface="+mn-ea"/>
                <a:cs typeface="+mn-cs"/>
              </a:rPr>
              <a:t>However, stability is not permanent. As market conditions change, the volatility and drawdown behavior of different assets can also change. This means that an asset considered suitable for a conservative investor today may not remain suitable under different conditions.</a:t>
            </a:r>
          </a:p>
          <a:p>
            <a:r>
              <a:rPr lang="en-US" sz="1200" b="0" i="0" kern="1200" dirty="0">
                <a:solidFill>
                  <a:schemeClr val="tx1"/>
                </a:solidFill>
                <a:effectLst/>
                <a:latin typeface="+mn-lt"/>
                <a:ea typeface="+mn-ea"/>
                <a:cs typeface="+mn-cs"/>
              </a:rPr>
              <a:t>For this reason, conservative, balanced, and aggressive investors should not always begin with the same candidate assets. This thesis therefore takes a risk-first view of suitability by selecting a starting asset universe that reflects each investor profile depending on the market condition.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sz="1200" b="0" i="0" kern="1200" dirty="0">
                <a:solidFill>
                  <a:schemeClr val="tx1"/>
                </a:solidFill>
                <a:effectLst/>
                <a:latin typeface="+mn-lt"/>
                <a:ea typeface="+mn-ea"/>
                <a:cs typeface="+mn-cs"/>
              </a:rPr>
              <a:t>The thesis works with a mixed Egyptian asset universe rather than focusing only on equities. The universe includes fixed-income securities represented by 91-day treasury bills and 5-year government bonds. Egyptian equities are represented by individual EGX30 companies, while the EGX30 index is included separately as the overall market benchmark. The universe also includes real-estate exposure through a EGX Real Estate index and gold exposure through the price of 24-karat gold in Egypt.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Transition</a:t>
            </a:r>
          </a:p>
          <a:p>
            <a:r>
              <a:rPr lang="en-US" sz="1200" b="0" i="0" kern="1200" dirty="0">
                <a:solidFill>
                  <a:schemeClr val="tx1"/>
                </a:solidFill>
                <a:effectLst/>
                <a:latin typeface="+mn-lt"/>
                <a:ea typeface="+mn-ea"/>
                <a:cs typeface="+mn-cs"/>
              </a:rPr>
              <a:t>With the raw asset universe now defined, the thesis asks three direct research questions.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first question asks whether AI and machine learning can support dynamic asset-universe selection before allocation using predicted risk behavior.</a:t>
            </a:r>
          </a:p>
          <a:p>
            <a:r>
              <a:rPr lang="en-US" dirty="0"/>
              <a:t>The second asks whether the selected universes actually align with conservative, balanced, and aggressive investor profiles.</a:t>
            </a:r>
          </a:p>
          <a:p>
            <a:r>
              <a:rPr lang="en-US" dirty="0"/>
              <a:t>The third asks how the candidate Universes compare with the full active universe when both are evaluated under the allocation rule.</a:t>
            </a:r>
          </a:p>
          <a:p>
            <a:r>
              <a:rPr lang="en-US" dirty="0"/>
              <a:t>Together, these questions keep the project focused on asset suitability for the investor.</a:t>
            </a:r>
          </a:p>
          <a:p>
            <a:r>
              <a:rPr lang="en-US" dirty="0"/>
              <a:t>Transition: Before presenting my method, I need to place it inside the literature.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CA434D-5B9B-4A22-BB04-DCAA38E4D51D}" type="slidenum">
              <a:rPr lang="en-US" smtClean="0"/>
              <a:t>8</a:t>
            </a:fld>
            <a:endParaRPr lang="en-US"/>
          </a:p>
        </p:txBody>
      </p:sp>
    </p:spTree>
    <p:extLst>
      <p:ext uri="{BB962C8B-B14F-4D97-AF65-F5344CB8AC3E}">
        <p14:creationId xmlns:p14="http://schemas.microsoft.com/office/powerpoint/2010/main" val="506393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Classical portfolio construction usually treats the problem as a return-risk weighting problem. Markowitz and later allocation methods mainly study how to divide weights once the asset universe is already known.</a:t>
            </a:r>
          </a:p>
          <a:p>
            <a:r>
              <a:rPr lang="en-US" dirty="0"/>
              <a:t>That literature is still important here because it gives the benchmark logic behind equal-weight and MVO allocation comparisons. But it usually assumes the asset set has already been defined.</a:t>
            </a:r>
          </a:p>
          <a:p>
            <a:r>
              <a:rPr lang="en-US" dirty="0"/>
              <a:t>Transition: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In the literature, AI and machine learning have already been used as a filtering step before portfolio optimization. The model helps decide which stocks should enter the portfolio construction stage.</a:t>
            </a:r>
          </a:p>
          <a:p>
            <a:r>
              <a:rPr lang="en-US" dirty="0"/>
              <a:t>However, these papers select assets using expected price, expected return, profitability, etc. After that, the selected universe move into the allocation optimizer.</a:t>
            </a:r>
          </a:p>
          <a:p>
            <a:r>
              <a:rPr lang="en-US" dirty="0"/>
              <a:t>Risk measures such as Sharpe ratio, volatility or drawdown usually appear later during weight allocation. That is why the literature gap remains open for risk-oriented universe selection.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sz="1200" b="0" i="0" kern="1200" dirty="0">
                <a:solidFill>
                  <a:schemeClr val="tx1"/>
                </a:solidFill>
                <a:effectLst/>
                <a:latin typeface="+mn-lt"/>
                <a:ea typeface="+mn-ea"/>
                <a:cs typeface="+mn-cs"/>
              </a:rPr>
              <a:t>One useful exception is the paper by Atta Mills and </a:t>
            </a:r>
            <a:r>
              <a:rPr lang="en-US" sz="1200" b="0" i="0" kern="1200" dirty="0" err="1">
                <a:solidFill>
                  <a:schemeClr val="tx1"/>
                </a:solidFill>
                <a:effectLst/>
                <a:latin typeface="+mn-lt"/>
                <a:ea typeface="+mn-ea"/>
                <a:cs typeface="+mn-cs"/>
              </a:rPr>
              <a:t>Anyomi</a:t>
            </a:r>
            <a:r>
              <a:rPr lang="en-US" sz="1200" b="0" i="0" kern="1200" dirty="0">
                <a:solidFill>
                  <a:schemeClr val="tx1"/>
                </a:solidFill>
                <a:effectLst/>
                <a:latin typeface="+mn-lt"/>
                <a:ea typeface="+mn-ea"/>
                <a:cs typeface="+mn-cs"/>
              </a:rPr>
              <a:t>, which uses Data Envelopment Analysis, or DEA, to rank candidate stocks using multiple efficiency metrics.</a:t>
            </a:r>
          </a:p>
          <a:p>
            <a:r>
              <a:rPr lang="en-US" sz="1200" b="0" i="0" kern="1200" dirty="0">
                <a:solidFill>
                  <a:schemeClr val="tx1"/>
                </a:solidFill>
                <a:effectLst/>
                <a:latin typeface="+mn-lt"/>
                <a:ea typeface="+mn-ea"/>
                <a:cs typeface="+mn-cs"/>
              </a:rPr>
              <a:t>Among these metrics, standard deviation is the only risk-related input. The remaining metrics are performance based.</a:t>
            </a:r>
          </a:p>
          <a:p>
            <a:r>
              <a:rPr lang="en-US" sz="1200" b="0" i="0" kern="1200" dirty="0">
                <a:solidFill>
                  <a:schemeClr val="tx1"/>
                </a:solidFill>
                <a:effectLst/>
                <a:latin typeface="+mn-lt"/>
                <a:ea typeface="+mn-ea"/>
                <a:cs typeface="+mn-cs"/>
              </a:rPr>
              <a:t>The paper therefore supports screening assets before portfolio allocation, but its main objective remains efficiency. It also uses a statistical DEA method rather than an AI model that learns risk oriented asset universes for different investor profiles.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RL in finance is often used for trading decisions or direct allocation weights. Personalization research often maps investor profiles to advice, products, funds, or full portfolio choices.</a:t>
            </a:r>
          </a:p>
          <a:p>
            <a:r>
              <a:rPr lang="en-US" dirty="0"/>
              <a:t>My thesis connects these two directions differently. It predicts asset risk behavior first, then uses that ranking to build profile-specific asset universes.</a:t>
            </a:r>
          </a:p>
          <a:p>
            <a:r>
              <a:rPr lang="en-US" dirty="0"/>
              <a:t>Transition: </a:t>
            </a:r>
            <a:br>
              <a:rPr lang="en-US" dirty="0"/>
            </a:br>
            <a:r>
              <a:rPr lang="en-US" dirty="0"/>
              <a:t>Now I can show the whole contribution in one view before going into technical details.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CA434D-5B9B-4A22-BB04-DCAA38E4D51D}" type="slidenum">
              <a:rPr lang="en-US" smtClean="0"/>
              <a:t>13</a:t>
            </a:fld>
            <a:endParaRPr lang="en-US"/>
          </a:p>
        </p:txBody>
      </p:sp>
    </p:spTree>
    <p:extLst>
      <p:ext uri="{BB962C8B-B14F-4D97-AF65-F5344CB8AC3E}">
        <p14:creationId xmlns:p14="http://schemas.microsoft.com/office/powerpoint/2010/main" val="1774043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sz="1200" b="0" i="0" kern="1200" dirty="0">
                <a:solidFill>
                  <a:schemeClr val="tx1"/>
                </a:solidFill>
                <a:effectLst/>
                <a:latin typeface="+mn-lt"/>
                <a:ea typeface="+mn-ea"/>
                <a:cs typeface="+mn-cs"/>
              </a:rPr>
              <a:t>The full pipeline has four linked parts:</a:t>
            </a:r>
          </a:p>
          <a:p>
            <a:r>
              <a:rPr lang="en-US" sz="1200" b="1" i="0" kern="1200" dirty="0">
                <a:solidFill>
                  <a:schemeClr val="tx1"/>
                </a:solidFill>
                <a:effectLst/>
                <a:latin typeface="+mn-lt"/>
                <a:ea typeface="+mn-ea"/>
                <a:cs typeface="+mn-cs"/>
              </a:rPr>
              <a:t>Data engineering Layer:</a:t>
            </a:r>
            <a:r>
              <a:rPr lang="en-US" sz="1200" b="0" i="0" kern="1200" dirty="0">
                <a:solidFill>
                  <a:schemeClr val="tx1"/>
                </a:solidFill>
                <a:effectLst/>
                <a:latin typeface="+mn-lt"/>
                <a:ea typeface="+mn-ea"/>
                <a:cs typeface="+mn-cs"/>
              </a:rPr>
              <a:t> Collects, cleans, and transforms the raw financial data into the model input.</a:t>
            </a:r>
          </a:p>
          <a:p>
            <a:r>
              <a:rPr lang="en-US" sz="1200" b="1" i="0" kern="1200" dirty="0">
                <a:solidFill>
                  <a:schemeClr val="tx1"/>
                </a:solidFill>
                <a:effectLst/>
                <a:latin typeface="+mn-lt"/>
                <a:ea typeface="+mn-ea"/>
                <a:cs typeface="+mn-cs"/>
              </a:rPr>
              <a:t>Construction Layer:</a:t>
            </a:r>
            <a:r>
              <a:rPr lang="en-US" sz="1200" b="0" i="0" kern="1200" dirty="0">
                <a:solidFill>
                  <a:schemeClr val="tx1"/>
                </a:solidFill>
                <a:effectLst/>
                <a:latin typeface="+mn-lt"/>
                <a:ea typeface="+mn-ea"/>
                <a:cs typeface="+mn-cs"/>
              </a:rPr>
              <a:t> The model estimates each asset’s future risk and ranks the assets accordingly.</a:t>
            </a:r>
          </a:p>
          <a:p>
            <a:r>
              <a:rPr lang="en-US" sz="1200" b="1" i="0" kern="1200" dirty="0">
                <a:solidFill>
                  <a:schemeClr val="tx1"/>
                </a:solidFill>
                <a:effectLst/>
                <a:latin typeface="+mn-lt"/>
                <a:ea typeface="+mn-ea"/>
                <a:cs typeface="+mn-cs"/>
              </a:rPr>
              <a:t>Asset Universe Selection Layer:</a:t>
            </a:r>
            <a:r>
              <a:rPr lang="en-US" sz="1200" b="0" i="0" kern="1200" dirty="0">
                <a:solidFill>
                  <a:schemeClr val="tx1"/>
                </a:solidFill>
                <a:effectLst/>
                <a:latin typeface="+mn-lt"/>
                <a:ea typeface="+mn-ea"/>
                <a:cs typeface="+mn-cs"/>
              </a:rPr>
              <a:t> Uses the investor’s risk profile to select the appropriate group of assets from the ranking.</a:t>
            </a:r>
          </a:p>
          <a:p>
            <a:r>
              <a:rPr lang="en-US" sz="1200" b="1" i="0" kern="1200" dirty="0">
                <a:solidFill>
                  <a:schemeClr val="tx1"/>
                </a:solidFill>
                <a:effectLst/>
                <a:latin typeface="+mn-lt"/>
                <a:ea typeface="+mn-ea"/>
                <a:cs typeface="+mn-cs"/>
              </a:rPr>
              <a:t>Evaluation Layer:</a:t>
            </a:r>
            <a:r>
              <a:rPr lang="en-US" sz="1200" b="0" i="0" kern="1200" dirty="0">
                <a:solidFill>
                  <a:schemeClr val="tx1"/>
                </a:solidFill>
                <a:effectLst/>
                <a:latin typeface="+mn-lt"/>
                <a:ea typeface="+mn-ea"/>
                <a:cs typeface="+mn-cs"/>
              </a:rPr>
              <a:t> Tests the resulting portfolios using historical data..</a:t>
            </a:r>
          </a:p>
          <a:p>
            <a:r>
              <a:rPr lang="en-US" sz="1200" b="1" i="0" kern="1200" dirty="0">
                <a:solidFill>
                  <a:schemeClr val="tx1"/>
                </a:solidFill>
                <a:effectLst/>
                <a:latin typeface="+mn-lt"/>
                <a:ea typeface="+mn-ea"/>
                <a:cs typeface="+mn-cs"/>
              </a:rPr>
              <a:t>Transition:</a:t>
            </a:r>
            <a:r>
              <a:rPr lang="en-US" sz="1200" b="0" i="0" kern="1200" dirty="0">
                <a:solidFill>
                  <a:schemeClr val="tx1"/>
                </a:solidFill>
                <a:effectLst/>
                <a:latin typeface="+mn-lt"/>
                <a:ea typeface="+mn-ea"/>
                <a:cs typeface="+mn-cs"/>
              </a:rPr>
              <a:t> The next slide explains exactly what risk value the model predicts for each asset every month.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For every active asset in a specific month, the model outputs a predicted risk score which is used to sort the assets ascendingly. The main goal is ranking quality. What matters most is whether safer and riskier assets are ordered well relative to each other inside that month.</a:t>
            </a:r>
          </a:p>
          <a:p>
            <a:r>
              <a:rPr lang="en-US" dirty="0"/>
              <a:t>This ranked list becomes the foundation for investor-specific asset selection later.</a:t>
            </a:r>
          </a:p>
          <a:p>
            <a:r>
              <a:rPr lang="en-US" dirty="0"/>
              <a:t>Transition: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raw financial inputs include date, price, OHLC fields, and volume for each asset. From those inputs, I build a monthly point-in-time panel for the model.</a:t>
            </a:r>
          </a:p>
          <a:p>
            <a:r>
              <a:rPr lang="en-US" dirty="0"/>
              <a:t>An important detail is that treasury bill and bond series are quoted as yields. So before calculating returns and risk features, those quotes are converted into fixed-maturity price proxies.</a:t>
            </a:r>
          </a:p>
          <a:p>
            <a:r>
              <a:rPr lang="en-US" dirty="0"/>
              <a:t>I also include macroeconomic context through USD/EGP conversion rate and Consumer Price Index, or CPI, because market conditions influence how risky the active universe is in each month.</a:t>
            </a:r>
          </a:p>
          <a:p>
            <a:r>
              <a:rPr lang="en-US" dirty="0"/>
              <a:t>Transition: That cleaned daily layer then feeds the monthly state panel used by the model.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One row in the panel means one active asset in one month. So the model sees the market as a changing set of asset states.</a:t>
            </a:r>
          </a:p>
          <a:p>
            <a:r>
              <a:rPr lang="en-US" dirty="0"/>
              <a:t>The point-in-time rule is strict. Features for a month only use information available up to that month, and assets are never backfilled before they truly existed or before reliable data is available.</a:t>
            </a:r>
          </a:p>
          <a:p>
            <a:r>
              <a:rPr lang="en-US" dirty="0"/>
              <a:t>The panel keeps asset identity as metadata, but the model input itself uses only features. That helps the policy learn behavior patterns instead of memorizing asset names.</a:t>
            </a:r>
          </a:p>
          <a:p>
            <a:r>
              <a:rPr lang="en-US" dirty="0"/>
              <a:t>Transition: Once the panel exists, the next question is what information each row actually contains.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Rather than presenting the model inputs as one long list, I group them by the type of asset behavior they describe.</a:t>
            </a:r>
          </a:p>
          <a:p>
            <a:r>
              <a:rPr lang="en-US" dirty="0"/>
              <a:t>Risk behavior captures recent instability and the severity of harmful losses. Liquidity describes how actively the asset trades. Technical state summarizes recent price behavior, including range, trend, momentum, and position relative to previous highs. Market sensitivity describes how strongly the asset moves with the broader equity market. Finally, macro context captures shared currency and inflation conditions affecting every active asset.</a:t>
            </a:r>
          </a:p>
          <a:p>
            <a:r>
              <a:rPr lang="en-US" dirty="0"/>
              <a:t>Together, these families describe how an asset behaves without revealing its identity to the model.</a:t>
            </a:r>
          </a:p>
          <a:p>
            <a:r>
              <a:rPr lang="en-US" dirty="0"/>
              <a:t>Transition: These families define the model inputs. The next step is defining the realized risk used in the ordering that the model should learn.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realized-risk target combines three complementary risk components: realized volatility, downside deviation, and maximum drawdown.</a:t>
            </a:r>
          </a:p>
          <a:p>
            <a:r>
              <a:rPr lang="en-US" dirty="0"/>
              <a:t>Each component is rank-normalized within the same month. This means an asset is compared only with the other assets that were actually active at that time, rather than being judged using an absolute scale.</a:t>
            </a:r>
          </a:p>
          <a:p>
            <a:r>
              <a:rPr lang="en-US" dirty="0"/>
              <a:t>The three normalized ranks are then averaged equally. The resulting realized-risk target defines the low-to-high risk ordering that the PPO model tries to recover.</a:t>
            </a:r>
          </a:p>
          <a:p>
            <a:r>
              <a:rPr lang="en-US" dirty="0"/>
              <a:t>Transition: Before explaining why I used reinforcement learning, I will quickly define what reinforcement learning means in this project.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Reinforcement learning is a learning setup where a model improves through interaction and feedback. The model observes a state, takes an action, receives a reward, and then updates its policy.</a:t>
            </a:r>
          </a:p>
          <a:p>
            <a:r>
              <a:rPr lang="en-US" dirty="0"/>
              <a:t>The policy is basically the model's decision rule. The reward function tells the model what behavior should improve. If an action leads to a better reward, the model adjusts its internal policy so similar actions become more likely in the future.</a:t>
            </a:r>
          </a:p>
          <a:p>
            <a:r>
              <a:rPr lang="en-US" dirty="0"/>
              <a:t>In this thesis, the state is one monthly active asset universe. The action is assigning risk scores to the assets. The reward tells the model how good the final monthly ranking was compared with realized risk. Over training, the model adapts so its future rankings are more likely to receive higher reward.</a:t>
            </a:r>
          </a:p>
          <a:p>
            <a:r>
              <a:rPr lang="en-US" dirty="0"/>
              <a:t>Transition: With that idea clear, I can explain why this problem fits reinforcement learning.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Reinforcement learning fits this problem for three main reasons. First, the available assets change from month to month. Second, the model scores the full monthly set together rather than treating each asset as an isolated prediction. Third, the reward is calculated only after the complete universe has been ranked.</a:t>
            </a:r>
          </a:p>
          <a:p>
            <a:r>
              <a:rPr lang="en-US" dirty="0"/>
              <a:t>The figure shows how these ideas form one monthly decision environment. The state is the active asset universe and its features. The action is assigning one risk score to every active asset, and the resulting scores create the predicted monthly ranking.</a:t>
            </a:r>
          </a:p>
          <a:p>
            <a:r>
              <a:rPr lang="en-US" dirty="0"/>
              <a:t>The predicted ranking is then compared with the realized-risk ranking to calculate the reward. That feedback is used to update the scoring policy, so it can produce better rankings in future decision months.</a:t>
            </a:r>
          </a:p>
          <a:p>
            <a:r>
              <a:rPr lang="en-US" dirty="0"/>
              <a:t>Transition: Among reinforcement learning methods, I used PPO because it gives a more controlled training update.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PPO is a policy-gradient reinforcement-learning method, meaning it directly improves the policy that produces the model’s actions. It fits this problem because the actor can assign a continuous risk score to every active asset, instead of choosing from fixed risk categories. These scores can then be sorted to create the monthly asset ranking.</a:t>
            </a:r>
          </a:p>
          <a:p>
            <a:r>
              <a:rPr lang="en-US" dirty="0"/>
              <a:t>Financial months can differ significantly, and an unusually difficult month could cause the model to change its scoring behavior too aggressively. PPO reduces this risk through clipping, which limits how much the updated policy can move away from the previous policy during one training update.</a:t>
            </a:r>
          </a:p>
          <a:p>
            <a:r>
              <a:rPr lang="en-US" dirty="0"/>
              <a:t>PPO also uses an actor-critic architecture to make learning more stable. At a high level, one component makes the decisions while another helps evaluate them.</a:t>
            </a:r>
          </a:p>
          <a:p>
            <a:r>
              <a:rPr lang="en-US" dirty="0"/>
              <a:t>Transition: Before explaining the actor-critic architecture in more details, I first need to define what one PPO decision looks like.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One PPO episode equals one monthly decision. The observation is a tensor of all asset features, together with a mask that marks which rows are real assets. This setup supports a different number of available assets depending on the decision month.</a:t>
            </a:r>
          </a:p>
          <a:p>
            <a:r>
              <a:rPr lang="en-US" dirty="0"/>
              <a:t>The action is one continuous risk score for each real asset row, between zero and one. After the model scores the month, the assets are sorted and compared with the realized-risk ordering for that same month.</a:t>
            </a:r>
          </a:p>
          <a:p>
            <a:r>
              <a:rPr lang="en-US" dirty="0"/>
              <a:t>So the reward is based on how well the full monthly ranking matches reality.</a:t>
            </a:r>
          </a:p>
          <a:p>
            <a:r>
              <a:rPr lang="en-US" dirty="0"/>
              <a:t>Transition: That episode design depends on handling a changing number of assets cleanly.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practical challenge is that every month has a different number of active assets. A neural network still needs a consistent tensor shape, so the input is padded to a fixed size.</a:t>
            </a:r>
          </a:p>
          <a:p>
            <a:r>
              <a:rPr lang="en-US" dirty="0"/>
              <a:t>The mask tells the model which rows are real and which rows are just padding. That way, padded rows do not pollute action sampling, learning, or reward calculations.</a:t>
            </a:r>
          </a:p>
          <a:p>
            <a:r>
              <a:rPr lang="en-US" dirty="0"/>
              <a:t>This is what lets the system work with a changing investable universe in a technically clean way.</a:t>
            </a:r>
          </a:p>
          <a:p>
            <a:r>
              <a:rPr lang="en-US" dirty="0"/>
              <a:t>Transition: With the monthly decision and masking logic clear, I will explain the actor-critic architecture.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architecture has four main pieces. A row encoder reads each asset using the same parameters, then a pooled context vector summarizes the active month.</a:t>
            </a:r>
          </a:p>
          <a:p>
            <a:r>
              <a:rPr lang="en-US" dirty="0"/>
              <a:t>From there, the actor outputs a risk score per asset, and the critic estimates the expected monthly reward. That critic estimate gives the algorithm a baseline for how good or bad the actual month turned out.</a:t>
            </a:r>
          </a:p>
          <a:p>
            <a:r>
              <a:rPr lang="en-US" dirty="0"/>
              <a:t>The difference between the actual monthly reward and the critic's expected monthly reward is called the advantage. PPO uses that advantage to decide how strongly the policy should be updated.</a:t>
            </a:r>
          </a:p>
          <a:p>
            <a:r>
              <a:rPr lang="en-US" dirty="0"/>
              <a:t>This structure is a good fit because the decision mixes asset-level scoring with month-level context.</a:t>
            </a:r>
          </a:p>
          <a:p>
            <a:r>
              <a:rPr lang="en-US" dirty="0"/>
              <a:t>Transition: The final training signal then comes from the reward function.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reward is computed after the entire monthly universe is scored. Seventy percent of it measures how close the predicted ranking was to the realized-risk ranking, and thirty percent measures how close the predicted score values were to the target values.</a:t>
            </a:r>
          </a:p>
          <a:p>
            <a:r>
              <a:rPr lang="en-US" dirty="0"/>
              <a:t>The first part uses Spearman rank correlation because the thesis is mainly a ranking problem. The second part uses MSE to discourage the model from placing all assets too close together, where a very small score change could easily flip the ranking.</a:t>
            </a:r>
          </a:p>
          <a:p>
            <a:r>
              <a:rPr lang="en-US" dirty="0"/>
              <a:t>So the reward keeps the ranking objective central while still giving the scores some shape.</a:t>
            </a:r>
          </a:p>
          <a:p>
            <a:r>
              <a:rPr lang="en-US" dirty="0"/>
              <a:t>Transition: Once the model produces a ranked list, I can map that list into profile-specific asset universes.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After ranking, the predicted positions are converted into rank percentiles. These percentiles are then used to form three profile-specific asset universes.</a:t>
            </a:r>
          </a:p>
          <a:p>
            <a:r>
              <a:rPr lang="en-US" dirty="0"/>
              <a:t>The conservative asset universe uses the lowest 30 percent of predicted-risk assets. The balanced asset universe uses the middle 20 to 80 percent band. The aggressive asset universe uses the highest 30 percent of predicted-risk assets.</a:t>
            </a:r>
          </a:p>
          <a:p>
            <a:r>
              <a:rPr lang="en-US" dirty="0"/>
              <a:t>The overlap is intentional because some assets can reasonably fit two neighboring investor profiles depending on where they sit in the ranked distribution.</a:t>
            </a:r>
          </a:p>
          <a:p>
            <a:r>
              <a:rPr lang="en-US" dirty="0"/>
              <a:t>Transition: With the full method defined, the next step is to show how I tested it.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evaluation follows a strict chronological split to control leakage. Training covers 2011-01 to 2021-12, and this is where the PPO policy learns from historical months.</a:t>
            </a:r>
          </a:p>
          <a:p>
            <a:r>
              <a:rPr lang="en-US" dirty="0"/>
              <a:t>Inner validation covers 2022-01 to 2022-12, and it is used for intermediate model-selection checks. Validation covers 2023-01 to 2025-02, and it guides the final framework, feature, and hyperparameter choices. Test covers 2025-03 to 2026-01, and it is held back for final reporting only.</a:t>
            </a:r>
          </a:p>
          <a:p>
            <a:r>
              <a:rPr lang="en-US" dirty="0"/>
              <a:t>Transition: Before feature tuning, I first had to decide which PPO framework made the most sense.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Several formulations were compared before locking the final framework. The goal was to understand which input structure actually fits the ranking problem, while keeping the base feature set fixed.</a:t>
            </a:r>
          </a:p>
          <a:p>
            <a:r>
              <a:rPr lang="en-US" dirty="0"/>
              <a:t>I tested whether the model should look at only the most recent month or a three-month feature window. I also tested whether adding pooled context from the whole active universe in that month improved the model's performance.</a:t>
            </a:r>
          </a:p>
          <a:p>
            <a:r>
              <a:rPr lang="en-US" dirty="0"/>
              <a:t>I also explored variants that included daily price information more directly, but in these trials that appeared to add noise and did not improve validation performance. The three-month view with active-universe context had the best performance, so it was promoted as the final framework for the next stage.</a:t>
            </a:r>
          </a:p>
          <a:p>
            <a:r>
              <a:rPr lang="en-US" dirty="0"/>
              <a:t>Transition: After the framework was locked, I moved to feature tuning and hyperparameter tuning phases.</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Feature selection followed a sequential process. I first used drop-one-feature ablations on the fixed feature set, then confirmed promising changes with three-seed runs. After that, I tested redesigned feature-family alternatives and new additions such as the downside-tail ratio.</a:t>
            </a:r>
          </a:p>
          <a:p>
            <a:r>
              <a:rPr lang="en-US" dirty="0"/>
              <a:t>Hyperparameter tuning came after the framework and feature decisions. I used Optuna, a hyperparameter optimization tool that runs multiple parameter trials, evaluates them on the validation objective, and uses earlier results to suggest better configurations.</a:t>
            </a:r>
          </a:p>
          <a:p>
            <a:r>
              <a:rPr lang="en-US" dirty="0"/>
              <a:t>The main selection metric was validation reward, with validation Spearman kept as the ranking-quality guardrail.</a:t>
            </a:r>
          </a:p>
          <a:p>
            <a:r>
              <a:rPr lang="en-US" dirty="0"/>
              <a:t>Transition: Once the model was locked, I evaluated it in two connected stages.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first stage evaluates ranking quality directly by comparing predicted risk ranks with realized-risk ranks, mainly using Spearman correlation.</a:t>
            </a:r>
          </a:p>
          <a:p>
            <a:r>
              <a:rPr lang="en-US" dirty="0"/>
              <a:t>The second stage evaluates what those rankings mean for investor groups by forming conservative, balanced, and aggressive universes and comparing them with the full active universe under the same equal-weight rule.</a:t>
            </a:r>
          </a:p>
          <a:p>
            <a:r>
              <a:rPr lang="en-US" dirty="0"/>
              <a:t>Equal weighting keeps the focus on universe selection. Return metrics are reported, but the main reading remains risk separation.</a:t>
            </a:r>
          </a:p>
          <a:p>
            <a:r>
              <a:rPr lang="en-US" dirty="0"/>
              <a:t>Transition: Now I can show the core results.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promoted model achieved a test reward of approximately 0.75. Its Spearman correlation of approximately 0.67 also shows meaningful agreement between the predicted and realized-risk rankings.</a:t>
            </a:r>
          </a:p>
          <a:p>
            <a:r>
              <a:rPr lang="en-US" dirty="0"/>
              <a:t>This means the model generally placed relatively safer assets toward the lower-risk end and relatively riskier assets toward the higher-risk end, despite the active asset universe changing each month.</a:t>
            </a:r>
          </a:p>
          <a:p>
            <a:r>
              <a:rPr lang="en-US" dirty="0"/>
              <a:t>Looking at the graph, the horizontal axis shows each asset’s realized-risk rank, while the vertical axis shows the rank predicted by the model. Points closer to the green diagonal represent stronger agreement between the two rankings. Although the predictions are not perfect, the overall upward pattern reflects the positive Spearman correlation.</a:t>
            </a:r>
          </a:p>
          <a:p>
            <a:r>
              <a:rPr lang="en-US" dirty="0"/>
              <a:t>However, an average correlation and the graph alone do not show whether the ranking creates practically distinct risk groups. The next slide therefore examines whether the predicted ranks separate assets into clearly different realized-risk buckets.</a:t>
            </a:r>
          </a:p>
          <a:p>
            <a:r>
              <a:rPr lang="en-US" dirty="0"/>
              <a:t>Transition:</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profile-specific asset universes separated realized risk in the expected order. The full universe mean realized risk was 0.500, the conservative universe was 0.239, the balanced universe was 0.536, and the aggressive universe was 0.688.</a:t>
            </a:r>
          </a:p>
          <a:p>
            <a:r>
              <a:rPr lang="en-US" dirty="0"/>
              <a:t>The monotonic ordering held in all 11 out of 11 test months. That is the cleanest evidence that the model can produce distinct investor-oriented universes from predicted ranks.</a:t>
            </a:r>
          </a:p>
          <a:p>
            <a:r>
              <a:rPr lang="en-US" dirty="0"/>
              <a:t>From a financial point of view, the main message is straightforward: the conservative asset universe behaved materially safer, while the aggressive asset universe carried clearly higher realized risk.</a:t>
            </a:r>
          </a:p>
          <a:p>
            <a:r>
              <a:rPr lang="en-US" dirty="0"/>
              <a:t>Transition: After risk separation, we can look carefully at the return side of the same test window.</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Using the same equal-weight allocation rule, cumulative return in the test window was 49.59 percent for the full universe, 29.91 percent for the conservative universe, 50.17 percent for the balanced universe, and 86.24 percent for the aggressive universe.</a:t>
            </a:r>
          </a:p>
          <a:p>
            <a:r>
              <a:rPr lang="en-US" dirty="0"/>
              <a:t>The aggressive universe also carried higher volatility and a deeper drawdown. So the higher return came with visibly higher risk exposure.</a:t>
            </a:r>
          </a:p>
          <a:p>
            <a:r>
              <a:rPr lang="en-US" dirty="0"/>
              <a:t>That is why I present these numbers as historical diagnostics. They help interpret the selected universes economically, but they do not prove future outperformance.</a:t>
            </a:r>
          </a:p>
          <a:p>
            <a:r>
              <a:rPr lang="en-US" dirty="0"/>
              <a:t>Transition: That brings us to the baseline comparison.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baseline here is the full active universe under the same equal-weight rule. Keeping the allocation rule fixed makes the comparison much cleaner.</a:t>
            </a:r>
          </a:p>
          <a:p>
            <a:r>
              <a:rPr lang="en-US" dirty="0"/>
              <a:t>Under that comparison, conservative-universe filtering materially reduced realized risk versus the full universe, while aggressive-universe filtering produced higher realized risk and stronger return participation in the short test window.</a:t>
            </a:r>
          </a:p>
          <a:p>
            <a:r>
              <a:rPr lang="en-US" dirty="0"/>
              <a:t>So the filtering stage itself already changes the opportunity set in a meaningful, investor-specific way.</a:t>
            </a:r>
          </a:p>
          <a:p>
            <a:r>
              <a:rPr lang="en-US" dirty="0"/>
              <a:t>Transition: With that evidence in place, I can answer the research questions directly.</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 promoted model achieved a test reward of about 0.7545 and a test Spearman diagnostic of about 0.669. Those are the main ranking-quality signals at the thesis level.</a:t>
            </a:r>
          </a:p>
          <a:p>
            <a:r>
              <a:rPr lang="en-US" dirty="0"/>
              <a:t>Another useful detail is that reward stayed positive across all 11 test months. That gives a more stable picture than looking at a single average alone.</a:t>
            </a:r>
          </a:p>
          <a:p>
            <a:r>
              <a:rPr lang="en-US" dirty="0"/>
              <a:t>So before even forming profile-specific asset universes, the monthly ranking behavior is already meaningful.</a:t>
            </a:r>
          </a:p>
          <a:p>
            <a:r>
              <a:rPr lang="en-US" dirty="0"/>
              <a:t>Transition: The strongest thesis result appears when those rankings are converted into profile-specific asset universes.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These are possible next steps beyond the thesis scope. One future direction is live forward testing: connecting the pipeline to live market-data APIs, rebuilding the monthly features over time, and monitoring how the selected asset universes behave in real conditions.</a:t>
            </a:r>
          </a:p>
          <a:p>
            <a:r>
              <a:rPr lang="en-US" dirty="0"/>
              <a:t>That would matter because historical evidence is useful, but forward observation is a stronger test of stability.</a:t>
            </a:r>
          </a:p>
          <a:p>
            <a:r>
              <a:rPr lang="en-US" dirty="0"/>
              <a:t>Transition: There is also a natural extension on the objective side.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Another possible extension is return-aware suitability. The current thesis objective is risk suitability, but a future version may add return-aware diagnostics or utility logic after the risk-ranked universes are formed.</a:t>
            </a:r>
          </a:p>
          <a:p>
            <a:r>
              <a:rPr lang="en-US" dirty="0"/>
              <a:t>That would let the system stay investor-aware while exploring richer tradeoffs inside each selected universe.</a:t>
            </a:r>
          </a:p>
          <a:p>
            <a:r>
              <a:rPr lang="en-US" dirty="0"/>
              <a:t>Transition: I'll conclude with the key references behind the ideas we've discussed.</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Script</a:t>
            </a:r>
          </a:p>
          <a:p>
            <a:r>
              <a:rPr lang="en-US" dirty="0"/>
              <a:t>These are the five core references most directly supporting the problem framing, the preselection literature, and the baseline context for this thesis.</a:t>
            </a:r>
          </a:p>
          <a:p>
            <a:r>
              <a:rPr lang="en-US" dirty="0"/>
              <a:t>I keep the slide short during the talk and leave the fuller literature detail to the written thesis and discussion.</a:t>
            </a:r>
          </a:p>
          <a:p>
            <a:r>
              <a:rPr lang="en-US" dirty="0"/>
              <a:t>Transition: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974F09-BA5B-CE93-4DC0-5894C61367C8}"/>
              </a:ext>
            </a:extLst>
          </p:cNvPr>
          <p:cNvSpPr/>
          <p:nvPr userDrawn="1"/>
        </p:nvSpPr>
        <p:spPr>
          <a:xfrm rot="5400000">
            <a:off x="2621277" y="-2621279"/>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p:cNvSpPr>
            <a:spLocks noGrp="1"/>
          </p:cNvSpPr>
          <p:nvPr>
            <p:ph type="ctrTitle" hasCustomPrompt="1"/>
          </p:nvPr>
        </p:nvSpPr>
        <p:spPr>
          <a:xfrm>
            <a:off x="1066800" y="1645920"/>
            <a:ext cx="10058400" cy="3566160"/>
          </a:xfrm>
        </p:spPr>
        <p:txBody>
          <a:bodyPr anchor="b">
            <a:normAutofit/>
          </a:bodyPr>
          <a:lstStyle>
            <a:lvl1pPr algn="l">
              <a:lnSpc>
                <a:spcPct val="85000"/>
              </a:lnSpc>
              <a:defRPr sz="8000" spc="-50" baseline="0">
                <a:solidFill>
                  <a:schemeClr val="bg1"/>
                </a:solidFill>
              </a:defRPr>
            </a:lvl1pPr>
          </a:lstStyle>
          <a:p>
            <a:r>
              <a:rPr lang="en-US" dirty="0"/>
              <a:t>Title</a:t>
            </a:r>
          </a:p>
        </p:txBody>
      </p:sp>
      <p:sp>
        <p:nvSpPr>
          <p:cNvPr id="4" name="Date Placeholder 3"/>
          <p:cNvSpPr>
            <a:spLocks noGrp="1"/>
          </p:cNvSpPr>
          <p:nvPr>
            <p:ph type="dt" sz="half" idx="10"/>
          </p:nvPr>
        </p:nvSpPr>
        <p:spPr/>
        <p:txBody>
          <a:bodyPr/>
          <a:lstStyle/>
          <a:p>
            <a:fld id="{4B1FDDEC-290C-46A3-AAAC-80B1A205EAA7}"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11" name="Rectangle 10">
            <a:extLst>
              <a:ext uri="{FF2B5EF4-FFF2-40B4-BE49-F238E27FC236}">
                <a16:creationId xmlns:a16="http://schemas.microsoft.com/office/drawing/2014/main" id="{0E6C301B-627F-63CF-47F1-3BD4C3FEF3C7}"/>
              </a:ext>
            </a:extLst>
          </p:cNvPr>
          <p:cNvSpPr/>
          <p:nvPr userDrawn="1"/>
        </p:nvSpPr>
        <p:spPr>
          <a:xfrm rot="5400000">
            <a:off x="8740140"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a:extLst>
              <a:ext uri="{FF2B5EF4-FFF2-40B4-BE49-F238E27FC236}">
                <a16:creationId xmlns:a16="http://schemas.microsoft.com/office/drawing/2014/main" id="{10074576-789E-CA71-7961-0C2E654A204C}"/>
              </a:ext>
            </a:extLst>
          </p:cNvPr>
          <p:cNvCxnSpPr>
            <a:cxnSpLocks/>
          </p:cNvCxnSpPr>
          <p:nvPr userDrawn="1"/>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00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o 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66800" y="1645920"/>
            <a:ext cx="10058400" cy="3566160"/>
          </a:xfrm>
        </p:spPr>
        <p:txBody>
          <a:bodyPr anchor="b">
            <a:normAutofit/>
          </a:bodyPr>
          <a:lstStyle>
            <a:lvl1pPr algn="l">
              <a:lnSpc>
                <a:spcPct val="85000"/>
              </a:lnSpc>
              <a:defRPr sz="8000" spc="-50" baseline="0">
                <a:solidFill>
                  <a:schemeClr val="bg1"/>
                </a:solidFill>
              </a:defRPr>
            </a:lvl1pPr>
          </a:lstStyle>
          <a:p>
            <a:r>
              <a:rPr lang="en-US" dirty="0"/>
              <a:t>Title</a:t>
            </a:r>
          </a:p>
        </p:txBody>
      </p:sp>
      <p:sp>
        <p:nvSpPr>
          <p:cNvPr id="4" name="Date Placeholder 3"/>
          <p:cNvSpPr>
            <a:spLocks noGrp="1"/>
          </p:cNvSpPr>
          <p:nvPr>
            <p:ph type="dt" sz="half" idx="10"/>
          </p:nvPr>
        </p:nvSpPr>
        <p:spPr/>
        <p:txBody>
          <a:bodyPr/>
          <a:lstStyle/>
          <a:p>
            <a:fld id="{4B1FDDEC-290C-46A3-AAAC-80B1A205EAA7}"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cxnSp>
        <p:nvCxnSpPr>
          <p:cNvPr id="8" name="Straight Connector 7">
            <a:extLst>
              <a:ext uri="{FF2B5EF4-FFF2-40B4-BE49-F238E27FC236}">
                <a16:creationId xmlns:a16="http://schemas.microsoft.com/office/drawing/2014/main" id="{10074576-789E-CA71-7961-0C2E654A204C}"/>
              </a:ext>
            </a:extLst>
          </p:cNvPr>
          <p:cNvCxnSpPr>
            <a:cxnSpLocks/>
          </p:cNvCxnSpPr>
          <p:nvPr userDrawn="1"/>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03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645920"/>
            <a:ext cx="10058400" cy="3566160"/>
          </a:xfrm>
        </p:spPr>
        <p:txBody>
          <a:bodyPr anchor="b">
            <a:normAutofit/>
          </a:bodyPr>
          <a:lstStyle>
            <a:lvl1pPr algn="l">
              <a:lnSpc>
                <a:spcPct val="85000"/>
              </a:lnSpc>
              <a:defRPr sz="8000" spc="-50" baseline="0">
                <a:solidFill>
                  <a:schemeClr val="tx1"/>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4B1FDDEC-290C-46A3-AAAC-80B1A205EAA7}" type="datetime1">
              <a:rPr lang="en-US" smtClean="0"/>
              <a:t>6/9/2026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3" name="Rectangle 2">
            <a:extLst>
              <a:ext uri="{FF2B5EF4-FFF2-40B4-BE49-F238E27FC236}">
                <a16:creationId xmlns:a16="http://schemas.microsoft.com/office/drawing/2014/main" id="{0CA0D418-9742-98E2-6C3E-5205EFAE8FFF}"/>
              </a:ext>
            </a:extLst>
          </p:cNvPr>
          <p:cNvSpPr/>
          <p:nvPr userDrawn="1"/>
        </p:nvSpPr>
        <p:spPr>
          <a:xfrm rot="5400000">
            <a:off x="-3295487" y="3295487"/>
            <a:ext cx="6857999" cy="2670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700C6AEB-8335-6E9E-EE94-9884670022FF}"/>
              </a:ext>
            </a:extLst>
          </p:cNvPr>
          <p:cNvSpPr/>
          <p:nvPr userDrawn="1"/>
        </p:nvSpPr>
        <p:spPr>
          <a:xfrm rot="5400000">
            <a:off x="-310365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 Placeholder 8">
            <a:extLst>
              <a:ext uri="{FF2B5EF4-FFF2-40B4-BE49-F238E27FC236}">
                <a16:creationId xmlns:a16="http://schemas.microsoft.com/office/drawing/2014/main" id="{07299F84-C72F-BD47-ED3F-A05836B25612}"/>
              </a:ext>
            </a:extLst>
          </p:cNvPr>
          <p:cNvSpPr>
            <a:spLocks noGrp="1"/>
          </p:cNvSpPr>
          <p:nvPr>
            <p:ph type="body" sz="quarter" idx="13" hasCustomPrompt="1"/>
          </p:nvPr>
        </p:nvSpPr>
        <p:spPr>
          <a:xfrm>
            <a:off x="1066800" y="5382903"/>
            <a:ext cx="10088563" cy="563562"/>
          </a:xfrm>
        </p:spPr>
        <p:txBody>
          <a:bodyPr/>
          <a:lstStyle>
            <a:lvl1pPr>
              <a:defRPr>
                <a:solidFill>
                  <a:schemeClr val="tx1"/>
                </a:solidFill>
              </a:defRPr>
            </a:lvl1pPr>
          </a:lstStyle>
          <a:p>
            <a:pPr lvl="0"/>
            <a:r>
              <a:rPr lang="en-US" dirty="0"/>
              <a:t>Subtitle</a:t>
            </a:r>
          </a:p>
        </p:txBody>
      </p:sp>
      <p:pic>
        <p:nvPicPr>
          <p:cNvPr id="12" name="Picture 11">
            <a:extLst>
              <a:ext uri="{FF2B5EF4-FFF2-40B4-BE49-F238E27FC236}">
                <a16:creationId xmlns:a16="http://schemas.microsoft.com/office/drawing/2014/main" id="{F398BC4B-65E7-05B9-E6F1-DE6B47ED9C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63955" y="624516"/>
            <a:ext cx="368410" cy="387465"/>
          </a:xfrm>
          <a:prstGeom prst="rect">
            <a:avLst/>
          </a:prstGeom>
        </p:spPr>
      </p:pic>
      <p:pic>
        <p:nvPicPr>
          <p:cNvPr id="13" name="Picture 12">
            <a:extLst>
              <a:ext uri="{FF2B5EF4-FFF2-40B4-BE49-F238E27FC236}">
                <a16:creationId xmlns:a16="http://schemas.microsoft.com/office/drawing/2014/main" id="{21370BFB-B222-9C7A-F83D-BFE96233B6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04320" y="21157"/>
            <a:ext cx="487680" cy="530892"/>
          </a:xfrm>
          <a:prstGeom prst="rect">
            <a:avLst/>
          </a:prstGeom>
        </p:spPr>
      </p:pic>
    </p:spTree>
    <p:extLst>
      <p:ext uri="{BB962C8B-B14F-4D97-AF65-F5344CB8AC3E}">
        <p14:creationId xmlns:p14="http://schemas.microsoft.com/office/powerpoint/2010/main" val="1562032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nchor="ctr"/>
          <a:lstStyle>
            <a:lvl1pPr>
              <a:lnSpc>
                <a:spcPct val="150000"/>
              </a:lnSpc>
              <a:defRPr sz="2000">
                <a:latin typeface="+mj-lt"/>
              </a:defRPr>
            </a:lvl1pPr>
            <a:lvl2pPr>
              <a:lnSpc>
                <a:spcPct val="150000"/>
              </a:lnSpc>
              <a:defRPr sz="2000">
                <a:latin typeface="+mj-lt"/>
              </a:defRPr>
            </a:lvl2pPr>
            <a:lvl3pPr>
              <a:lnSpc>
                <a:spcPct val="150000"/>
              </a:lnSpc>
              <a:defRPr sz="2000">
                <a:latin typeface="+mj-lt"/>
              </a:defRPr>
            </a:lvl3pPr>
            <a:lvl4pPr>
              <a:lnSpc>
                <a:spcPct val="150000"/>
              </a:lnSpc>
              <a:defRPr sz="2000">
                <a:latin typeface="+mj-lt"/>
              </a:defRPr>
            </a:lvl4pPr>
            <a:lvl5pPr>
              <a:lnSpc>
                <a:spcPct val="150000"/>
              </a:lnSpc>
              <a:defRPr sz="20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E1F30BF-6B28-4FAA-9212-08B64EC957B3}"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16" name="Rectangle 15">
            <a:extLst>
              <a:ext uri="{FF2B5EF4-FFF2-40B4-BE49-F238E27FC236}">
                <a16:creationId xmlns:a16="http://schemas.microsoft.com/office/drawing/2014/main" id="{9857F567-14FC-F17F-85AB-530A3BDF8824}"/>
              </a:ext>
            </a:extLst>
          </p:cNvPr>
          <p:cNvSpPr/>
          <p:nvPr userDrawn="1"/>
        </p:nvSpPr>
        <p:spPr>
          <a:xfrm rot="5400000">
            <a:off x="-3298549" y="3295484"/>
            <a:ext cx="6857999" cy="2670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17" name="Rectangle 16">
            <a:extLst>
              <a:ext uri="{FF2B5EF4-FFF2-40B4-BE49-F238E27FC236}">
                <a16:creationId xmlns:a16="http://schemas.microsoft.com/office/drawing/2014/main" id="{6E559F87-74A3-52AE-A322-0D83C9336BAC}"/>
              </a:ext>
            </a:extLst>
          </p:cNvPr>
          <p:cNvSpPr/>
          <p:nvPr userDrawn="1"/>
        </p:nvSpPr>
        <p:spPr>
          <a:xfrm rot="5400000">
            <a:off x="-310365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787235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4" name="Date Placeholder 3"/>
          <p:cNvSpPr>
            <a:spLocks noGrp="1"/>
          </p:cNvSpPr>
          <p:nvPr>
            <p:ph type="dt" sz="half" idx="10"/>
          </p:nvPr>
        </p:nvSpPr>
        <p:spPr/>
        <p:txBody>
          <a:bodyPr/>
          <a:lstStyle/>
          <a:p>
            <a:fld id="{DE1F30BF-6B28-4FAA-9212-08B64EC957B3}" type="datetime1">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8" name="Content Placeholder 2">
            <a:extLst>
              <a:ext uri="{FF2B5EF4-FFF2-40B4-BE49-F238E27FC236}">
                <a16:creationId xmlns:a16="http://schemas.microsoft.com/office/drawing/2014/main" id="{1835F779-EFD6-5B30-F51C-BF528035E564}"/>
              </a:ext>
            </a:extLst>
          </p:cNvPr>
          <p:cNvSpPr>
            <a:spLocks noGrp="1"/>
          </p:cNvSpPr>
          <p:nvPr>
            <p:ph idx="13"/>
          </p:nvPr>
        </p:nvSpPr>
        <p:spPr>
          <a:xfrm>
            <a:off x="1097280" y="1905000"/>
            <a:ext cx="10058400" cy="4023360"/>
          </a:xfrm>
        </p:spPr>
        <p:txBody>
          <a:bodyPr anchor="ctr"/>
          <a:lstStyle>
            <a:lvl1pPr>
              <a:lnSpc>
                <a:spcPct val="150000"/>
              </a:lnSpc>
              <a:defRPr sz="2000">
                <a:latin typeface="+mj-lt"/>
              </a:defRPr>
            </a:lvl1pPr>
            <a:lvl2pPr>
              <a:lnSpc>
                <a:spcPct val="150000"/>
              </a:lnSpc>
              <a:defRPr sz="2000">
                <a:latin typeface="+mj-lt"/>
              </a:defRPr>
            </a:lvl2pPr>
            <a:lvl3pPr>
              <a:lnSpc>
                <a:spcPct val="150000"/>
              </a:lnSpc>
              <a:defRPr sz="2000">
                <a:latin typeface="+mj-lt"/>
              </a:defRPr>
            </a:lvl3pPr>
            <a:lvl4pPr>
              <a:lnSpc>
                <a:spcPct val="150000"/>
              </a:lnSpc>
              <a:defRPr sz="2000">
                <a:latin typeface="+mj-lt"/>
              </a:defRPr>
            </a:lvl4pPr>
            <a:lvl5pPr>
              <a:lnSpc>
                <a:spcPct val="150000"/>
              </a:lnSpc>
              <a:defRPr sz="20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4166925"/>
      </p:ext>
    </p:extLst>
  </p:cSld>
  <p:clrMapOvr>
    <a:masterClrMapping/>
  </p:clrMapOvr>
  <p:extLst>
    <p:ext uri="{DCECCB84-F9BA-43D5-87BE-67443E8EF086}">
      <p15:sldGuideLst xmlns:p15="http://schemas.microsoft.com/office/powerpoint/2012/main">
        <p15:guide id="1" orient="horz" pos="1200" userDrawn="1">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353A8A-47A8-46D0-A2B9-12A1E64172B9}" type="datetime1">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70230A-709D-4205-8636-A3280FD27E74}" type="slidenum">
              <a:rPr lang="en-US" smtClean="0"/>
              <a:t>‹#›</a:t>
            </a:fld>
            <a:endParaRPr lang="en-US"/>
          </a:p>
        </p:txBody>
      </p:sp>
      <p:sp>
        <p:nvSpPr>
          <p:cNvPr id="2" name="Rectangle 1">
            <a:extLst>
              <a:ext uri="{FF2B5EF4-FFF2-40B4-BE49-F238E27FC236}">
                <a16:creationId xmlns:a16="http://schemas.microsoft.com/office/drawing/2014/main" id="{BEE4CEAB-A99B-03F8-83CD-0EC1B3251176}"/>
              </a:ext>
            </a:extLst>
          </p:cNvPr>
          <p:cNvSpPr/>
          <p:nvPr userDrawn="1"/>
        </p:nvSpPr>
        <p:spPr>
          <a:xfrm rot="5400000">
            <a:off x="-9212254" y="-2621282"/>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Tree>
    <p:extLst>
      <p:ext uri="{BB962C8B-B14F-4D97-AF65-F5344CB8AC3E}">
        <p14:creationId xmlns:p14="http://schemas.microsoft.com/office/powerpoint/2010/main" val="211152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4985AA-0B3D-4F07-ACA1-EDC07BA37A19}" type="datetime1">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70230A-709D-4205-8636-A3280FD27E74}" type="slidenum">
              <a:rPr lang="en-US" smtClean="0"/>
              <a:t>‹#›</a:t>
            </a:fld>
            <a:endParaRPr lang="en-US"/>
          </a:p>
        </p:txBody>
      </p:sp>
      <p:sp>
        <p:nvSpPr>
          <p:cNvPr id="2" name="Rectangle 1">
            <a:extLst>
              <a:ext uri="{FF2B5EF4-FFF2-40B4-BE49-F238E27FC236}">
                <a16:creationId xmlns:a16="http://schemas.microsoft.com/office/drawing/2014/main" id="{EF6EDF1D-7395-91FA-0F78-3E7786280808}"/>
              </a:ext>
            </a:extLst>
          </p:cNvPr>
          <p:cNvSpPr/>
          <p:nvPr userDrawn="1"/>
        </p:nvSpPr>
        <p:spPr>
          <a:xfrm rot="5400000">
            <a:off x="-9212254" y="-2621282"/>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Tree>
    <p:extLst>
      <p:ext uri="{BB962C8B-B14F-4D97-AF65-F5344CB8AC3E}">
        <p14:creationId xmlns:p14="http://schemas.microsoft.com/office/powerpoint/2010/main" val="3595696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chemeClr val="tx1"/>
                </a:solidFill>
              </a:defRPr>
            </a:lvl1pPr>
          </a:lstStyle>
          <a:p>
            <a:fld id="{E7D051F9-C035-4AC7-BE34-6B05C97A3AC6}" type="datetime1">
              <a:rPr lang="en-US" smtClean="0"/>
              <a:pPr/>
              <a:t>6/9/2026</a:t>
            </a:fld>
            <a:endParaRPr lang="en-US"/>
          </a:p>
        </p:txBody>
      </p:sp>
      <p:sp>
        <p:nvSpPr>
          <p:cNvPr id="5" name="Footer Placeholder 4"/>
          <p:cNvSpPr>
            <a:spLocks noGrp="1"/>
          </p:cNvSpPr>
          <p:nvPr>
            <p:ph type="ftr" sz="quarter" idx="3"/>
          </p:nvPr>
        </p:nvSpPr>
        <p:spPr>
          <a:xfrm>
            <a:off x="3715078" y="6459785"/>
            <a:ext cx="4822804" cy="365125"/>
          </a:xfrm>
          <a:prstGeom prst="rect">
            <a:avLst/>
          </a:prstGeom>
        </p:spPr>
        <p:txBody>
          <a:bodyPr vert="horz" lIns="91440" tIns="45720" rIns="91440" bIns="45720" rtlCol="0" anchor="ctr"/>
          <a:lstStyle>
            <a:lvl1pPr algn="ctr">
              <a:defRPr sz="900" cap="all" baseline="0">
                <a:solidFill>
                  <a:schemeClr val="tx1"/>
                </a:solidFill>
              </a:defRPr>
            </a:lvl1pPr>
          </a:lstStyle>
          <a:p>
            <a:endParaRPr lang="en-US" dirty="0">
              <a:solidFill>
                <a:schemeClr val="tx1"/>
              </a:solidFill>
            </a:endParaRPr>
          </a:p>
        </p:txBody>
      </p:sp>
      <p:sp>
        <p:nvSpPr>
          <p:cNvPr id="6" name="Slide Number Placeholder 5"/>
          <p:cNvSpPr>
            <a:spLocks noGrp="1"/>
          </p:cNvSpPr>
          <p:nvPr>
            <p:ph type="sldNum" sz="quarter" idx="4"/>
          </p:nvPr>
        </p:nvSpPr>
        <p:spPr>
          <a:xfrm>
            <a:off x="9843655" y="6459785"/>
            <a:ext cx="1312025" cy="365125"/>
          </a:xfrm>
          <a:prstGeom prst="rect">
            <a:avLst/>
          </a:prstGeom>
        </p:spPr>
        <p:txBody>
          <a:bodyPr vert="horz" lIns="91440" tIns="45720" rIns="91440" bIns="45720" rtlCol="0" anchor="ctr"/>
          <a:lstStyle>
            <a:lvl1pPr algn="r">
              <a:defRPr sz="1050">
                <a:solidFill>
                  <a:schemeClr val="tx1"/>
                </a:solidFill>
              </a:defRPr>
            </a:lvl1pPr>
          </a:lstStyle>
          <a:p>
            <a:fld id="{1370230A-709D-4205-8636-A3280FD27E74}"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DE884CB-02EA-EAFF-4D26-EFCEC9165BB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763955" y="624516"/>
            <a:ext cx="368410" cy="387465"/>
          </a:xfrm>
          <a:prstGeom prst="rect">
            <a:avLst/>
          </a:prstGeom>
        </p:spPr>
      </p:pic>
      <p:pic>
        <p:nvPicPr>
          <p:cNvPr id="15" name="Picture 14">
            <a:extLst>
              <a:ext uri="{FF2B5EF4-FFF2-40B4-BE49-F238E27FC236}">
                <a16:creationId xmlns:a16="http://schemas.microsoft.com/office/drawing/2014/main" id="{6355FA32-0551-8FA2-0044-702EFCA091F8}"/>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1704320" y="21157"/>
            <a:ext cx="487680" cy="530892"/>
          </a:xfrm>
          <a:prstGeom prst="rect">
            <a:avLst/>
          </a:prstGeom>
        </p:spPr>
      </p:pic>
    </p:spTree>
    <p:extLst>
      <p:ext uri="{BB962C8B-B14F-4D97-AF65-F5344CB8AC3E}">
        <p14:creationId xmlns:p14="http://schemas.microsoft.com/office/powerpoint/2010/main" val="217129853"/>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6" r:id="rId3"/>
    <p:sldLayoutId id="2147483662" r:id="rId4"/>
    <p:sldLayoutId id="2147483668" r:id="rId5"/>
    <p:sldLayoutId id="2147483664" r:id="rId6"/>
    <p:sldLayoutId id="2147483665" r:id="rId7"/>
  </p:sldLayoutIdLst>
  <p:hf hdr="0" ftr="0" dt="0"/>
  <p:txStyles>
    <p:titleStyle>
      <a:lvl1pPr algn="l" defTabSz="914400" rtl="0" eaLnBrk="1" latinLnBrk="0" hangingPunct="1">
        <a:lnSpc>
          <a:spcPct val="85000"/>
        </a:lnSpc>
        <a:spcBef>
          <a:spcPct val="0"/>
        </a:spcBef>
        <a:buNone/>
        <a:defRPr sz="4800" kern="1200" spc="-50" baseline="0">
          <a:solidFill>
            <a:schemeClr val="tx1"/>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93FC-F9B0-B36D-4BB7-D4316022452A}"/>
              </a:ext>
            </a:extLst>
          </p:cNvPr>
          <p:cNvSpPr>
            <a:spLocks noGrp="1"/>
          </p:cNvSpPr>
          <p:nvPr>
            <p:ph type="ctrTitle"/>
          </p:nvPr>
        </p:nvSpPr>
        <p:spPr>
          <a:xfrm>
            <a:off x="1066800" y="710582"/>
            <a:ext cx="10058400" cy="3566160"/>
          </a:xfrm>
        </p:spPr>
        <p:txBody>
          <a:bodyPr/>
          <a:lstStyle/>
          <a:p>
            <a:r>
              <a:rPr lang="en-US" dirty="0"/>
              <a:t>Portfolio Optimization</a:t>
            </a:r>
          </a:p>
        </p:txBody>
      </p:sp>
      <p:sp>
        <p:nvSpPr>
          <p:cNvPr id="3" name="Slide Number Placeholder 2">
            <a:extLst>
              <a:ext uri="{FF2B5EF4-FFF2-40B4-BE49-F238E27FC236}">
                <a16:creationId xmlns:a16="http://schemas.microsoft.com/office/drawing/2014/main" id="{77BB36AC-D6C3-B69C-7C02-0F845150D5E3}"/>
              </a:ext>
            </a:extLst>
          </p:cNvPr>
          <p:cNvSpPr>
            <a:spLocks noGrp="1"/>
          </p:cNvSpPr>
          <p:nvPr>
            <p:ph type="sldNum" sz="quarter" idx="12"/>
          </p:nvPr>
        </p:nvSpPr>
        <p:spPr/>
        <p:txBody>
          <a:bodyPr/>
          <a:lstStyle/>
          <a:p>
            <a:fld id="{1370230A-709D-4205-8636-A3280FD27E74}" type="slidenum">
              <a:rPr lang="en-US" smtClean="0"/>
              <a:t>1</a:t>
            </a:fld>
            <a:endParaRPr lang="en-US"/>
          </a:p>
        </p:txBody>
      </p:sp>
      <p:sp>
        <p:nvSpPr>
          <p:cNvPr id="4" name="Text Placeholder 3">
            <a:extLst>
              <a:ext uri="{FF2B5EF4-FFF2-40B4-BE49-F238E27FC236}">
                <a16:creationId xmlns:a16="http://schemas.microsoft.com/office/drawing/2014/main" id="{A8463DD1-B19E-F441-7764-8F399EFB4871}"/>
              </a:ext>
            </a:extLst>
          </p:cNvPr>
          <p:cNvSpPr>
            <a:spLocks noGrp="1"/>
          </p:cNvSpPr>
          <p:nvPr>
            <p:ph type="body" sz="quarter" idx="13"/>
          </p:nvPr>
        </p:nvSpPr>
        <p:spPr>
          <a:xfrm>
            <a:off x="1066800" y="4447565"/>
            <a:ext cx="10088563" cy="563562"/>
          </a:xfrm>
        </p:spPr>
        <p:txBody>
          <a:bodyPr/>
          <a:lstStyle/>
          <a:p>
            <a:r>
              <a:rPr lang="en-US" dirty="0"/>
              <a:t>Asset Universe Selection Based on Investor Profiles </a:t>
            </a:r>
          </a:p>
        </p:txBody>
      </p:sp>
      <p:sp>
        <p:nvSpPr>
          <p:cNvPr id="5" name="Footer Placeholder 4">
            <a:extLst>
              <a:ext uri="{FF2B5EF4-FFF2-40B4-BE49-F238E27FC236}">
                <a16:creationId xmlns:a16="http://schemas.microsoft.com/office/drawing/2014/main" id="{54E6A75A-3A33-3009-3FDB-25CDBEAD3027}"/>
              </a:ext>
            </a:extLst>
          </p:cNvPr>
          <p:cNvSpPr>
            <a:spLocks noGrp="1"/>
          </p:cNvSpPr>
          <p:nvPr>
            <p:ph type="ftr" sz="quarter" idx="11"/>
          </p:nvPr>
        </p:nvSpPr>
        <p:spPr/>
        <p:txBody>
          <a:bodyPr/>
          <a:lstStyle/>
          <a:p>
            <a:r>
              <a:rPr lang="en-US" dirty="0"/>
              <a:t>Ali Abuelkheir</a:t>
            </a:r>
          </a:p>
        </p:txBody>
      </p:sp>
    </p:spTree>
    <p:extLst>
      <p:ext uri="{BB962C8B-B14F-4D97-AF65-F5344CB8AC3E}">
        <p14:creationId xmlns:p14="http://schemas.microsoft.com/office/powerpoint/2010/main" val="246338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FD8F-1BD1-BD13-B043-76933748979A}"/>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a16="http://schemas.microsoft.com/office/drawing/2014/main" id="{A936CBA1-95C0-B7DC-8B10-E9E9BD8E2583}"/>
              </a:ext>
            </a:extLst>
          </p:cNvPr>
          <p:cNvSpPr>
            <a:spLocks noGrp="1"/>
          </p:cNvSpPr>
          <p:nvPr>
            <p:ph idx="4294967295"/>
          </p:nvPr>
        </p:nvSpPr>
        <p:spPr>
          <a:xfrm>
            <a:off x="1097280" y="1845734"/>
            <a:ext cx="10058400" cy="4023360"/>
          </a:xfrm>
        </p:spPr>
        <p:txBody>
          <a:bodyPr/>
          <a:lstStyle/>
          <a:p>
            <a:pPr lvl="1">
              <a:lnSpc>
                <a:spcPct val="150000"/>
              </a:lnSpc>
            </a:pPr>
            <a:r>
              <a:rPr lang="en-US" dirty="0">
                <a:latin typeface="+mj-lt"/>
              </a:rPr>
              <a:t> Problem Definition</a:t>
            </a:r>
          </a:p>
          <a:p>
            <a:pPr lvl="1">
              <a:lnSpc>
                <a:spcPct val="150000"/>
              </a:lnSpc>
            </a:pPr>
            <a:r>
              <a:rPr lang="en-US" dirty="0">
                <a:latin typeface="+mj-lt"/>
              </a:rPr>
              <a:t> Literature Gap</a:t>
            </a:r>
          </a:p>
          <a:p>
            <a:pPr lvl="1">
              <a:lnSpc>
                <a:spcPct val="150000"/>
              </a:lnSpc>
            </a:pPr>
            <a:r>
              <a:rPr lang="en-US" dirty="0">
                <a:latin typeface="+mj-lt"/>
              </a:rPr>
              <a:t> Proposed Solution</a:t>
            </a:r>
          </a:p>
          <a:p>
            <a:pPr lvl="1">
              <a:lnSpc>
                <a:spcPct val="150000"/>
              </a:lnSpc>
            </a:pPr>
            <a:r>
              <a:rPr lang="en-US" dirty="0">
                <a:latin typeface="+mj-lt"/>
              </a:rPr>
              <a:t> Methodology &amp; Experiments</a:t>
            </a:r>
          </a:p>
          <a:p>
            <a:pPr lvl="1">
              <a:lnSpc>
                <a:spcPct val="150000"/>
              </a:lnSpc>
            </a:pPr>
            <a:r>
              <a:rPr lang="en-US" dirty="0">
                <a:latin typeface="+mj-lt"/>
              </a:rPr>
              <a:t> Results</a:t>
            </a:r>
          </a:p>
          <a:p>
            <a:pPr lvl="1">
              <a:lnSpc>
                <a:spcPct val="150000"/>
              </a:lnSpc>
            </a:pPr>
            <a:r>
              <a:rPr lang="en-US" dirty="0">
                <a:latin typeface="+mj-lt"/>
              </a:rPr>
              <a:t> Conclusion</a:t>
            </a:r>
          </a:p>
          <a:p>
            <a:pPr lvl="1">
              <a:lnSpc>
                <a:spcPct val="150000"/>
              </a:lnSpc>
            </a:pPr>
            <a:r>
              <a:rPr lang="en-US" dirty="0">
                <a:latin typeface="+mj-lt"/>
              </a:rPr>
              <a:t> Future Work</a:t>
            </a:r>
          </a:p>
        </p:txBody>
      </p:sp>
      <p:sp>
        <p:nvSpPr>
          <p:cNvPr id="4" name="Slide Number Placeholder 3">
            <a:extLst>
              <a:ext uri="{FF2B5EF4-FFF2-40B4-BE49-F238E27FC236}">
                <a16:creationId xmlns:a16="http://schemas.microsoft.com/office/drawing/2014/main" id="{12126643-F429-7389-C306-21666321131B}"/>
              </a:ext>
            </a:extLst>
          </p:cNvPr>
          <p:cNvSpPr>
            <a:spLocks noGrp="1"/>
          </p:cNvSpPr>
          <p:nvPr>
            <p:ph type="sldNum" sz="quarter" idx="12"/>
          </p:nvPr>
        </p:nvSpPr>
        <p:spPr/>
        <p:txBody>
          <a:bodyPr/>
          <a:lstStyle/>
          <a:p>
            <a:fld id="{1370230A-709D-4205-8636-A3280FD27E74}" type="slidenum">
              <a:rPr lang="en-US" smtClean="0"/>
              <a:t>2</a:t>
            </a:fld>
            <a:endParaRPr lang="en-US"/>
          </a:p>
        </p:txBody>
      </p:sp>
      <p:sp>
        <p:nvSpPr>
          <p:cNvPr id="5" name="Rectangle 4">
            <a:extLst>
              <a:ext uri="{FF2B5EF4-FFF2-40B4-BE49-F238E27FC236}">
                <a16:creationId xmlns:a16="http://schemas.microsoft.com/office/drawing/2014/main" id="{4D86D448-2B1B-22BE-7C19-07F89A04F693}"/>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9663580D-781F-D656-801E-2756D72436E3}"/>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26814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7B0704-EDF5-87B7-B348-CA9D2B897378}"/>
              </a:ext>
            </a:extLst>
          </p:cNvPr>
          <p:cNvSpPr/>
          <p:nvPr/>
        </p:nvSpPr>
        <p:spPr>
          <a:xfrm rot="5400000">
            <a:off x="2631179" y="-2634243"/>
            <a:ext cx="6857999" cy="1212648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5" name="Rectangle 4">
            <a:extLst>
              <a:ext uri="{FF2B5EF4-FFF2-40B4-BE49-F238E27FC236}">
                <a16:creationId xmlns:a16="http://schemas.microsoft.com/office/drawing/2014/main" id="{345334D6-F56D-FABF-93CE-03569DCDA486}"/>
              </a:ext>
            </a:extLst>
          </p:cNvPr>
          <p:cNvSpPr/>
          <p:nvPr/>
        </p:nvSpPr>
        <p:spPr>
          <a:xfrm rot="5400000">
            <a:off x="876299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12DF2D1-B6A8-3377-62C4-B2D7860E7A83}"/>
              </a:ext>
            </a:extLst>
          </p:cNvPr>
          <p:cNvSpPr>
            <a:spLocks noGrp="1"/>
          </p:cNvSpPr>
          <p:nvPr>
            <p:ph type="ctrTitle"/>
          </p:nvPr>
        </p:nvSpPr>
        <p:spPr/>
        <p:txBody>
          <a:bodyPr/>
          <a:lstStyle/>
          <a:p>
            <a:r>
              <a:rPr lang="en-US" dirty="0"/>
              <a:t>Problem Definition</a:t>
            </a:r>
          </a:p>
        </p:txBody>
      </p:sp>
      <p:sp>
        <p:nvSpPr>
          <p:cNvPr id="3" name="Slide Number Placeholder 2">
            <a:extLst>
              <a:ext uri="{FF2B5EF4-FFF2-40B4-BE49-F238E27FC236}">
                <a16:creationId xmlns:a16="http://schemas.microsoft.com/office/drawing/2014/main" id="{6BD49974-80E6-FA83-AF21-F92661F4A079}"/>
              </a:ext>
            </a:extLst>
          </p:cNvPr>
          <p:cNvSpPr>
            <a:spLocks noGrp="1"/>
          </p:cNvSpPr>
          <p:nvPr>
            <p:ph type="sldNum" sz="quarter" idx="12"/>
          </p:nvPr>
        </p:nvSpPr>
        <p:spPr/>
        <p:txBody>
          <a:bodyPr/>
          <a:lstStyle/>
          <a:p>
            <a:fld id="{1370230A-709D-4205-8636-A3280FD27E74}" type="slidenum">
              <a:rPr lang="en-US" smtClean="0"/>
              <a:t>3</a:t>
            </a:fld>
            <a:endParaRPr lang="en-US"/>
          </a:p>
        </p:txBody>
      </p:sp>
      <p:cxnSp>
        <p:nvCxnSpPr>
          <p:cNvPr id="6" name="Straight Connector 5">
            <a:extLst>
              <a:ext uri="{FF2B5EF4-FFF2-40B4-BE49-F238E27FC236}">
                <a16:creationId xmlns:a16="http://schemas.microsoft.com/office/drawing/2014/main" id="{B584379A-D6F8-6135-C1E5-F6DEC4EEEE57}"/>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925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5BCB-D930-ABD2-2CFD-38C5F2C3C4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0589A1-80DC-95C9-78FD-AA360F82516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5" name="Rectangle 4">
            <a:extLst>
              <a:ext uri="{FF2B5EF4-FFF2-40B4-BE49-F238E27FC236}">
                <a16:creationId xmlns:a16="http://schemas.microsoft.com/office/drawing/2014/main" id="{9FE629CE-8A37-CF84-0304-7FA565939C4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3440B8D-00A8-F719-D861-840DB2703888}"/>
              </a:ext>
            </a:extLst>
          </p:cNvPr>
          <p:cNvSpPr>
            <a:spLocks noGrp="1"/>
          </p:cNvSpPr>
          <p:nvPr>
            <p:ph type="title"/>
          </p:nvPr>
        </p:nvSpPr>
        <p:spPr/>
        <p:txBody>
          <a:bodyPr/>
          <a:lstStyle/>
          <a:p>
            <a:r>
              <a:rPr lang="en-US" dirty="0"/>
              <a:t>The Fixed-Universe Assumption</a:t>
            </a:r>
          </a:p>
        </p:txBody>
      </p:sp>
      <p:sp>
        <p:nvSpPr>
          <p:cNvPr id="6" name="Content Placeholder 5">
            <a:extLst>
              <a:ext uri="{FF2B5EF4-FFF2-40B4-BE49-F238E27FC236}">
                <a16:creationId xmlns:a16="http://schemas.microsoft.com/office/drawing/2014/main" id="{A8FA6A92-524D-4141-68E6-3FE618038B42}"/>
              </a:ext>
            </a:extLst>
          </p:cNvPr>
          <p:cNvSpPr>
            <a:spLocks noGrp="1"/>
          </p:cNvSpPr>
          <p:nvPr>
            <p:ph idx="4294967295"/>
          </p:nvPr>
        </p:nvSpPr>
        <p:spPr>
          <a:xfrm>
            <a:off x="1097280" y="1845734"/>
            <a:ext cx="10058400" cy="4023360"/>
          </a:xfrm>
        </p:spPr>
        <p:txBody>
          <a:bodyPr anchor="ctr">
            <a:normAutofit/>
          </a:bodyPr>
          <a:lstStyle/>
          <a:p>
            <a:pPr lvl="1">
              <a:lnSpc>
                <a:spcPct val="150000"/>
              </a:lnSpc>
              <a:buFont typeface="Courier New" panose="02070309020205020404" pitchFamily="49" charset="0"/>
              <a:buChar char="o"/>
            </a:pPr>
            <a:r>
              <a:rPr lang="en-US" sz="2000" dirty="0">
                <a:latin typeface="+mj-lt"/>
              </a:rPr>
              <a:t>Optimization often starts after assets are already chosen</a:t>
            </a:r>
          </a:p>
          <a:p>
            <a:pPr lvl="1">
              <a:lnSpc>
                <a:spcPct val="150000"/>
              </a:lnSpc>
              <a:buFont typeface="Courier New" panose="02070309020205020404" pitchFamily="49" charset="0"/>
              <a:buChar char="o"/>
            </a:pPr>
            <a:r>
              <a:rPr lang="en-US" sz="2000" dirty="0">
                <a:latin typeface="+mj-lt"/>
              </a:rPr>
              <a:t> A weak candidate universe limits even a strong optimizer</a:t>
            </a:r>
          </a:p>
          <a:p>
            <a:pPr lvl="1">
              <a:lnSpc>
                <a:spcPct val="150000"/>
              </a:lnSpc>
              <a:buFont typeface="Courier New" panose="02070309020205020404" pitchFamily="49" charset="0"/>
              <a:buChar char="o"/>
            </a:pPr>
            <a:r>
              <a:rPr lang="en-US" sz="2000" dirty="0">
                <a:latin typeface="+mj-lt"/>
              </a:rPr>
              <a:t> This thesis studies selection before allocation</a:t>
            </a:r>
          </a:p>
        </p:txBody>
      </p:sp>
      <p:sp>
        <p:nvSpPr>
          <p:cNvPr id="3" name="Slide Number Placeholder 2">
            <a:extLst>
              <a:ext uri="{FF2B5EF4-FFF2-40B4-BE49-F238E27FC236}">
                <a16:creationId xmlns:a16="http://schemas.microsoft.com/office/drawing/2014/main" id="{5BAB15C4-2E28-D680-39BD-6D38B5B7D566}"/>
              </a:ext>
            </a:extLst>
          </p:cNvPr>
          <p:cNvSpPr>
            <a:spLocks noGrp="1"/>
          </p:cNvSpPr>
          <p:nvPr>
            <p:ph type="sldNum" sz="quarter" idx="12"/>
          </p:nvPr>
        </p:nvSpPr>
        <p:spPr/>
        <p:txBody>
          <a:bodyPr/>
          <a:lstStyle/>
          <a:p>
            <a:fld id="{1370230A-709D-4205-8636-A3280FD27E74}" type="slidenum">
              <a:rPr lang="en-US" smtClean="0"/>
              <a:t>4</a:t>
            </a:fld>
            <a:endParaRPr lang="en-US"/>
          </a:p>
        </p:txBody>
      </p:sp>
    </p:spTree>
    <p:extLst>
      <p:ext uri="{BB962C8B-B14F-4D97-AF65-F5344CB8AC3E}">
        <p14:creationId xmlns:p14="http://schemas.microsoft.com/office/powerpoint/2010/main" val="2916104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2F457-A928-2382-72CD-582C427C1012}"/>
              </a:ext>
            </a:extLst>
          </p:cNvPr>
          <p:cNvSpPr>
            <a:spLocks noGrp="1"/>
          </p:cNvSpPr>
          <p:nvPr>
            <p:ph type="title"/>
          </p:nvPr>
        </p:nvSpPr>
        <p:spPr/>
        <p:txBody>
          <a:bodyPr/>
          <a:lstStyle/>
          <a:p>
            <a:r>
              <a:rPr lang="en-US" dirty="0"/>
              <a:t>Why Universe Selection Matters</a:t>
            </a:r>
            <a:r>
              <a:rPr lang="en-US" dirty="0">
                <a:latin typeface="+mn-lt"/>
              </a:rPr>
              <a:t>?</a:t>
            </a:r>
          </a:p>
        </p:txBody>
      </p:sp>
      <p:sp>
        <p:nvSpPr>
          <p:cNvPr id="3" name="Content Placeholder 2">
            <a:extLst>
              <a:ext uri="{FF2B5EF4-FFF2-40B4-BE49-F238E27FC236}">
                <a16:creationId xmlns:a16="http://schemas.microsoft.com/office/drawing/2014/main" id="{27692A72-F083-7753-2F9E-0EAD7DC3CCDE}"/>
              </a:ext>
            </a:extLst>
          </p:cNvPr>
          <p:cNvSpPr>
            <a:spLocks noGrp="1"/>
          </p:cNvSpPr>
          <p:nvPr>
            <p:ph idx="1"/>
          </p:nvPr>
        </p:nvSpPr>
        <p:spPr/>
        <p:txBody>
          <a:bodyPr anchor="ctr">
            <a:normAutofit/>
          </a:bodyPr>
          <a:lstStyle/>
          <a:p>
            <a:pPr lvl="1">
              <a:lnSpc>
                <a:spcPct val="150000"/>
              </a:lnSpc>
            </a:pPr>
            <a:r>
              <a:rPr lang="en-US" sz="2000" dirty="0">
                <a:latin typeface="+mj-lt"/>
              </a:rPr>
              <a:t> Egyptian investors place strong emphasis on stability</a:t>
            </a:r>
          </a:p>
          <a:p>
            <a:pPr lvl="1"/>
            <a:r>
              <a:rPr lang="en-US" dirty="0"/>
              <a:t> Changing conditions shift asset risk behavior</a:t>
            </a:r>
            <a:endParaRPr lang="en-US" sz="2000" dirty="0">
              <a:latin typeface="+mj-lt"/>
            </a:endParaRPr>
          </a:p>
          <a:p>
            <a:pPr lvl="1"/>
            <a:r>
              <a:rPr lang="en-US" sz="2000" dirty="0">
                <a:latin typeface="+mj-lt"/>
              </a:rPr>
              <a:t> </a:t>
            </a:r>
            <a:r>
              <a:rPr lang="en-US" dirty="0"/>
              <a:t>Different investor profiles require different starting universes</a:t>
            </a:r>
            <a:endParaRPr lang="en-US" sz="2000" dirty="0">
              <a:latin typeface="+mj-lt"/>
            </a:endParaRPr>
          </a:p>
          <a:p>
            <a:pPr lvl="1">
              <a:lnSpc>
                <a:spcPct val="150000"/>
              </a:lnSpc>
            </a:pPr>
            <a:r>
              <a:rPr lang="en-US" dirty="0"/>
              <a:t> Suitability begins with risk-aware asset selection</a:t>
            </a:r>
          </a:p>
        </p:txBody>
      </p:sp>
      <p:sp>
        <p:nvSpPr>
          <p:cNvPr id="4" name="Slide Number Placeholder 3">
            <a:extLst>
              <a:ext uri="{FF2B5EF4-FFF2-40B4-BE49-F238E27FC236}">
                <a16:creationId xmlns:a16="http://schemas.microsoft.com/office/drawing/2014/main" id="{3B11C668-321F-2554-8860-307B464778AD}"/>
              </a:ext>
            </a:extLst>
          </p:cNvPr>
          <p:cNvSpPr>
            <a:spLocks noGrp="1"/>
          </p:cNvSpPr>
          <p:nvPr>
            <p:ph type="sldNum" sz="quarter" idx="12"/>
          </p:nvPr>
        </p:nvSpPr>
        <p:spPr/>
        <p:txBody>
          <a:bodyPr/>
          <a:lstStyle/>
          <a:p>
            <a:fld id="{1370230A-709D-4205-8636-A3280FD27E74}" type="slidenum">
              <a:rPr lang="en-US" smtClean="0"/>
              <a:t>5</a:t>
            </a:fld>
            <a:endParaRPr lang="en-US"/>
          </a:p>
        </p:txBody>
      </p:sp>
    </p:spTree>
    <p:extLst>
      <p:ext uri="{BB962C8B-B14F-4D97-AF65-F5344CB8AC3E}">
        <p14:creationId xmlns:p14="http://schemas.microsoft.com/office/powerpoint/2010/main" val="3967409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5CD4F-1996-FF0F-7194-611C93718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AF12C-0EFA-BA31-2015-B1A179DA8E75}"/>
              </a:ext>
            </a:extLst>
          </p:cNvPr>
          <p:cNvSpPr>
            <a:spLocks noGrp="1"/>
          </p:cNvSpPr>
          <p:nvPr>
            <p:ph type="title"/>
          </p:nvPr>
        </p:nvSpPr>
        <p:spPr/>
        <p:txBody>
          <a:bodyPr/>
          <a:lstStyle/>
          <a:p>
            <a:r>
              <a:rPr lang="en-US" dirty="0"/>
              <a:t>Scope and Asset Universe</a:t>
            </a:r>
          </a:p>
        </p:txBody>
      </p:sp>
      <p:sp>
        <p:nvSpPr>
          <p:cNvPr id="4" name="Slide Number Placeholder 3">
            <a:extLst>
              <a:ext uri="{FF2B5EF4-FFF2-40B4-BE49-F238E27FC236}">
                <a16:creationId xmlns:a16="http://schemas.microsoft.com/office/drawing/2014/main" id="{4E5D3402-92D7-0DF5-7AF4-66F0387CAE4B}"/>
              </a:ext>
            </a:extLst>
          </p:cNvPr>
          <p:cNvSpPr>
            <a:spLocks noGrp="1"/>
          </p:cNvSpPr>
          <p:nvPr>
            <p:ph type="sldNum" sz="quarter" idx="12"/>
          </p:nvPr>
        </p:nvSpPr>
        <p:spPr/>
        <p:txBody>
          <a:bodyPr/>
          <a:lstStyle/>
          <a:p>
            <a:fld id="{1370230A-709D-4205-8636-A3280FD27E74}" type="slidenum">
              <a:rPr lang="en-US" smtClean="0"/>
              <a:t>6</a:t>
            </a:fld>
            <a:endParaRPr lang="en-US"/>
          </a:p>
        </p:txBody>
      </p:sp>
      <p:pic>
        <p:nvPicPr>
          <p:cNvPr id="6" name="Content Placeholder 5" descr="Updated asset-universe diagram">
            <a:extLst>
              <a:ext uri="{FF2B5EF4-FFF2-40B4-BE49-F238E27FC236}">
                <a16:creationId xmlns:a16="http://schemas.microsoft.com/office/drawing/2014/main" id="{FC1C4CDA-6766-5CED-96BB-A924B4DF1D79}"/>
              </a:ext>
            </a:extLst>
          </p:cNvPr>
          <p:cNvPicPr>
            <a:picLocks noGrp="1" noChangeAspect="1"/>
          </p:cNvPicPr>
          <p:nvPr>
            <p:ph idx="1"/>
          </p:nvPr>
        </p:nvPicPr>
        <p:blipFill>
          <a:blip r:embed="rId3"/>
          <a:stretch>
            <a:fillRect/>
          </a:stretch>
        </p:blipFill>
        <p:spPr>
          <a:xfrm>
            <a:off x="1097280" y="2389299"/>
            <a:ext cx="10058400" cy="3064668"/>
          </a:xfrm>
          <a:prstGeom prst="rect">
            <a:avLst/>
          </a:prstGeom>
        </p:spPr>
      </p:pic>
    </p:spTree>
    <p:extLst>
      <p:ext uri="{BB962C8B-B14F-4D97-AF65-F5344CB8AC3E}">
        <p14:creationId xmlns:p14="http://schemas.microsoft.com/office/powerpoint/2010/main" val="1362153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B3883-9656-3241-C90C-4255FE22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86D93-E3D5-9C81-EEFC-59BC15F79965}"/>
              </a:ext>
            </a:extLst>
          </p:cNvPr>
          <p:cNvSpPr>
            <a:spLocks noGrp="1"/>
          </p:cNvSpPr>
          <p:nvPr>
            <p:ph type="title"/>
          </p:nvPr>
        </p:nvSpPr>
        <p:spPr/>
        <p:txBody>
          <a:bodyPr/>
          <a:lstStyle/>
          <a:p>
            <a:r>
              <a:rPr lang="en-US" dirty="0"/>
              <a:t>Research Questions</a:t>
            </a:r>
          </a:p>
        </p:txBody>
      </p:sp>
      <p:sp>
        <p:nvSpPr>
          <p:cNvPr id="4" name="Slide Number Placeholder 3">
            <a:extLst>
              <a:ext uri="{FF2B5EF4-FFF2-40B4-BE49-F238E27FC236}">
                <a16:creationId xmlns:a16="http://schemas.microsoft.com/office/drawing/2014/main" id="{5D930993-A2B0-2C97-4493-93DE16F1DED9}"/>
              </a:ext>
            </a:extLst>
          </p:cNvPr>
          <p:cNvSpPr>
            <a:spLocks noGrp="1"/>
          </p:cNvSpPr>
          <p:nvPr>
            <p:ph type="sldNum" sz="quarter" idx="12"/>
          </p:nvPr>
        </p:nvSpPr>
        <p:spPr/>
        <p:txBody>
          <a:bodyPr/>
          <a:lstStyle/>
          <a:p>
            <a:fld id="{1370230A-709D-4205-8636-A3280FD27E74}" type="slidenum">
              <a:rPr lang="en-US" smtClean="0"/>
              <a:t>7</a:t>
            </a:fld>
            <a:endParaRPr lang="en-US"/>
          </a:p>
        </p:txBody>
      </p:sp>
      <p:sp>
        <p:nvSpPr>
          <p:cNvPr id="3" name="Content Placeholder 2">
            <a:extLst>
              <a:ext uri="{FF2B5EF4-FFF2-40B4-BE49-F238E27FC236}">
                <a16:creationId xmlns:a16="http://schemas.microsoft.com/office/drawing/2014/main" id="{45FFD21A-E082-378B-0D28-F4A4486AF05E}"/>
              </a:ext>
            </a:extLst>
          </p:cNvPr>
          <p:cNvSpPr>
            <a:spLocks noGrp="1"/>
          </p:cNvSpPr>
          <p:nvPr>
            <p:ph idx="13"/>
          </p:nvPr>
        </p:nvSpPr>
        <p:spPr/>
        <p:txBody>
          <a:bodyPr anchor="ctr">
            <a:normAutofit/>
          </a:bodyPr>
          <a:lstStyle/>
          <a:p>
            <a:pPr lvl="1">
              <a:buFont typeface="Courier New" panose="02070309020205020404" pitchFamily="49" charset="0"/>
              <a:buChar char="o"/>
            </a:pPr>
            <a:r>
              <a:rPr lang="en-US" b="1" dirty="0"/>
              <a:t> RQ1</a:t>
            </a:r>
            <a:r>
              <a:rPr lang="en-US" dirty="0"/>
              <a:t>: Can AI/ML support dynamic risk-based universe selection?</a:t>
            </a:r>
          </a:p>
          <a:p>
            <a:pPr lvl="1">
              <a:buFont typeface="Courier New" panose="02070309020205020404" pitchFamily="49" charset="0"/>
              <a:buChar char="o"/>
            </a:pPr>
            <a:r>
              <a:rPr lang="en-US" b="1" dirty="0"/>
              <a:t> RQ2</a:t>
            </a:r>
            <a:r>
              <a:rPr lang="en-US" dirty="0"/>
              <a:t>: Do selected universes align with investor profiles?</a:t>
            </a:r>
          </a:p>
          <a:p>
            <a:pPr lvl="1">
              <a:buFont typeface="Courier New" panose="02070309020205020404" pitchFamily="49" charset="0"/>
              <a:buChar char="o"/>
            </a:pPr>
            <a:r>
              <a:rPr lang="en-US" b="1" dirty="0"/>
              <a:t> RQ3</a:t>
            </a:r>
            <a:r>
              <a:rPr lang="en-US" dirty="0"/>
              <a:t>: How do selected universes compare with the full active universe?</a:t>
            </a:r>
          </a:p>
        </p:txBody>
      </p:sp>
      <p:sp>
        <p:nvSpPr>
          <p:cNvPr id="5" name="Rectangle 4">
            <a:extLst>
              <a:ext uri="{FF2B5EF4-FFF2-40B4-BE49-F238E27FC236}">
                <a16:creationId xmlns:a16="http://schemas.microsoft.com/office/drawing/2014/main" id="{AEFE07C0-6327-C5FE-353A-522CA90BF5E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38BEA077-134C-6EC6-488A-8316DC074C2F}"/>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4710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54F69F-F97A-2829-AF74-987C51A0A76A}"/>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75B43A34-3349-ACC5-202D-A40750936693}"/>
              </a:ext>
            </a:extLst>
          </p:cNvPr>
          <p:cNvSpPr>
            <a:spLocks noGrp="1"/>
          </p:cNvSpPr>
          <p:nvPr>
            <p:ph type="ctrTitle"/>
          </p:nvPr>
        </p:nvSpPr>
        <p:spPr/>
        <p:txBody>
          <a:bodyPr/>
          <a:lstStyle/>
          <a:p>
            <a:r>
              <a:rPr lang="en-US" dirty="0"/>
              <a:t>Literature Review</a:t>
            </a:r>
          </a:p>
        </p:txBody>
      </p:sp>
      <p:sp>
        <p:nvSpPr>
          <p:cNvPr id="3" name="Slide Number Placeholder 2">
            <a:extLst>
              <a:ext uri="{FF2B5EF4-FFF2-40B4-BE49-F238E27FC236}">
                <a16:creationId xmlns:a16="http://schemas.microsoft.com/office/drawing/2014/main" id="{5D815661-D2F5-125C-D9BE-EC63A8CDED55}"/>
              </a:ext>
            </a:extLst>
          </p:cNvPr>
          <p:cNvSpPr>
            <a:spLocks noGrp="1"/>
          </p:cNvSpPr>
          <p:nvPr>
            <p:ph type="sldNum" sz="quarter" idx="12"/>
          </p:nvPr>
        </p:nvSpPr>
        <p:spPr/>
        <p:txBody>
          <a:bodyPr/>
          <a:lstStyle/>
          <a:p>
            <a:fld id="{1370230A-709D-4205-8636-A3280FD27E74}" type="slidenum">
              <a:rPr lang="en-US" smtClean="0"/>
              <a:t>8</a:t>
            </a:fld>
            <a:endParaRPr lang="en-US"/>
          </a:p>
        </p:txBody>
      </p:sp>
      <p:sp>
        <p:nvSpPr>
          <p:cNvPr id="5" name="Rectangle 4">
            <a:extLst>
              <a:ext uri="{FF2B5EF4-FFF2-40B4-BE49-F238E27FC236}">
                <a16:creationId xmlns:a16="http://schemas.microsoft.com/office/drawing/2014/main" id="{F494C1F5-6131-A97E-8363-6CA413EFE2F5}"/>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982D07AB-D23E-B07C-062C-93AEF9272A3D}"/>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394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E516C-3BB3-AC1E-8BE4-7C6193061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763BA-A15E-4DEA-9656-F507EE236D0E}"/>
              </a:ext>
            </a:extLst>
          </p:cNvPr>
          <p:cNvSpPr>
            <a:spLocks noGrp="1"/>
          </p:cNvSpPr>
          <p:nvPr>
            <p:ph type="title"/>
          </p:nvPr>
        </p:nvSpPr>
        <p:spPr/>
        <p:txBody>
          <a:bodyPr/>
          <a:lstStyle/>
          <a:p>
            <a:r>
              <a:rPr lang="en-US" dirty="0"/>
              <a:t>Classical Allocation Context</a:t>
            </a:r>
          </a:p>
        </p:txBody>
      </p:sp>
      <p:sp>
        <p:nvSpPr>
          <p:cNvPr id="3" name="Slide Number Placeholder 2">
            <a:extLst>
              <a:ext uri="{FF2B5EF4-FFF2-40B4-BE49-F238E27FC236}">
                <a16:creationId xmlns:a16="http://schemas.microsoft.com/office/drawing/2014/main" id="{E26EC045-3BF2-5297-FA07-ED645E0F51B5}"/>
              </a:ext>
            </a:extLst>
          </p:cNvPr>
          <p:cNvSpPr>
            <a:spLocks noGrp="1"/>
          </p:cNvSpPr>
          <p:nvPr>
            <p:ph type="sldNum" sz="quarter" idx="12"/>
          </p:nvPr>
        </p:nvSpPr>
        <p:spPr/>
        <p:txBody>
          <a:bodyPr/>
          <a:lstStyle/>
          <a:p>
            <a:fld id="{1370230A-709D-4205-8636-A3280FD27E74}" type="slidenum">
              <a:rPr lang="en-US" smtClean="0"/>
              <a:t>9</a:t>
            </a:fld>
            <a:endParaRPr lang="en-US"/>
          </a:p>
        </p:txBody>
      </p:sp>
      <p:sp>
        <p:nvSpPr>
          <p:cNvPr id="8" name="Content Placeholder 7">
            <a:extLst>
              <a:ext uri="{FF2B5EF4-FFF2-40B4-BE49-F238E27FC236}">
                <a16:creationId xmlns:a16="http://schemas.microsoft.com/office/drawing/2014/main" id="{79D9BA0D-D97F-BBEE-4689-3975D8D4C360}"/>
              </a:ext>
            </a:extLst>
          </p:cNvPr>
          <p:cNvSpPr>
            <a:spLocks noGrp="1"/>
          </p:cNvSpPr>
          <p:nvPr>
            <p:ph idx="13"/>
          </p:nvPr>
        </p:nvSpPr>
        <p:spPr/>
        <p:txBody>
          <a:bodyPr/>
          <a:lstStyle/>
          <a:p>
            <a:pPr lvl="1">
              <a:buFont typeface="Courier New" panose="02070309020205020404" pitchFamily="49" charset="0"/>
              <a:buChar char="o"/>
            </a:pPr>
            <a:r>
              <a:rPr lang="en-US" dirty="0"/>
              <a:t> Classical methods focus on return-risk weight allocation</a:t>
            </a:r>
          </a:p>
          <a:p>
            <a:pPr lvl="1">
              <a:buFont typeface="Courier New" panose="02070309020205020404" pitchFamily="49" charset="0"/>
              <a:buChar char="o"/>
            </a:pPr>
            <a:r>
              <a:rPr lang="en-US" dirty="0"/>
              <a:t> Markowitz (1952) and MVO assumes the investable universe is already defined</a:t>
            </a:r>
          </a:p>
          <a:p>
            <a:pPr lvl="1">
              <a:buFont typeface="Courier New" panose="02070309020205020404" pitchFamily="49" charset="0"/>
              <a:buChar char="o"/>
            </a:pPr>
            <a:r>
              <a:rPr lang="en-US" dirty="0"/>
              <a:t> This thesis focuses on the step before weighting</a:t>
            </a:r>
          </a:p>
          <a:p>
            <a:pPr lvl="1">
              <a:buFont typeface="Courier New" panose="02070309020205020404" pitchFamily="49" charset="0"/>
              <a:buChar char="o"/>
            </a:pPr>
            <a:endParaRPr lang="en-US" dirty="0"/>
          </a:p>
        </p:txBody>
      </p:sp>
      <p:sp>
        <p:nvSpPr>
          <p:cNvPr id="6" name="Rectangle 5">
            <a:extLst>
              <a:ext uri="{FF2B5EF4-FFF2-40B4-BE49-F238E27FC236}">
                <a16:creationId xmlns:a16="http://schemas.microsoft.com/office/drawing/2014/main" id="{89A801C3-6C71-EB14-9583-5AD61626CECA}"/>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A89310F-AF02-6ADA-4616-87E89580775C}"/>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64314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C8336-BDB2-B0C4-7663-AB35E35E6655}"/>
              </a:ext>
            </a:extLst>
          </p:cNvPr>
          <p:cNvSpPr>
            <a:spLocks noGrp="1"/>
          </p:cNvSpPr>
          <p:nvPr>
            <p:ph type="title"/>
          </p:nvPr>
        </p:nvSpPr>
        <p:spPr/>
        <p:txBody>
          <a:bodyPr/>
          <a:lstStyle/>
          <a:p>
            <a:r>
              <a:rPr lang="en-US" dirty="0"/>
              <a:t>AI/ML Preselection Context</a:t>
            </a:r>
          </a:p>
        </p:txBody>
      </p:sp>
      <p:sp>
        <p:nvSpPr>
          <p:cNvPr id="3" name="Content Placeholder 2">
            <a:extLst>
              <a:ext uri="{FF2B5EF4-FFF2-40B4-BE49-F238E27FC236}">
                <a16:creationId xmlns:a16="http://schemas.microsoft.com/office/drawing/2014/main" id="{7BF4D2E2-486D-010D-501E-3AF6A986E33D}"/>
              </a:ext>
            </a:extLst>
          </p:cNvPr>
          <p:cNvSpPr>
            <a:spLocks noGrp="1"/>
          </p:cNvSpPr>
          <p:nvPr>
            <p:ph idx="1"/>
          </p:nvPr>
        </p:nvSpPr>
        <p:spPr/>
        <p:txBody>
          <a:bodyPr/>
          <a:lstStyle/>
          <a:p>
            <a:pPr lvl="1"/>
            <a:r>
              <a:rPr lang="en-US" dirty="0"/>
              <a:t> Existing work filters assets before optimization</a:t>
            </a:r>
          </a:p>
          <a:p>
            <a:pPr lvl="1"/>
            <a:r>
              <a:rPr lang="en-US" dirty="0"/>
              <a:t> Common signals include expected price, expected return, or profitability</a:t>
            </a:r>
          </a:p>
          <a:p>
            <a:pPr lvl="1"/>
            <a:r>
              <a:rPr lang="en-US" dirty="0"/>
              <a:t> Risk metrics usually appear later in weight optimization and evaluation</a:t>
            </a:r>
          </a:p>
        </p:txBody>
      </p:sp>
      <p:sp>
        <p:nvSpPr>
          <p:cNvPr id="4" name="Slide Number Placeholder 3">
            <a:extLst>
              <a:ext uri="{FF2B5EF4-FFF2-40B4-BE49-F238E27FC236}">
                <a16:creationId xmlns:a16="http://schemas.microsoft.com/office/drawing/2014/main" id="{5D49EE0B-590A-B9C2-55A3-AEA481472625}"/>
              </a:ext>
            </a:extLst>
          </p:cNvPr>
          <p:cNvSpPr>
            <a:spLocks noGrp="1"/>
          </p:cNvSpPr>
          <p:nvPr>
            <p:ph type="sldNum" sz="quarter" idx="12"/>
          </p:nvPr>
        </p:nvSpPr>
        <p:spPr/>
        <p:txBody>
          <a:bodyPr/>
          <a:lstStyle/>
          <a:p>
            <a:fld id="{1370230A-709D-4205-8636-A3280FD27E74}" type="slidenum">
              <a:rPr lang="en-US" smtClean="0"/>
              <a:t>10</a:t>
            </a:fld>
            <a:endParaRPr lang="en-US"/>
          </a:p>
        </p:txBody>
      </p:sp>
    </p:spTree>
    <p:extLst>
      <p:ext uri="{BB962C8B-B14F-4D97-AF65-F5344CB8AC3E}">
        <p14:creationId xmlns:p14="http://schemas.microsoft.com/office/powerpoint/2010/main" val="472411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0CB3E-AC88-25D4-4775-046A276DB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CB7D6-5512-3F31-D658-A4663E0F21EF}"/>
              </a:ext>
            </a:extLst>
          </p:cNvPr>
          <p:cNvSpPr>
            <a:spLocks noGrp="1"/>
          </p:cNvSpPr>
          <p:nvPr>
            <p:ph type="title"/>
          </p:nvPr>
        </p:nvSpPr>
        <p:spPr/>
        <p:txBody>
          <a:bodyPr/>
          <a:lstStyle/>
          <a:p>
            <a:r>
              <a:rPr lang="en-US" dirty="0"/>
              <a:t>DEA Preselection Paper</a:t>
            </a:r>
          </a:p>
        </p:txBody>
      </p:sp>
      <p:sp>
        <p:nvSpPr>
          <p:cNvPr id="3" name="Content Placeholder 2">
            <a:extLst>
              <a:ext uri="{FF2B5EF4-FFF2-40B4-BE49-F238E27FC236}">
                <a16:creationId xmlns:a16="http://schemas.microsoft.com/office/drawing/2014/main" id="{EF43604E-AF5A-5770-751A-A99315C50084}"/>
              </a:ext>
            </a:extLst>
          </p:cNvPr>
          <p:cNvSpPr>
            <a:spLocks noGrp="1"/>
          </p:cNvSpPr>
          <p:nvPr>
            <p:ph idx="1"/>
          </p:nvPr>
        </p:nvSpPr>
        <p:spPr/>
        <p:txBody>
          <a:bodyPr/>
          <a:lstStyle/>
          <a:p>
            <a:pPr lvl="1"/>
            <a:r>
              <a:rPr lang="en-US" dirty="0"/>
              <a:t> Atta Mills and </a:t>
            </a:r>
            <a:r>
              <a:rPr lang="en-US" dirty="0" err="1"/>
              <a:t>Anyomi</a:t>
            </a:r>
            <a:r>
              <a:rPr lang="en-US" dirty="0"/>
              <a:t> (2022) use DEA to screen assets before allocation</a:t>
            </a:r>
          </a:p>
          <a:p>
            <a:pPr lvl="1"/>
            <a:r>
              <a:rPr lang="en-US" dirty="0"/>
              <a:t> Standard deviation appears as one of the key input</a:t>
            </a:r>
          </a:p>
          <a:p>
            <a:pPr lvl="1"/>
            <a:r>
              <a:rPr lang="en-US" dirty="0"/>
              <a:t> The method mainly filters by efficiency using a statistical DEA approach rather than AI-based ranking</a:t>
            </a:r>
          </a:p>
        </p:txBody>
      </p:sp>
      <p:sp>
        <p:nvSpPr>
          <p:cNvPr id="4" name="Slide Number Placeholder 3">
            <a:extLst>
              <a:ext uri="{FF2B5EF4-FFF2-40B4-BE49-F238E27FC236}">
                <a16:creationId xmlns:a16="http://schemas.microsoft.com/office/drawing/2014/main" id="{D395395E-7FBC-88A7-D3C8-B9118C922AC2}"/>
              </a:ext>
            </a:extLst>
          </p:cNvPr>
          <p:cNvSpPr>
            <a:spLocks noGrp="1"/>
          </p:cNvSpPr>
          <p:nvPr>
            <p:ph type="sldNum" sz="quarter" idx="12"/>
          </p:nvPr>
        </p:nvSpPr>
        <p:spPr/>
        <p:txBody>
          <a:bodyPr/>
          <a:lstStyle/>
          <a:p>
            <a:fld id="{1370230A-709D-4205-8636-A3280FD27E74}" type="slidenum">
              <a:rPr lang="en-US" smtClean="0"/>
              <a:t>11</a:t>
            </a:fld>
            <a:endParaRPr lang="en-US"/>
          </a:p>
        </p:txBody>
      </p:sp>
    </p:spTree>
    <p:extLst>
      <p:ext uri="{BB962C8B-B14F-4D97-AF65-F5344CB8AC3E}">
        <p14:creationId xmlns:p14="http://schemas.microsoft.com/office/powerpoint/2010/main" val="56944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CADA-C7BE-C347-792B-FA8FC8E77EF0}"/>
              </a:ext>
            </a:extLst>
          </p:cNvPr>
          <p:cNvSpPr>
            <a:spLocks noGrp="1"/>
          </p:cNvSpPr>
          <p:nvPr>
            <p:ph type="title"/>
          </p:nvPr>
        </p:nvSpPr>
        <p:spPr/>
        <p:txBody>
          <a:bodyPr/>
          <a:lstStyle/>
          <a:p>
            <a:r>
              <a:rPr lang="en-US" dirty="0"/>
              <a:t>RL And Investor Personalization</a:t>
            </a:r>
          </a:p>
        </p:txBody>
      </p:sp>
      <p:sp>
        <p:nvSpPr>
          <p:cNvPr id="3" name="Slide Number Placeholder 2">
            <a:extLst>
              <a:ext uri="{FF2B5EF4-FFF2-40B4-BE49-F238E27FC236}">
                <a16:creationId xmlns:a16="http://schemas.microsoft.com/office/drawing/2014/main" id="{F4E00637-454E-43AB-3D2C-F538588F7E71}"/>
              </a:ext>
            </a:extLst>
          </p:cNvPr>
          <p:cNvSpPr>
            <a:spLocks noGrp="1"/>
          </p:cNvSpPr>
          <p:nvPr>
            <p:ph type="sldNum" sz="quarter" idx="12"/>
          </p:nvPr>
        </p:nvSpPr>
        <p:spPr/>
        <p:txBody>
          <a:bodyPr/>
          <a:lstStyle/>
          <a:p>
            <a:fld id="{1370230A-709D-4205-8636-A3280FD27E74}" type="slidenum">
              <a:rPr lang="en-US" smtClean="0"/>
              <a:t>12</a:t>
            </a:fld>
            <a:endParaRPr lang="en-US"/>
          </a:p>
        </p:txBody>
      </p:sp>
      <p:sp>
        <p:nvSpPr>
          <p:cNvPr id="4" name="Content Placeholder 3">
            <a:extLst>
              <a:ext uri="{FF2B5EF4-FFF2-40B4-BE49-F238E27FC236}">
                <a16:creationId xmlns:a16="http://schemas.microsoft.com/office/drawing/2014/main" id="{57E95010-BDBB-5A1E-6A5D-B2959DC3ECED}"/>
              </a:ext>
            </a:extLst>
          </p:cNvPr>
          <p:cNvSpPr>
            <a:spLocks noGrp="1"/>
          </p:cNvSpPr>
          <p:nvPr>
            <p:ph idx="13"/>
          </p:nvPr>
        </p:nvSpPr>
        <p:spPr/>
        <p:txBody>
          <a:bodyPr/>
          <a:lstStyle/>
          <a:p>
            <a:pPr lvl="1"/>
            <a:r>
              <a:rPr lang="en-US" dirty="0"/>
              <a:t>Reinforcement Learning in finance work often targets trading or weight allocation</a:t>
            </a:r>
          </a:p>
          <a:p>
            <a:pPr lvl="1"/>
            <a:r>
              <a:rPr lang="en-US" dirty="0"/>
              <a:t>Personalization often maps profiles to advice, products, or final portfolios</a:t>
            </a:r>
          </a:p>
          <a:p>
            <a:pPr lvl="1"/>
            <a:r>
              <a:rPr lang="en-US" dirty="0"/>
              <a:t>This thesis ranks asset risk first, then builds profile-specific universes</a:t>
            </a:r>
          </a:p>
        </p:txBody>
      </p:sp>
      <p:sp>
        <p:nvSpPr>
          <p:cNvPr id="5" name="Rectangle 4">
            <a:extLst>
              <a:ext uri="{FF2B5EF4-FFF2-40B4-BE49-F238E27FC236}">
                <a16:creationId xmlns:a16="http://schemas.microsoft.com/office/drawing/2014/main" id="{4B873A8D-19FE-9310-58DF-959FD4B4DED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60C1C680-D2BD-561B-E389-54579D8FB378}"/>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19502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F90C-A951-0691-FBC2-E98A7C63810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5B7FD1-EB2B-8D64-C8D9-4C33EE02563E}"/>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4F75935B-5A05-6E2C-81F5-EBDC6B4828B7}"/>
              </a:ext>
            </a:extLst>
          </p:cNvPr>
          <p:cNvSpPr>
            <a:spLocks noGrp="1"/>
          </p:cNvSpPr>
          <p:nvPr>
            <p:ph type="ctrTitle"/>
          </p:nvPr>
        </p:nvSpPr>
        <p:spPr/>
        <p:txBody>
          <a:bodyPr/>
          <a:lstStyle/>
          <a:p>
            <a:r>
              <a:rPr lang="en-US" dirty="0"/>
              <a:t>Proposed Solution</a:t>
            </a:r>
          </a:p>
        </p:txBody>
      </p:sp>
      <p:sp>
        <p:nvSpPr>
          <p:cNvPr id="3" name="Slide Number Placeholder 2">
            <a:extLst>
              <a:ext uri="{FF2B5EF4-FFF2-40B4-BE49-F238E27FC236}">
                <a16:creationId xmlns:a16="http://schemas.microsoft.com/office/drawing/2014/main" id="{4B443588-3C3A-36FB-62C0-863FB15DE906}"/>
              </a:ext>
            </a:extLst>
          </p:cNvPr>
          <p:cNvSpPr>
            <a:spLocks noGrp="1"/>
          </p:cNvSpPr>
          <p:nvPr>
            <p:ph type="sldNum" sz="quarter" idx="12"/>
          </p:nvPr>
        </p:nvSpPr>
        <p:spPr/>
        <p:txBody>
          <a:bodyPr/>
          <a:lstStyle/>
          <a:p>
            <a:fld id="{1370230A-709D-4205-8636-A3280FD27E74}" type="slidenum">
              <a:rPr lang="en-US" smtClean="0"/>
              <a:t>13</a:t>
            </a:fld>
            <a:endParaRPr lang="en-US"/>
          </a:p>
        </p:txBody>
      </p:sp>
      <p:sp>
        <p:nvSpPr>
          <p:cNvPr id="5" name="Rectangle 4">
            <a:extLst>
              <a:ext uri="{FF2B5EF4-FFF2-40B4-BE49-F238E27FC236}">
                <a16:creationId xmlns:a16="http://schemas.microsoft.com/office/drawing/2014/main" id="{4DA1AA05-F6D4-254E-AF00-42AB7C4A5F2D}"/>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8F54DC39-4C74-DC05-D3CF-9C4871172EB4}"/>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533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158C-E302-2546-108C-ECD174D29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F1C54-C46A-1D25-8FBA-0CF306884A3A}"/>
              </a:ext>
            </a:extLst>
          </p:cNvPr>
          <p:cNvSpPr>
            <a:spLocks noGrp="1"/>
          </p:cNvSpPr>
          <p:nvPr>
            <p:ph type="title"/>
          </p:nvPr>
        </p:nvSpPr>
        <p:spPr/>
        <p:txBody>
          <a:bodyPr/>
          <a:lstStyle/>
          <a:p>
            <a:r>
              <a:rPr lang="en-US" dirty="0"/>
              <a:t>Contribution In One View</a:t>
            </a:r>
          </a:p>
        </p:txBody>
      </p:sp>
      <p:sp>
        <p:nvSpPr>
          <p:cNvPr id="3" name="Slide Number Placeholder 2">
            <a:extLst>
              <a:ext uri="{FF2B5EF4-FFF2-40B4-BE49-F238E27FC236}">
                <a16:creationId xmlns:a16="http://schemas.microsoft.com/office/drawing/2014/main" id="{586E01E8-02AE-088E-9382-19111A0CF9B9}"/>
              </a:ext>
            </a:extLst>
          </p:cNvPr>
          <p:cNvSpPr>
            <a:spLocks noGrp="1"/>
          </p:cNvSpPr>
          <p:nvPr>
            <p:ph type="sldNum" sz="quarter" idx="12"/>
          </p:nvPr>
        </p:nvSpPr>
        <p:spPr/>
        <p:txBody>
          <a:bodyPr/>
          <a:lstStyle/>
          <a:p>
            <a:fld id="{1370230A-709D-4205-8636-A3280FD27E74}" type="slidenum">
              <a:rPr lang="en-US" smtClean="0"/>
              <a:t>14</a:t>
            </a:fld>
            <a:endParaRPr lang="en-US"/>
          </a:p>
        </p:txBody>
      </p:sp>
      <p:pic>
        <p:nvPicPr>
          <p:cNvPr id="4" name="Content Placeholder 3" descr="Image">
            <a:extLst>
              <a:ext uri="{FF2B5EF4-FFF2-40B4-BE49-F238E27FC236}">
                <a16:creationId xmlns:a16="http://schemas.microsoft.com/office/drawing/2014/main" id="{DE7C9F67-0133-34F5-B093-CCDB07F30FB7}"/>
              </a:ext>
            </a:extLst>
          </p:cNvPr>
          <p:cNvPicPr>
            <a:picLocks noGrp="1" noChangeAspect="1"/>
          </p:cNvPicPr>
          <p:nvPr>
            <p:ph idx="13"/>
          </p:nvPr>
        </p:nvPicPr>
        <p:blipFill>
          <a:blip r:embed="rId3"/>
          <a:stretch>
            <a:fillRect/>
          </a:stretch>
        </p:blipFill>
        <p:spPr>
          <a:xfrm>
            <a:off x="1327077" y="2857180"/>
            <a:ext cx="9598172" cy="2118364"/>
          </a:xfrm>
          <a:prstGeom prst="rect">
            <a:avLst/>
          </a:prstGeom>
        </p:spPr>
      </p:pic>
      <p:sp>
        <p:nvSpPr>
          <p:cNvPr id="6" name="Rectangle 5">
            <a:extLst>
              <a:ext uri="{FF2B5EF4-FFF2-40B4-BE49-F238E27FC236}">
                <a16:creationId xmlns:a16="http://schemas.microsoft.com/office/drawing/2014/main" id="{BA157206-8884-D3E3-13BD-3402FCFA8666}"/>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B0497631-6588-2597-5A30-1FF293CA3CCB}"/>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990504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7FB5-43BC-A0EC-91E5-18D423687177}"/>
              </a:ext>
            </a:extLst>
          </p:cNvPr>
          <p:cNvSpPr>
            <a:spLocks noGrp="1"/>
          </p:cNvSpPr>
          <p:nvPr>
            <p:ph type="title"/>
          </p:nvPr>
        </p:nvSpPr>
        <p:spPr/>
        <p:txBody>
          <a:bodyPr/>
          <a:lstStyle/>
          <a:p>
            <a:r>
              <a:rPr lang="en-US" dirty="0"/>
              <a:t>What does the Model Predict </a:t>
            </a:r>
            <a:r>
              <a:rPr lang="en-US" dirty="0">
                <a:latin typeface="+mn-lt"/>
              </a:rPr>
              <a:t>?</a:t>
            </a:r>
          </a:p>
        </p:txBody>
      </p:sp>
      <p:sp>
        <p:nvSpPr>
          <p:cNvPr id="4" name="Slide Number Placeholder 3">
            <a:extLst>
              <a:ext uri="{FF2B5EF4-FFF2-40B4-BE49-F238E27FC236}">
                <a16:creationId xmlns:a16="http://schemas.microsoft.com/office/drawing/2014/main" id="{A6B5B047-46B8-E252-0507-4015BF907D3D}"/>
              </a:ext>
            </a:extLst>
          </p:cNvPr>
          <p:cNvSpPr>
            <a:spLocks noGrp="1"/>
          </p:cNvSpPr>
          <p:nvPr>
            <p:ph type="sldNum" sz="quarter" idx="12"/>
          </p:nvPr>
        </p:nvSpPr>
        <p:spPr/>
        <p:txBody>
          <a:bodyPr/>
          <a:lstStyle/>
          <a:p>
            <a:fld id="{1370230A-709D-4205-8636-A3280FD27E74}" type="slidenum">
              <a:rPr lang="en-US" smtClean="0"/>
              <a:t>15</a:t>
            </a:fld>
            <a:endParaRPr lang="en-US"/>
          </a:p>
        </p:txBody>
      </p:sp>
      <p:sp>
        <p:nvSpPr>
          <p:cNvPr id="3" name="Content Placeholder 2">
            <a:extLst>
              <a:ext uri="{FF2B5EF4-FFF2-40B4-BE49-F238E27FC236}">
                <a16:creationId xmlns:a16="http://schemas.microsoft.com/office/drawing/2014/main" id="{4E5FBEEC-A4C9-85AE-5D9C-522AC4430B09}"/>
              </a:ext>
            </a:extLst>
          </p:cNvPr>
          <p:cNvSpPr>
            <a:spLocks noGrp="1"/>
          </p:cNvSpPr>
          <p:nvPr>
            <p:ph idx="13"/>
          </p:nvPr>
        </p:nvSpPr>
        <p:spPr/>
        <p:txBody>
          <a:bodyPr/>
          <a:lstStyle/>
          <a:p>
            <a:pPr lvl="1"/>
            <a:r>
              <a:rPr lang="en-US" dirty="0"/>
              <a:t> One predicted risk score per active asset</a:t>
            </a:r>
          </a:p>
          <a:p>
            <a:pPr lvl="1"/>
            <a:r>
              <a:rPr lang="en-US" dirty="0"/>
              <a:t> Assets sorted from lower predicted risk to higher predicted risk</a:t>
            </a:r>
          </a:p>
          <a:p>
            <a:pPr lvl="1"/>
            <a:r>
              <a:rPr lang="en-US" dirty="0"/>
              <a:t> Ranking quality matters more than exact score values</a:t>
            </a:r>
          </a:p>
        </p:txBody>
      </p:sp>
      <p:sp>
        <p:nvSpPr>
          <p:cNvPr id="5" name="Rectangle 4">
            <a:extLst>
              <a:ext uri="{FF2B5EF4-FFF2-40B4-BE49-F238E27FC236}">
                <a16:creationId xmlns:a16="http://schemas.microsoft.com/office/drawing/2014/main" id="{23C71542-9A5B-6936-462D-38EF578F13F1}"/>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98913A2B-7C6B-F5B2-7887-2FF0492CC3AB}"/>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1366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129F5-67B0-28FB-C50A-1989D5E838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7487D0-A168-ED44-67B1-3992D9BCBCCD}"/>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B8F922A3-87C4-3077-4011-76641AC1D90A}"/>
              </a:ext>
            </a:extLst>
          </p:cNvPr>
          <p:cNvSpPr>
            <a:spLocks noGrp="1"/>
          </p:cNvSpPr>
          <p:nvPr>
            <p:ph type="ctrTitle"/>
          </p:nvPr>
        </p:nvSpPr>
        <p:spPr/>
        <p:txBody>
          <a:bodyPr/>
          <a:lstStyle/>
          <a:p>
            <a:r>
              <a:rPr lang="en-US" dirty="0"/>
              <a:t>Methodology</a:t>
            </a:r>
          </a:p>
        </p:txBody>
      </p:sp>
      <p:sp>
        <p:nvSpPr>
          <p:cNvPr id="3" name="Slide Number Placeholder 2">
            <a:extLst>
              <a:ext uri="{FF2B5EF4-FFF2-40B4-BE49-F238E27FC236}">
                <a16:creationId xmlns:a16="http://schemas.microsoft.com/office/drawing/2014/main" id="{40D1FE97-CC60-5DF2-9F41-2725943CF39C}"/>
              </a:ext>
            </a:extLst>
          </p:cNvPr>
          <p:cNvSpPr>
            <a:spLocks noGrp="1"/>
          </p:cNvSpPr>
          <p:nvPr>
            <p:ph type="sldNum" sz="quarter" idx="12"/>
          </p:nvPr>
        </p:nvSpPr>
        <p:spPr/>
        <p:txBody>
          <a:bodyPr/>
          <a:lstStyle/>
          <a:p>
            <a:fld id="{1370230A-709D-4205-8636-A3280FD27E74}" type="slidenum">
              <a:rPr lang="en-US" smtClean="0"/>
              <a:t>16</a:t>
            </a:fld>
            <a:endParaRPr lang="en-US"/>
          </a:p>
        </p:txBody>
      </p:sp>
      <p:sp>
        <p:nvSpPr>
          <p:cNvPr id="5" name="Rectangle 4">
            <a:extLst>
              <a:ext uri="{FF2B5EF4-FFF2-40B4-BE49-F238E27FC236}">
                <a16:creationId xmlns:a16="http://schemas.microsoft.com/office/drawing/2014/main" id="{BFF943A8-A6F2-FAE8-2520-5649E1143CCB}"/>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B72C199F-06C8-7187-29D7-C10A04AE94E4}"/>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9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2B9F-568D-4108-A795-4B51DEE9E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C1187-4436-4698-AA1D-93E64229AA0F}"/>
              </a:ext>
            </a:extLst>
          </p:cNvPr>
          <p:cNvSpPr>
            <a:spLocks noGrp="1"/>
          </p:cNvSpPr>
          <p:nvPr>
            <p:ph type="title"/>
          </p:nvPr>
        </p:nvSpPr>
        <p:spPr/>
        <p:txBody>
          <a:bodyPr/>
          <a:lstStyle/>
          <a:p>
            <a:r>
              <a:rPr lang="en-US" dirty="0"/>
              <a:t>Raw Data Engineering</a:t>
            </a:r>
            <a:endParaRPr lang="en-US" dirty="0">
              <a:latin typeface="+mn-lt"/>
            </a:endParaRPr>
          </a:p>
        </p:txBody>
      </p:sp>
      <p:sp>
        <p:nvSpPr>
          <p:cNvPr id="4" name="Slide Number Placeholder 3">
            <a:extLst>
              <a:ext uri="{FF2B5EF4-FFF2-40B4-BE49-F238E27FC236}">
                <a16:creationId xmlns:a16="http://schemas.microsoft.com/office/drawing/2014/main" id="{57C2DA1D-4A1A-613C-6B62-8E5670041A6D}"/>
              </a:ext>
            </a:extLst>
          </p:cNvPr>
          <p:cNvSpPr>
            <a:spLocks noGrp="1"/>
          </p:cNvSpPr>
          <p:nvPr>
            <p:ph type="sldNum" sz="quarter" idx="12"/>
          </p:nvPr>
        </p:nvSpPr>
        <p:spPr/>
        <p:txBody>
          <a:bodyPr/>
          <a:lstStyle/>
          <a:p>
            <a:fld id="{1370230A-709D-4205-8636-A3280FD27E74}" type="slidenum">
              <a:rPr lang="en-US" smtClean="0"/>
              <a:t>17</a:t>
            </a:fld>
            <a:endParaRPr lang="en-US"/>
          </a:p>
        </p:txBody>
      </p:sp>
      <p:sp>
        <p:nvSpPr>
          <p:cNvPr id="3" name="Content Placeholder 2">
            <a:extLst>
              <a:ext uri="{FF2B5EF4-FFF2-40B4-BE49-F238E27FC236}">
                <a16:creationId xmlns:a16="http://schemas.microsoft.com/office/drawing/2014/main" id="{34C42339-47A2-6A1C-57B0-7664EAC4A9CD}"/>
              </a:ext>
            </a:extLst>
          </p:cNvPr>
          <p:cNvSpPr>
            <a:spLocks noGrp="1"/>
          </p:cNvSpPr>
          <p:nvPr>
            <p:ph idx="13"/>
          </p:nvPr>
        </p:nvSpPr>
        <p:spPr/>
        <p:txBody>
          <a:bodyPr/>
          <a:lstStyle/>
          <a:p>
            <a:pPr lvl="1"/>
            <a:r>
              <a:rPr lang="en-US" dirty="0"/>
              <a:t> Inputs include date, price, OHLC fields, and volume</a:t>
            </a:r>
          </a:p>
          <a:p>
            <a:pPr lvl="1"/>
            <a:r>
              <a:rPr lang="en-US" dirty="0"/>
              <a:t> T-bill and bond yield quotes are converted into price proxies</a:t>
            </a:r>
          </a:p>
          <a:p>
            <a:pPr lvl="1"/>
            <a:r>
              <a:rPr lang="en-US" dirty="0"/>
              <a:t> USD/EGP and CPI add macro market context</a:t>
            </a:r>
          </a:p>
        </p:txBody>
      </p:sp>
      <p:sp>
        <p:nvSpPr>
          <p:cNvPr id="5" name="Rectangle 4">
            <a:extLst>
              <a:ext uri="{FF2B5EF4-FFF2-40B4-BE49-F238E27FC236}">
                <a16:creationId xmlns:a16="http://schemas.microsoft.com/office/drawing/2014/main" id="{A3643664-BA6E-5CE3-8859-61733F886F3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C18B0CB0-B963-85F1-72E3-21EE13FC1AD4}"/>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71818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6813D-05AD-3715-88CA-7E1D30E8A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69A28-3ABA-4DB9-9ED2-E46137373FDF}"/>
              </a:ext>
            </a:extLst>
          </p:cNvPr>
          <p:cNvSpPr>
            <a:spLocks noGrp="1"/>
          </p:cNvSpPr>
          <p:nvPr>
            <p:ph type="title"/>
          </p:nvPr>
        </p:nvSpPr>
        <p:spPr/>
        <p:txBody>
          <a:bodyPr/>
          <a:lstStyle/>
          <a:p>
            <a:r>
              <a:rPr lang="en-US" dirty="0"/>
              <a:t>Point-In-Time Monthly Panel</a:t>
            </a:r>
            <a:endParaRPr lang="en-US" dirty="0">
              <a:latin typeface="+mn-lt"/>
            </a:endParaRPr>
          </a:p>
        </p:txBody>
      </p:sp>
      <p:sp>
        <p:nvSpPr>
          <p:cNvPr id="4" name="Slide Number Placeholder 3">
            <a:extLst>
              <a:ext uri="{FF2B5EF4-FFF2-40B4-BE49-F238E27FC236}">
                <a16:creationId xmlns:a16="http://schemas.microsoft.com/office/drawing/2014/main" id="{D3EDE9B1-4497-D6D4-00D3-C4266EEA3E29}"/>
              </a:ext>
            </a:extLst>
          </p:cNvPr>
          <p:cNvSpPr>
            <a:spLocks noGrp="1"/>
          </p:cNvSpPr>
          <p:nvPr>
            <p:ph type="sldNum" sz="quarter" idx="12"/>
          </p:nvPr>
        </p:nvSpPr>
        <p:spPr/>
        <p:txBody>
          <a:bodyPr/>
          <a:lstStyle/>
          <a:p>
            <a:fld id="{1370230A-709D-4205-8636-A3280FD27E74}" type="slidenum">
              <a:rPr lang="en-US" smtClean="0"/>
              <a:t>18</a:t>
            </a:fld>
            <a:endParaRPr lang="en-US"/>
          </a:p>
        </p:txBody>
      </p:sp>
      <p:sp>
        <p:nvSpPr>
          <p:cNvPr id="3" name="Content Placeholder 2">
            <a:extLst>
              <a:ext uri="{FF2B5EF4-FFF2-40B4-BE49-F238E27FC236}">
                <a16:creationId xmlns:a16="http://schemas.microsoft.com/office/drawing/2014/main" id="{C444C8F2-049A-9C9F-A348-7ED345E4E098}"/>
              </a:ext>
            </a:extLst>
          </p:cNvPr>
          <p:cNvSpPr>
            <a:spLocks noGrp="1"/>
          </p:cNvSpPr>
          <p:nvPr>
            <p:ph idx="13"/>
          </p:nvPr>
        </p:nvSpPr>
        <p:spPr/>
        <p:txBody>
          <a:bodyPr/>
          <a:lstStyle/>
          <a:p>
            <a:pPr lvl="1"/>
            <a:r>
              <a:rPr lang="en-US" dirty="0"/>
              <a:t> Features use only information available up to that month</a:t>
            </a:r>
          </a:p>
          <a:p>
            <a:pPr lvl="1"/>
            <a:r>
              <a:rPr lang="en-US" dirty="0"/>
              <a:t> Assets are not backfilled before they existed</a:t>
            </a:r>
          </a:p>
          <a:p>
            <a:pPr lvl="1"/>
            <a:r>
              <a:rPr lang="en-US" dirty="0"/>
              <a:t> Asset identity stays metadata and is excluded from model inputs</a:t>
            </a:r>
          </a:p>
        </p:txBody>
      </p:sp>
      <p:sp>
        <p:nvSpPr>
          <p:cNvPr id="5" name="Rectangle 4">
            <a:extLst>
              <a:ext uri="{FF2B5EF4-FFF2-40B4-BE49-F238E27FC236}">
                <a16:creationId xmlns:a16="http://schemas.microsoft.com/office/drawing/2014/main" id="{03D6536C-7EF9-4329-5023-9232136D8F93}"/>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C3D776FC-62FE-D243-E73B-8B7851962D13}"/>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75010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1258E-1227-06C4-9B4F-00177BE0B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7E39C-D42E-9F32-BE24-039AA9992D5D}"/>
              </a:ext>
            </a:extLst>
          </p:cNvPr>
          <p:cNvSpPr>
            <a:spLocks noGrp="1"/>
          </p:cNvSpPr>
          <p:nvPr>
            <p:ph type="title"/>
          </p:nvPr>
        </p:nvSpPr>
        <p:spPr/>
        <p:txBody>
          <a:bodyPr/>
          <a:lstStyle/>
          <a:p>
            <a:r>
              <a:rPr lang="en-US" dirty="0"/>
              <a:t>Feature Families</a:t>
            </a:r>
            <a:endParaRPr lang="en-US" dirty="0">
              <a:latin typeface="+mn-lt"/>
            </a:endParaRPr>
          </a:p>
        </p:txBody>
      </p:sp>
      <p:sp>
        <p:nvSpPr>
          <p:cNvPr id="4" name="Slide Number Placeholder 3">
            <a:extLst>
              <a:ext uri="{FF2B5EF4-FFF2-40B4-BE49-F238E27FC236}">
                <a16:creationId xmlns:a16="http://schemas.microsoft.com/office/drawing/2014/main" id="{DEDF8538-4FEE-CBC3-C41F-55FCFDA20ED3}"/>
              </a:ext>
            </a:extLst>
          </p:cNvPr>
          <p:cNvSpPr>
            <a:spLocks noGrp="1"/>
          </p:cNvSpPr>
          <p:nvPr>
            <p:ph type="sldNum" sz="quarter" idx="12"/>
          </p:nvPr>
        </p:nvSpPr>
        <p:spPr/>
        <p:txBody>
          <a:bodyPr/>
          <a:lstStyle/>
          <a:p>
            <a:fld id="{1370230A-709D-4205-8636-A3280FD27E74}" type="slidenum">
              <a:rPr lang="en-US" smtClean="0"/>
              <a:t>19</a:t>
            </a:fld>
            <a:endParaRPr lang="en-US"/>
          </a:p>
        </p:txBody>
      </p:sp>
      <p:sp>
        <p:nvSpPr>
          <p:cNvPr id="5" name="Rectangle 4">
            <a:extLst>
              <a:ext uri="{FF2B5EF4-FFF2-40B4-BE49-F238E27FC236}">
                <a16:creationId xmlns:a16="http://schemas.microsoft.com/office/drawing/2014/main" id="{28143D78-1A14-9D4F-BED6-82B7C45E7E3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E6702C11-CDF0-A556-3B95-72D02E0FCE10}"/>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63F43630-6FE8-F9FC-7250-44E11B8D7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8710" y="2609105"/>
            <a:ext cx="9756970" cy="2978935"/>
          </a:xfrm>
          <a:prstGeom prst="rect">
            <a:avLst/>
          </a:prstGeom>
        </p:spPr>
      </p:pic>
    </p:spTree>
    <p:extLst>
      <p:ext uri="{BB962C8B-B14F-4D97-AF65-F5344CB8AC3E}">
        <p14:creationId xmlns:p14="http://schemas.microsoft.com/office/powerpoint/2010/main" val="115852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9802E-C1FF-91D3-B725-666019C17FDA}"/>
              </a:ext>
            </a:extLst>
          </p:cNvPr>
          <p:cNvSpPr>
            <a:spLocks noGrp="1"/>
          </p:cNvSpPr>
          <p:nvPr>
            <p:ph type="title"/>
          </p:nvPr>
        </p:nvSpPr>
        <p:spPr/>
        <p:txBody>
          <a:bodyPr/>
          <a:lstStyle/>
          <a:p>
            <a:r>
              <a:rPr lang="en-US" dirty="0"/>
              <a:t>Realized Risk Target</a:t>
            </a:r>
          </a:p>
        </p:txBody>
      </p:sp>
      <p:pic>
        <p:nvPicPr>
          <p:cNvPr id="6" name="Content Placeholder 5">
            <a:extLst>
              <a:ext uri="{FF2B5EF4-FFF2-40B4-BE49-F238E27FC236}">
                <a16:creationId xmlns:a16="http://schemas.microsoft.com/office/drawing/2014/main" id="{4B7B3687-83E7-8530-9CD2-BC416C6B257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20642" y="2667698"/>
            <a:ext cx="9251518" cy="2685773"/>
          </a:xfrm>
          <a:prstGeom prst="rect">
            <a:avLst/>
          </a:prstGeom>
        </p:spPr>
      </p:pic>
      <p:sp>
        <p:nvSpPr>
          <p:cNvPr id="4" name="Slide Number Placeholder 3">
            <a:extLst>
              <a:ext uri="{FF2B5EF4-FFF2-40B4-BE49-F238E27FC236}">
                <a16:creationId xmlns:a16="http://schemas.microsoft.com/office/drawing/2014/main" id="{737A1787-40A5-4F78-95F6-78D852F5AFAE}"/>
              </a:ext>
            </a:extLst>
          </p:cNvPr>
          <p:cNvSpPr>
            <a:spLocks noGrp="1"/>
          </p:cNvSpPr>
          <p:nvPr>
            <p:ph type="sldNum" sz="quarter" idx="12"/>
          </p:nvPr>
        </p:nvSpPr>
        <p:spPr/>
        <p:txBody>
          <a:bodyPr/>
          <a:lstStyle/>
          <a:p>
            <a:fld id="{1370230A-709D-4205-8636-A3280FD27E74}" type="slidenum">
              <a:rPr lang="en-US" smtClean="0"/>
              <a:t>20</a:t>
            </a:fld>
            <a:endParaRPr lang="en-US"/>
          </a:p>
        </p:txBody>
      </p:sp>
    </p:spTree>
    <p:extLst>
      <p:ext uri="{BB962C8B-B14F-4D97-AF65-F5344CB8AC3E}">
        <p14:creationId xmlns:p14="http://schemas.microsoft.com/office/powerpoint/2010/main" val="1555780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AB91-1766-0D38-E3B1-03FF4D238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587EB-AC97-6315-5ED3-A84938D89782}"/>
              </a:ext>
            </a:extLst>
          </p:cNvPr>
          <p:cNvSpPr>
            <a:spLocks noGrp="1"/>
          </p:cNvSpPr>
          <p:nvPr>
            <p:ph type="title"/>
          </p:nvPr>
        </p:nvSpPr>
        <p:spPr/>
        <p:txBody>
          <a:bodyPr/>
          <a:lstStyle/>
          <a:p>
            <a:r>
              <a:rPr lang="en-US" dirty="0"/>
              <a:t>What Is Reinforcement Learning</a:t>
            </a:r>
            <a:endParaRPr lang="en-US" dirty="0">
              <a:latin typeface="+mn-lt"/>
            </a:endParaRPr>
          </a:p>
        </p:txBody>
      </p:sp>
      <p:sp>
        <p:nvSpPr>
          <p:cNvPr id="4" name="Slide Number Placeholder 3">
            <a:extLst>
              <a:ext uri="{FF2B5EF4-FFF2-40B4-BE49-F238E27FC236}">
                <a16:creationId xmlns:a16="http://schemas.microsoft.com/office/drawing/2014/main" id="{15E0DC38-C0E1-9715-627D-E55A6F93C796}"/>
              </a:ext>
            </a:extLst>
          </p:cNvPr>
          <p:cNvSpPr>
            <a:spLocks noGrp="1"/>
          </p:cNvSpPr>
          <p:nvPr>
            <p:ph type="sldNum" sz="quarter" idx="12"/>
          </p:nvPr>
        </p:nvSpPr>
        <p:spPr/>
        <p:txBody>
          <a:bodyPr/>
          <a:lstStyle/>
          <a:p>
            <a:fld id="{1370230A-709D-4205-8636-A3280FD27E74}" type="slidenum">
              <a:rPr lang="en-US" smtClean="0"/>
              <a:t>21</a:t>
            </a:fld>
            <a:endParaRPr lang="en-US"/>
          </a:p>
        </p:txBody>
      </p:sp>
      <p:sp>
        <p:nvSpPr>
          <p:cNvPr id="5" name="Rectangle 4">
            <a:extLst>
              <a:ext uri="{FF2B5EF4-FFF2-40B4-BE49-F238E27FC236}">
                <a16:creationId xmlns:a16="http://schemas.microsoft.com/office/drawing/2014/main" id="{E237CFD6-78D1-DE23-8C16-7EADA6883C6F}"/>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6DF58F2A-AC7F-328D-94B0-F2B466BB2609}"/>
              </a:ext>
            </a:extLst>
          </p:cNvPr>
          <p:cNvSpPr/>
          <p:nvPr/>
        </p:nvSpPr>
        <p:spPr>
          <a:xfrm rot="5400000">
            <a:off x="-3108962" y="3406141"/>
            <a:ext cx="6858002" cy="45719"/>
          </a:xfrm>
          <a:prstGeom prst="rect">
            <a:avLst/>
          </a:prstGeom>
          <a:solidFill>
            <a:srgbClr val="00F7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descr="General RL diagram">
            <a:extLst>
              <a:ext uri="{FF2B5EF4-FFF2-40B4-BE49-F238E27FC236}">
                <a16:creationId xmlns:a16="http://schemas.microsoft.com/office/drawing/2014/main" id="{22C6B923-68B6-40FE-F214-3400A86EF613}"/>
              </a:ext>
            </a:extLst>
          </p:cNvPr>
          <p:cNvPicPr>
            <a:picLocks noChangeAspect="1"/>
          </p:cNvPicPr>
          <p:nvPr/>
        </p:nvPicPr>
        <p:blipFill>
          <a:blip r:embed="rId3"/>
          <a:stretch>
            <a:fillRect/>
          </a:stretch>
        </p:blipFill>
        <p:spPr>
          <a:xfrm>
            <a:off x="1234439" y="2864641"/>
            <a:ext cx="9921241" cy="1784649"/>
          </a:xfrm>
          <a:prstGeom prst="rect">
            <a:avLst/>
          </a:prstGeom>
        </p:spPr>
      </p:pic>
    </p:spTree>
    <p:extLst>
      <p:ext uri="{BB962C8B-B14F-4D97-AF65-F5344CB8AC3E}">
        <p14:creationId xmlns:p14="http://schemas.microsoft.com/office/powerpoint/2010/main" val="761430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5FB9-655D-7578-789D-E82EEB2E3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5FB28-19DF-57DB-A3EA-6D0B7CCEDA6A}"/>
              </a:ext>
            </a:extLst>
          </p:cNvPr>
          <p:cNvSpPr>
            <a:spLocks noGrp="1"/>
          </p:cNvSpPr>
          <p:nvPr>
            <p:ph type="title"/>
          </p:nvPr>
        </p:nvSpPr>
        <p:spPr/>
        <p:txBody>
          <a:bodyPr/>
          <a:lstStyle/>
          <a:p>
            <a:r>
              <a:rPr lang="en-US" dirty="0"/>
              <a:t>Why Reinforcement Learning</a:t>
            </a:r>
            <a:endParaRPr lang="en-US" dirty="0">
              <a:latin typeface="+mn-lt"/>
            </a:endParaRPr>
          </a:p>
        </p:txBody>
      </p:sp>
      <p:sp>
        <p:nvSpPr>
          <p:cNvPr id="4" name="Slide Number Placeholder 3">
            <a:extLst>
              <a:ext uri="{FF2B5EF4-FFF2-40B4-BE49-F238E27FC236}">
                <a16:creationId xmlns:a16="http://schemas.microsoft.com/office/drawing/2014/main" id="{E2F6D4B7-F67A-E1BC-6735-9D17D83A3E5D}"/>
              </a:ext>
            </a:extLst>
          </p:cNvPr>
          <p:cNvSpPr>
            <a:spLocks noGrp="1"/>
          </p:cNvSpPr>
          <p:nvPr>
            <p:ph type="sldNum" sz="quarter" idx="12"/>
          </p:nvPr>
        </p:nvSpPr>
        <p:spPr/>
        <p:txBody>
          <a:bodyPr/>
          <a:lstStyle/>
          <a:p>
            <a:fld id="{1370230A-709D-4205-8636-A3280FD27E74}" type="slidenum">
              <a:rPr lang="en-US" smtClean="0"/>
              <a:t>22</a:t>
            </a:fld>
            <a:endParaRPr lang="en-US"/>
          </a:p>
        </p:txBody>
      </p:sp>
      <p:sp>
        <p:nvSpPr>
          <p:cNvPr id="5" name="Rectangle 4">
            <a:extLst>
              <a:ext uri="{FF2B5EF4-FFF2-40B4-BE49-F238E27FC236}">
                <a16:creationId xmlns:a16="http://schemas.microsoft.com/office/drawing/2014/main" id="{3F06CCF6-D01E-BD39-3E51-D3438CA5B5D6}"/>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DDE1FA32-628A-6E21-DB51-0D1321653AF7}"/>
              </a:ext>
            </a:extLst>
          </p:cNvPr>
          <p:cNvSpPr/>
          <p:nvPr/>
        </p:nvSpPr>
        <p:spPr>
          <a:xfrm rot="5400000">
            <a:off x="-3108962" y="3406141"/>
            <a:ext cx="6858002" cy="45719"/>
          </a:xfrm>
          <a:prstGeom prst="rect">
            <a:avLst/>
          </a:prstGeom>
          <a:solidFill>
            <a:srgbClr val="00F7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Content Placeholder 9">
            <a:extLst>
              <a:ext uri="{FF2B5EF4-FFF2-40B4-BE49-F238E27FC236}">
                <a16:creationId xmlns:a16="http://schemas.microsoft.com/office/drawing/2014/main" id="{A8B84DAD-2395-C906-B679-834D79278ED1}"/>
              </a:ext>
            </a:extLst>
          </p:cNvPr>
          <p:cNvSpPr>
            <a:spLocks noGrp="1"/>
          </p:cNvSpPr>
          <p:nvPr>
            <p:ph idx="1"/>
          </p:nvPr>
        </p:nvSpPr>
        <p:spPr/>
        <p:txBody>
          <a:bodyPr/>
          <a:lstStyle/>
          <a:p>
            <a:pPr>
              <a:buFont typeface="Courier New" panose="02070309020205020404" pitchFamily="49" charset="0"/>
              <a:buChar char="o"/>
            </a:pPr>
            <a:r>
              <a:rPr lang="en-US" dirty="0"/>
              <a:t> Available assets change from month to month</a:t>
            </a:r>
          </a:p>
          <a:p>
            <a:pPr>
              <a:buFont typeface="Courier New" panose="02070309020205020404" pitchFamily="49" charset="0"/>
              <a:buChar char="o"/>
            </a:pPr>
            <a:r>
              <a:rPr lang="en-US" dirty="0"/>
              <a:t> The model scores a full monthly set, not isolated assets</a:t>
            </a:r>
          </a:p>
          <a:p>
            <a:pPr>
              <a:buFont typeface="Courier New" panose="02070309020205020404" pitchFamily="49" charset="0"/>
              <a:buChar char="o"/>
            </a:pPr>
            <a:r>
              <a:rPr lang="en-US" dirty="0"/>
              <a:t> Reward arrives after the complete universe is ranked</a:t>
            </a:r>
          </a:p>
        </p:txBody>
      </p:sp>
      <p:pic>
        <p:nvPicPr>
          <p:cNvPr id="13" name="Picture 12" descr="Thesis RL diagram">
            <a:extLst>
              <a:ext uri="{FF2B5EF4-FFF2-40B4-BE49-F238E27FC236}">
                <a16:creationId xmlns:a16="http://schemas.microsoft.com/office/drawing/2014/main" id="{0FB4D600-BC82-EC4B-4373-F5E4938368BD}"/>
              </a:ext>
            </a:extLst>
          </p:cNvPr>
          <p:cNvPicPr>
            <a:picLocks noChangeAspect="1"/>
          </p:cNvPicPr>
          <p:nvPr/>
        </p:nvPicPr>
        <p:blipFill>
          <a:blip r:embed="rId3"/>
          <a:stretch>
            <a:fillRect/>
          </a:stretch>
        </p:blipFill>
        <p:spPr>
          <a:xfrm>
            <a:off x="1097280" y="2835813"/>
            <a:ext cx="10237803" cy="1952325"/>
          </a:xfrm>
          <a:prstGeom prst="rect">
            <a:avLst/>
          </a:prstGeom>
        </p:spPr>
      </p:pic>
    </p:spTree>
    <p:extLst>
      <p:ext uri="{BB962C8B-B14F-4D97-AF65-F5344CB8AC3E}">
        <p14:creationId xmlns:p14="http://schemas.microsoft.com/office/powerpoint/2010/main" val="3461263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xEl>
                                              <p:pRg st="0" end="0"/>
                                            </p:txEl>
                                          </p:spTgt>
                                        </p:tgtEl>
                                      </p:cBhvr>
                                    </p:animEffect>
                                    <p:set>
                                      <p:cBhvr>
                                        <p:cTn id="7" dur="1" fill="hold">
                                          <p:stCondLst>
                                            <p:cond delay="499"/>
                                          </p:stCondLst>
                                        </p:cTn>
                                        <p:tgtEl>
                                          <p:spTgt spid="10">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0">
                                            <p:txEl>
                                              <p:pRg st="1" end="1"/>
                                            </p:txEl>
                                          </p:spTgt>
                                        </p:tgtEl>
                                      </p:cBhvr>
                                    </p:animEffect>
                                    <p:set>
                                      <p:cBhvr>
                                        <p:cTn id="10" dur="1" fill="hold">
                                          <p:stCondLst>
                                            <p:cond delay="499"/>
                                          </p:stCondLst>
                                        </p:cTn>
                                        <p:tgtEl>
                                          <p:spTgt spid="10">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0">
                                            <p:txEl>
                                              <p:pRg st="2" end="2"/>
                                            </p:txEl>
                                          </p:spTgt>
                                        </p:tgtEl>
                                      </p:cBhvr>
                                    </p:animEffect>
                                    <p:set>
                                      <p:cBhvr>
                                        <p:cTn id="13" dur="1" fill="hold">
                                          <p:stCondLst>
                                            <p:cond delay="499"/>
                                          </p:stCondLst>
                                        </p:cTn>
                                        <p:tgtEl>
                                          <p:spTgt spid="10">
                                            <p:txEl>
                                              <p:pRg st="2" end="2"/>
                                            </p:txEl>
                                          </p:spTgt>
                                        </p:tgtEl>
                                        <p:attrNameLst>
                                          <p:attrName>style.visibility</p:attrName>
                                        </p:attrNameLst>
                                      </p:cBhvr>
                                      <p:to>
                                        <p:strVal val="hidden"/>
                                      </p:to>
                                    </p:set>
                                  </p:childTnLst>
                                </p:cTn>
                              </p:par>
                              <p:par>
                                <p:cTn id="14" presetID="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6A58-58B5-032E-1FD1-1C4C583FCFEE}"/>
              </a:ext>
            </a:extLst>
          </p:cNvPr>
          <p:cNvSpPr>
            <a:spLocks noGrp="1"/>
          </p:cNvSpPr>
          <p:nvPr>
            <p:ph type="title"/>
          </p:nvPr>
        </p:nvSpPr>
        <p:spPr/>
        <p:txBody>
          <a:bodyPr/>
          <a:lstStyle/>
          <a:p>
            <a:r>
              <a:rPr lang="en-US" dirty="0"/>
              <a:t>Why PPO</a:t>
            </a:r>
            <a:endParaRPr lang="en-US" dirty="0">
              <a:latin typeface="+mn-lt"/>
            </a:endParaRPr>
          </a:p>
        </p:txBody>
      </p:sp>
      <p:sp>
        <p:nvSpPr>
          <p:cNvPr id="3" name="Content Placeholder 2">
            <a:extLst>
              <a:ext uri="{FF2B5EF4-FFF2-40B4-BE49-F238E27FC236}">
                <a16:creationId xmlns:a16="http://schemas.microsoft.com/office/drawing/2014/main" id="{0631F3C8-AD8A-BA5D-390D-DDBF7EA5B29F}"/>
              </a:ext>
            </a:extLst>
          </p:cNvPr>
          <p:cNvSpPr>
            <a:spLocks noGrp="1"/>
          </p:cNvSpPr>
          <p:nvPr>
            <p:ph idx="1"/>
          </p:nvPr>
        </p:nvSpPr>
        <p:spPr/>
        <p:txBody>
          <a:bodyPr/>
          <a:lstStyle/>
          <a:p>
            <a:pPr>
              <a:buFont typeface="Courier New" panose="02070309020205020404" pitchFamily="49" charset="0"/>
              <a:buChar char="o"/>
            </a:pPr>
            <a:r>
              <a:rPr lang="en-US" dirty="0"/>
              <a:t> Clipping limits unstable policy jumps</a:t>
            </a:r>
          </a:p>
          <a:p>
            <a:pPr>
              <a:buFont typeface="Courier New" panose="02070309020205020404" pitchFamily="49" charset="0"/>
              <a:buChar char="o"/>
            </a:pPr>
            <a:r>
              <a:rPr lang="en-US" dirty="0"/>
              <a:t> Actor-critic structure stabilizes learning</a:t>
            </a:r>
          </a:p>
          <a:p>
            <a:pPr>
              <a:buFont typeface="Courier New" panose="02070309020205020404" pitchFamily="49" charset="0"/>
              <a:buChar char="o"/>
            </a:pPr>
            <a:r>
              <a:rPr lang="en-US" dirty="0"/>
              <a:t> Suitable for month-level reward feedback</a:t>
            </a:r>
          </a:p>
        </p:txBody>
      </p:sp>
      <p:sp>
        <p:nvSpPr>
          <p:cNvPr id="4" name="Slide Number Placeholder 3">
            <a:extLst>
              <a:ext uri="{FF2B5EF4-FFF2-40B4-BE49-F238E27FC236}">
                <a16:creationId xmlns:a16="http://schemas.microsoft.com/office/drawing/2014/main" id="{00C825F1-8604-469E-49B6-0D009C0E0025}"/>
              </a:ext>
            </a:extLst>
          </p:cNvPr>
          <p:cNvSpPr>
            <a:spLocks noGrp="1"/>
          </p:cNvSpPr>
          <p:nvPr>
            <p:ph type="sldNum" sz="quarter" idx="12"/>
          </p:nvPr>
        </p:nvSpPr>
        <p:spPr/>
        <p:txBody>
          <a:bodyPr/>
          <a:lstStyle/>
          <a:p>
            <a:fld id="{1370230A-709D-4205-8636-A3280FD27E74}" type="slidenum">
              <a:rPr lang="en-US" smtClean="0"/>
              <a:t>23</a:t>
            </a:fld>
            <a:endParaRPr lang="en-US"/>
          </a:p>
        </p:txBody>
      </p:sp>
    </p:spTree>
    <p:extLst>
      <p:ext uri="{BB962C8B-B14F-4D97-AF65-F5344CB8AC3E}">
        <p14:creationId xmlns:p14="http://schemas.microsoft.com/office/powerpoint/2010/main" val="968671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5F40-33EC-74B1-24E0-DD3839B564C6}"/>
              </a:ext>
            </a:extLst>
          </p:cNvPr>
          <p:cNvSpPr>
            <a:spLocks noGrp="1"/>
          </p:cNvSpPr>
          <p:nvPr>
            <p:ph type="title"/>
          </p:nvPr>
        </p:nvSpPr>
        <p:spPr/>
        <p:txBody>
          <a:bodyPr/>
          <a:lstStyle/>
          <a:p>
            <a:r>
              <a:rPr lang="en-US" dirty="0"/>
              <a:t>PPO Episode Format</a:t>
            </a:r>
          </a:p>
        </p:txBody>
      </p:sp>
      <p:sp>
        <p:nvSpPr>
          <p:cNvPr id="4" name="Slide Number Placeholder 3">
            <a:extLst>
              <a:ext uri="{FF2B5EF4-FFF2-40B4-BE49-F238E27FC236}">
                <a16:creationId xmlns:a16="http://schemas.microsoft.com/office/drawing/2014/main" id="{10D1C4AB-58CF-63A4-C592-073990DEC13D}"/>
              </a:ext>
            </a:extLst>
          </p:cNvPr>
          <p:cNvSpPr>
            <a:spLocks noGrp="1"/>
          </p:cNvSpPr>
          <p:nvPr>
            <p:ph type="sldNum" sz="quarter" idx="12"/>
          </p:nvPr>
        </p:nvSpPr>
        <p:spPr/>
        <p:txBody>
          <a:bodyPr/>
          <a:lstStyle/>
          <a:p>
            <a:fld id="{1370230A-709D-4205-8636-A3280FD27E74}" type="slidenum">
              <a:rPr lang="en-US" smtClean="0"/>
              <a:t>24</a:t>
            </a:fld>
            <a:endParaRPr lang="en-US"/>
          </a:p>
        </p:txBody>
      </p:sp>
      <p:pic>
        <p:nvPicPr>
          <p:cNvPr id="11" name="Content Placeholder 10" descr="Transparent Slide 19 figure">
            <a:extLst>
              <a:ext uri="{FF2B5EF4-FFF2-40B4-BE49-F238E27FC236}">
                <a16:creationId xmlns:a16="http://schemas.microsoft.com/office/drawing/2014/main" id="{249564CE-FBC4-BBD5-7E5B-3BDB20AB70D8}"/>
              </a:ext>
            </a:extLst>
          </p:cNvPr>
          <p:cNvPicPr>
            <a:picLocks noGrp="1" noChangeAspect="1"/>
          </p:cNvPicPr>
          <p:nvPr>
            <p:ph idx="1"/>
          </p:nvPr>
        </p:nvPicPr>
        <p:blipFill>
          <a:blip r:embed="rId3"/>
          <a:stretch>
            <a:fillRect/>
          </a:stretch>
        </p:blipFill>
        <p:spPr>
          <a:xfrm>
            <a:off x="1342969" y="2172005"/>
            <a:ext cx="9506062" cy="3853135"/>
          </a:xfrm>
          <a:prstGeom prst="rect">
            <a:avLst/>
          </a:prstGeom>
        </p:spPr>
      </p:pic>
    </p:spTree>
    <p:extLst>
      <p:ext uri="{BB962C8B-B14F-4D97-AF65-F5344CB8AC3E}">
        <p14:creationId xmlns:p14="http://schemas.microsoft.com/office/powerpoint/2010/main" val="1973781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B1419-242B-2B1A-40AA-49E5B9DDBD50}"/>
              </a:ext>
            </a:extLst>
          </p:cNvPr>
          <p:cNvSpPr>
            <a:spLocks noGrp="1"/>
          </p:cNvSpPr>
          <p:nvPr>
            <p:ph type="title"/>
          </p:nvPr>
        </p:nvSpPr>
        <p:spPr/>
        <p:txBody>
          <a:bodyPr/>
          <a:lstStyle/>
          <a:p>
            <a:r>
              <a:rPr lang="en-US" dirty="0"/>
              <a:t>Variable Universe &amp; Masking</a:t>
            </a:r>
          </a:p>
        </p:txBody>
      </p:sp>
      <p:sp>
        <p:nvSpPr>
          <p:cNvPr id="3" name="Content Placeholder 2">
            <a:extLst>
              <a:ext uri="{FF2B5EF4-FFF2-40B4-BE49-F238E27FC236}">
                <a16:creationId xmlns:a16="http://schemas.microsoft.com/office/drawing/2014/main" id="{0DE8F983-B60A-FCA4-9D14-9D688116A2FE}"/>
              </a:ext>
            </a:extLst>
          </p:cNvPr>
          <p:cNvSpPr>
            <a:spLocks noGrp="1"/>
          </p:cNvSpPr>
          <p:nvPr>
            <p:ph idx="1"/>
          </p:nvPr>
        </p:nvSpPr>
        <p:spPr/>
        <p:txBody>
          <a:bodyPr/>
          <a:lstStyle/>
          <a:p>
            <a:pPr>
              <a:buFont typeface="Courier New" panose="02070309020205020404" pitchFamily="49" charset="0"/>
              <a:buChar char="o"/>
            </a:pPr>
            <a:r>
              <a:rPr lang="en-US" dirty="0"/>
              <a:t> Padding gives a consistent tensor shape</a:t>
            </a:r>
          </a:p>
          <a:p>
            <a:pPr>
              <a:buFont typeface="Courier New" panose="02070309020205020404" pitchFamily="49" charset="0"/>
              <a:buChar char="o"/>
            </a:pPr>
            <a:r>
              <a:rPr lang="en-US" dirty="0"/>
              <a:t> The mask separates real asset rows from padding rows</a:t>
            </a:r>
          </a:p>
          <a:p>
            <a:pPr>
              <a:buFont typeface="Courier New" panose="02070309020205020404" pitchFamily="49" charset="0"/>
              <a:buChar char="o"/>
            </a:pPr>
            <a:r>
              <a:rPr lang="en-US" dirty="0"/>
              <a:t> Padded rows do not affect actions, learning, or reward calculations</a:t>
            </a:r>
          </a:p>
        </p:txBody>
      </p:sp>
      <p:sp>
        <p:nvSpPr>
          <p:cNvPr id="4" name="Slide Number Placeholder 3">
            <a:extLst>
              <a:ext uri="{FF2B5EF4-FFF2-40B4-BE49-F238E27FC236}">
                <a16:creationId xmlns:a16="http://schemas.microsoft.com/office/drawing/2014/main" id="{B0DD9651-C539-FCD1-7FF1-E36DE3CAE94D}"/>
              </a:ext>
            </a:extLst>
          </p:cNvPr>
          <p:cNvSpPr>
            <a:spLocks noGrp="1"/>
          </p:cNvSpPr>
          <p:nvPr>
            <p:ph type="sldNum" sz="quarter" idx="12"/>
          </p:nvPr>
        </p:nvSpPr>
        <p:spPr/>
        <p:txBody>
          <a:bodyPr/>
          <a:lstStyle/>
          <a:p>
            <a:fld id="{1370230A-709D-4205-8636-A3280FD27E74}" type="slidenum">
              <a:rPr lang="en-US" smtClean="0"/>
              <a:t>25</a:t>
            </a:fld>
            <a:endParaRPr lang="en-US"/>
          </a:p>
        </p:txBody>
      </p:sp>
    </p:spTree>
    <p:extLst>
      <p:ext uri="{BB962C8B-B14F-4D97-AF65-F5344CB8AC3E}">
        <p14:creationId xmlns:p14="http://schemas.microsoft.com/office/powerpoint/2010/main" val="17770829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EE1F78F0-43E5-67CC-7A6F-5965999418A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3132" y="2118103"/>
            <a:ext cx="9506062" cy="3479044"/>
          </a:xfrm>
          <a:prstGeom prst="rect">
            <a:avLst/>
          </a:prstGeom>
        </p:spPr>
      </p:pic>
      <p:sp>
        <p:nvSpPr>
          <p:cNvPr id="2" name="Title 1">
            <a:extLst>
              <a:ext uri="{FF2B5EF4-FFF2-40B4-BE49-F238E27FC236}">
                <a16:creationId xmlns:a16="http://schemas.microsoft.com/office/drawing/2014/main" id="{CF9C5566-35C0-300D-8A06-A5582BEB3948}"/>
              </a:ext>
            </a:extLst>
          </p:cNvPr>
          <p:cNvSpPr>
            <a:spLocks noGrp="1"/>
          </p:cNvSpPr>
          <p:nvPr>
            <p:ph type="title"/>
          </p:nvPr>
        </p:nvSpPr>
        <p:spPr/>
        <p:txBody>
          <a:bodyPr/>
          <a:lstStyle/>
          <a:p>
            <a:r>
              <a:rPr lang="en-US" dirty="0"/>
              <a:t>Actor-Critic Architecture</a:t>
            </a:r>
          </a:p>
        </p:txBody>
      </p:sp>
      <p:sp>
        <p:nvSpPr>
          <p:cNvPr id="4" name="Slide Number Placeholder 3">
            <a:extLst>
              <a:ext uri="{FF2B5EF4-FFF2-40B4-BE49-F238E27FC236}">
                <a16:creationId xmlns:a16="http://schemas.microsoft.com/office/drawing/2014/main" id="{F42EDE92-38D2-A14E-DFCF-B4DF6FB3BF81}"/>
              </a:ext>
            </a:extLst>
          </p:cNvPr>
          <p:cNvSpPr>
            <a:spLocks noGrp="1"/>
          </p:cNvSpPr>
          <p:nvPr>
            <p:ph type="sldNum" sz="quarter" idx="12"/>
          </p:nvPr>
        </p:nvSpPr>
        <p:spPr/>
        <p:txBody>
          <a:bodyPr/>
          <a:lstStyle/>
          <a:p>
            <a:fld id="{1370230A-709D-4205-8636-A3280FD27E74}" type="slidenum">
              <a:rPr lang="en-US" smtClean="0"/>
              <a:t>26</a:t>
            </a:fld>
            <a:endParaRPr lang="en-US"/>
          </a:p>
        </p:txBody>
      </p:sp>
    </p:spTree>
    <p:extLst>
      <p:ext uri="{BB962C8B-B14F-4D97-AF65-F5344CB8AC3E}">
        <p14:creationId xmlns:p14="http://schemas.microsoft.com/office/powerpoint/2010/main" val="4541513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E8B20-4902-592A-E6A4-1710CD3BEDA5}"/>
              </a:ext>
            </a:extLst>
          </p:cNvPr>
          <p:cNvSpPr>
            <a:spLocks noGrp="1"/>
          </p:cNvSpPr>
          <p:nvPr>
            <p:ph type="title"/>
          </p:nvPr>
        </p:nvSpPr>
        <p:spPr/>
        <p:txBody>
          <a:bodyPr/>
          <a:lstStyle/>
          <a:p>
            <a:r>
              <a:rPr lang="en-US" dirty="0"/>
              <a:t>Reward Definition</a:t>
            </a:r>
          </a:p>
        </p:txBody>
      </p:sp>
      <p:pic>
        <p:nvPicPr>
          <p:cNvPr id="5" name="Content Placeholder 4" descr="Reward Definition Diagram">
            <a:extLst>
              <a:ext uri="{FF2B5EF4-FFF2-40B4-BE49-F238E27FC236}">
                <a16:creationId xmlns:a16="http://schemas.microsoft.com/office/drawing/2014/main" id="{4DE1CC63-D3AF-D1F1-73C7-B8AED4CDD2DF}"/>
              </a:ext>
            </a:extLst>
          </p:cNvPr>
          <p:cNvPicPr>
            <a:picLocks noGrp="1" noChangeAspect="1"/>
          </p:cNvPicPr>
          <p:nvPr>
            <p:ph idx="1"/>
          </p:nvPr>
        </p:nvPicPr>
        <p:blipFill>
          <a:blip r:embed="rId3"/>
          <a:stretch>
            <a:fillRect/>
          </a:stretch>
        </p:blipFill>
        <p:spPr>
          <a:xfrm>
            <a:off x="1372517" y="3257768"/>
            <a:ext cx="10085622" cy="1681608"/>
          </a:xfrm>
          <a:prstGeom prst="rect">
            <a:avLst/>
          </a:prstGeom>
        </p:spPr>
      </p:pic>
      <p:sp>
        <p:nvSpPr>
          <p:cNvPr id="4" name="Slide Number Placeholder 3">
            <a:extLst>
              <a:ext uri="{FF2B5EF4-FFF2-40B4-BE49-F238E27FC236}">
                <a16:creationId xmlns:a16="http://schemas.microsoft.com/office/drawing/2014/main" id="{7E2776AE-5E1A-E61A-46A4-6401FBB130A6}"/>
              </a:ext>
            </a:extLst>
          </p:cNvPr>
          <p:cNvSpPr>
            <a:spLocks noGrp="1"/>
          </p:cNvSpPr>
          <p:nvPr>
            <p:ph type="sldNum" sz="quarter" idx="12"/>
          </p:nvPr>
        </p:nvSpPr>
        <p:spPr/>
        <p:txBody>
          <a:bodyPr/>
          <a:lstStyle/>
          <a:p>
            <a:fld id="{1370230A-709D-4205-8636-A3280FD27E74}" type="slidenum">
              <a:rPr lang="en-US" smtClean="0"/>
              <a:t>27</a:t>
            </a:fld>
            <a:endParaRPr lang="en-US"/>
          </a:p>
        </p:txBody>
      </p:sp>
    </p:spTree>
    <p:extLst>
      <p:ext uri="{BB962C8B-B14F-4D97-AF65-F5344CB8AC3E}">
        <p14:creationId xmlns:p14="http://schemas.microsoft.com/office/powerpoint/2010/main" val="1622887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B995-EC36-092F-82D2-6BC2A9DE62AD}"/>
              </a:ext>
            </a:extLst>
          </p:cNvPr>
          <p:cNvSpPr>
            <a:spLocks noGrp="1"/>
          </p:cNvSpPr>
          <p:nvPr>
            <p:ph type="title"/>
          </p:nvPr>
        </p:nvSpPr>
        <p:spPr/>
        <p:txBody>
          <a:bodyPr/>
          <a:lstStyle/>
          <a:p>
            <a:r>
              <a:rPr lang="en-US" dirty="0"/>
              <a:t>Profile-Specific Asset Universes</a:t>
            </a:r>
          </a:p>
        </p:txBody>
      </p:sp>
      <p:sp>
        <p:nvSpPr>
          <p:cNvPr id="4" name="Slide Number Placeholder 3">
            <a:extLst>
              <a:ext uri="{FF2B5EF4-FFF2-40B4-BE49-F238E27FC236}">
                <a16:creationId xmlns:a16="http://schemas.microsoft.com/office/drawing/2014/main" id="{B488CFD4-A7DF-5E64-A38B-E9274796D09D}"/>
              </a:ext>
            </a:extLst>
          </p:cNvPr>
          <p:cNvSpPr>
            <a:spLocks noGrp="1"/>
          </p:cNvSpPr>
          <p:nvPr>
            <p:ph type="sldNum" sz="quarter" idx="12"/>
          </p:nvPr>
        </p:nvSpPr>
        <p:spPr/>
        <p:txBody>
          <a:bodyPr/>
          <a:lstStyle/>
          <a:p>
            <a:fld id="{1370230A-709D-4205-8636-A3280FD27E74}" type="slidenum">
              <a:rPr lang="en-US" smtClean="0"/>
              <a:t>28</a:t>
            </a:fld>
            <a:endParaRPr lang="en-US"/>
          </a:p>
        </p:txBody>
      </p:sp>
      <p:sp>
        <p:nvSpPr>
          <p:cNvPr id="5" name="Content Placeholder 4">
            <a:extLst>
              <a:ext uri="{FF2B5EF4-FFF2-40B4-BE49-F238E27FC236}">
                <a16:creationId xmlns:a16="http://schemas.microsoft.com/office/drawing/2014/main" id="{C210F727-8011-89B1-ED08-1642566A03DD}"/>
              </a:ext>
            </a:extLst>
          </p:cNvPr>
          <p:cNvSpPr>
            <a:spLocks noGrp="1"/>
          </p:cNvSpPr>
          <p:nvPr>
            <p:ph idx="13"/>
          </p:nvPr>
        </p:nvSpPr>
        <p:spPr/>
        <p:txBody>
          <a:bodyPr/>
          <a:lstStyle/>
          <a:p>
            <a:pPr>
              <a:buFont typeface="Courier New" panose="02070309020205020404" pitchFamily="49" charset="0"/>
              <a:buChar char="o"/>
            </a:pPr>
            <a:r>
              <a:rPr lang="en-US" dirty="0"/>
              <a:t> Conservative: lowest 30% predicted-risk assets</a:t>
            </a:r>
          </a:p>
          <a:p>
            <a:pPr>
              <a:buFont typeface="Courier New" panose="02070309020205020404" pitchFamily="49" charset="0"/>
              <a:buChar char="o"/>
            </a:pPr>
            <a:r>
              <a:rPr lang="en-US" dirty="0"/>
              <a:t> Balanced: 20% to 80% predicted-risk band</a:t>
            </a:r>
          </a:p>
          <a:p>
            <a:pPr>
              <a:buFont typeface="Courier New" panose="02070309020205020404" pitchFamily="49" charset="0"/>
              <a:buChar char="o"/>
            </a:pPr>
            <a:r>
              <a:rPr lang="en-US" dirty="0"/>
              <a:t> Aggressive: highest 30% predicted-risk assets</a:t>
            </a:r>
          </a:p>
        </p:txBody>
      </p:sp>
      <p:sp>
        <p:nvSpPr>
          <p:cNvPr id="6" name="Rectangle 5">
            <a:extLst>
              <a:ext uri="{FF2B5EF4-FFF2-40B4-BE49-F238E27FC236}">
                <a16:creationId xmlns:a16="http://schemas.microsoft.com/office/drawing/2014/main" id="{B724DE56-D989-68D8-7928-15973BCA0B14}"/>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7D23333-B4A1-2581-F631-227BA4315DBC}"/>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99607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1652C7-CF7E-BDF7-9827-DFF0B7F62F98}"/>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E20CE8F4-3705-6B06-CC76-B1EA488C6018}"/>
              </a:ext>
            </a:extLst>
          </p:cNvPr>
          <p:cNvSpPr>
            <a:spLocks noGrp="1"/>
          </p:cNvSpPr>
          <p:nvPr>
            <p:ph type="ctrTitle"/>
          </p:nvPr>
        </p:nvSpPr>
        <p:spPr/>
        <p:txBody>
          <a:bodyPr/>
          <a:lstStyle/>
          <a:p>
            <a:r>
              <a:rPr lang="en-US" dirty="0"/>
              <a:t>Experiments</a:t>
            </a:r>
          </a:p>
        </p:txBody>
      </p:sp>
      <p:sp>
        <p:nvSpPr>
          <p:cNvPr id="3" name="Slide Number Placeholder 2">
            <a:extLst>
              <a:ext uri="{FF2B5EF4-FFF2-40B4-BE49-F238E27FC236}">
                <a16:creationId xmlns:a16="http://schemas.microsoft.com/office/drawing/2014/main" id="{73E8A48F-E91E-FB87-7266-943926EF1202}"/>
              </a:ext>
            </a:extLst>
          </p:cNvPr>
          <p:cNvSpPr>
            <a:spLocks noGrp="1"/>
          </p:cNvSpPr>
          <p:nvPr>
            <p:ph type="sldNum" sz="quarter" idx="12"/>
          </p:nvPr>
        </p:nvSpPr>
        <p:spPr/>
        <p:txBody>
          <a:bodyPr/>
          <a:lstStyle/>
          <a:p>
            <a:fld id="{1370230A-709D-4205-8636-A3280FD27E74}" type="slidenum">
              <a:rPr lang="en-US" smtClean="0"/>
              <a:t>29</a:t>
            </a:fld>
            <a:endParaRPr lang="en-US"/>
          </a:p>
        </p:txBody>
      </p:sp>
      <p:sp>
        <p:nvSpPr>
          <p:cNvPr id="9" name="Rectangle 8">
            <a:extLst>
              <a:ext uri="{FF2B5EF4-FFF2-40B4-BE49-F238E27FC236}">
                <a16:creationId xmlns:a16="http://schemas.microsoft.com/office/drawing/2014/main" id="{C3B185C7-8C44-6040-60F9-FD6C593AD464}"/>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 name="Straight Connector 9">
            <a:extLst>
              <a:ext uri="{FF2B5EF4-FFF2-40B4-BE49-F238E27FC236}">
                <a16:creationId xmlns:a16="http://schemas.microsoft.com/office/drawing/2014/main" id="{3A930D45-5B29-8D2A-5E45-6F7B5D7E00C0}"/>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454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C2D4-17A0-E99D-DB7C-D449F6817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D2F02-E00A-3898-6645-E5466681B69E}"/>
              </a:ext>
            </a:extLst>
          </p:cNvPr>
          <p:cNvSpPr>
            <a:spLocks noGrp="1"/>
          </p:cNvSpPr>
          <p:nvPr>
            <p:ph type="title"/>
          </p:nvPr>
        </p:nvSpPr>
        <p:spPr/>
        <p:txBody>
          <a:bodyPr/>
          <a:lstStyle/>
          <a:p>
            <a:r>
              <a:rPr lang="en-US" dirty="0"/>
              <a:t>Chronological Split Design</a:t>
            </a:r>
          </a:p>
        </p:txBody>
      </p:sp>
      <p:sp>
        <p:nvSpPr>
          <p:cNvPr id="4" name="Slide Number Placeholder 3">
            <a:extLst>
              <a:ext uri="{FF2B5EF4-FFF2-40B4-BE49-F238E27FC236}">
                <a16:creationId xmlns:a16="http://schemas.microsoft.com/office/drawing/2014/main" id="{5342CA1E-FA32-A082-7F24-4332D587C1A7}"/>
              </a:ext>
            </a:extLst>
          </p:cNvPr>
          <p:cNvSpPr>
            <a:spLocks noGrp="1"/>
          </p:cNvSpPr>
          <p:nvPr>
            <p:ph type="sldNum" sz="quarter" idx="12"/>
          </p:nvPr>
        </p:nvSpPr>
        <p:spPr/>
        <p:txBody>
          <a:bodyPr/>
          <a:lstStyle/>
          <a:p>
            <a:fld id="{1370230A-709D-4205-8636-A3280FD27E74}" type="slidenum">
              <a:rPr lang="en-US" smtClean="0"/>
              <a:t>30</a:t>
            </a:fld>
            <a:endParaRPr lang="en-US"/>
          </a:p>
        </p:txBody>
      </p:sp>
      <p:sp>
        <p:nvSpPr>
          <p:cNvPr id="6" name="Rectangle 5">
            <a:extLst>
              <a:ext uri="{FF2B5EF4-FFF2-40B4-BE49-F238E27FC236}">
                <a16:creationId xmlns:a16="http://schemas.microsoft.com/office/drawing/2014/main" id="{69CB8845-E940-9541-F809-48774DE91E44}"/>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F84CC5D-13CA-9480-8088-B05259C442A0}"/>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Content Placeholder 13" descr="Rebalanced Chronological Split Timeline">
            <a:extLst>
              <a:ext uri="{FF2B5EF4-FFF2-40B4-BE49-F238E27FC236}">
                <a16:creationId xmlns:a16="http://schemas.microsoft.com/office/drawing/2014/main" id="{7862B04F-4D52-EEAB-F01E-8BE3FFA551CE}"/>
              </a:ext>
            </a:extLst>
          </p:cNvPr>
          <p:cNvPicPr>
            <a:picLocks noGrp="1" noChangeAspect="1"/>
          </p:cNvPicPr>
          <p:nvPr>
            <p:ph idx="13"/>
          </p:nvPr>
        </p:nvPicPr>
        <p:blipFill>
          <a:blip r:embed="rId3"/>
          <a:stretch>
            <a:fillRect/>
          </a:stretch>
        </p:blipFill>
        <p:spPr>
          <a:xfrm>
            <a:off x="1097280" y="3073589"/>
            <a:ext cx="10242666" cy="2047052"/>
          </a:xfrm>
          <a:prstGeom prst="rect">
            <a:avLst/>
          </a:prstGeom>
        </p:spPr>
      </p:pic>
    </p:spTree>
    <p:extLst>
      <p:ext uri="{BB962C8B-B14F-4D97-AF65-F5344CB8AC3E}">
        <p14:creationId xmlns:p14="http://schemas.microsoft.com/office/powerpoint/2010/main" val="2827198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0FFC-1AF0-8D4A-D5C5-57BAC3B39EA9}"/>
              </a:ext>
            </a:extLst>
          </p:cNvPr>
          <p:cNvSpPr>
            <a:spLocks noGrp="1"/>
          </p:cNvSpPr>
          <p:nvPr>
            <p:ph type="title"/>
          </p:nvPr>
        </p:nvSpPr>
        <p:spPr/>
        <p:txBody>
          <a:bodyPr/>
          <a:lstStyle/>
          <a:p>
            <a:r>
              <a:rPr lang="en-US" dirty="0"/>
              <a:t>Framework Selection</a:t>
            </a:r>
          </a:p>
        </p:txBody>
      </p:sp>
      <p:sp>
        <p:nvSpPr>
          <p:cNvPr id="3" name="Content Placeholder 2">
            <a:extLst>
              <a:ext uri="{FF2B5EF4-FFF2-40B4-BE49-F238E27FC236}">
                <a16:creationId xmlns:a16="http://schemas.microsoft.com/office/drawing/2014/main" id="{EF4075D1-A271-7CA2-30A6-881A8B5A34E0}"/>
              </a:ext>
            </a:extLst>
          </p:cNvPr>
          <p:cNvSpPr>
            <a:spLocks noGrp="1"/>
          </p:cNvSpPr>
          <p:nvPr>
            <p:ph idx="1"/>
          </p:nvPr>
        </p:nvSpPr>
        <p:spPr/>
        <p:txBody>
          <a:bodyPr/>
          <a:lstStyle/>
          <a:p>
            <a:pPr>
              <a:buFont typeface="Courier New" panose="02070309020205020404" pitchFamily="49" charset="0"/>
              <a:buChar char="o"/>
            </a:pPr>
            <a:r>
              <a:rPr lang="en-US" dirty="0"/>
              <a:t> Compared one-month versus three-month feature windows</a:t>
            </a:r>
          </a:p>
          <a:p>
            <a:pPr>
              <a:buFont typeface="Courier New" panose="02070309020205020404" pitchFamily="49" charset="0"/>
              <a:buChar char="o"/>
            </a:pPr>
            <a:r>
              <a:rPr lang="en-US" dirty="0"/>
              <a:t> Evaluated the inclusion of pooled active-universe context</a:t>
            </a:r>
          </a:p>
          <a:p>
            <a:pPr>
              <a:buFont typeface="Courier New" panose="02070309020205020404" pitchFamily="49" charset="0"/>
              <a:buChar char="o"/>
            </a:pPr>
            <a:r>
              <a:rPr lang="en-US" dirty="0"/>
              <a:t> Evaluated the addition of Daily price variants</a:t>
            </a:r>
          </a:p>
        </p:txBody>
      </p:sp>
      <p:sp>
        <p:nvSpPr>
          <p:cNvPr id="4" name="Slide Number Placeholder 3">
            <a:extLst>
              <a:ext uri="{FF2B5EF4-FFF2-40B4-BE49-F238E27FC236}">
                <a16:creationId xmlns:a16="http://schemas.microsoft.com/office/drawing/2014/main" id="{73160541-65C9-4E93-86A4-3FCC447B174A}"/>
              </a:ext>
            </a:extLst>
          </p:cNvPr>
          <p:cNvSpPr>
            <a:spLocks noGrp="1"/>
          </p:cNvSpPr>
          <p:nvPr>
            <p:ph type="sldNum" sz="quarter" idx="12"/>
          </p:nvPr>
        </p:nvSpPr>
        <p:spPr/>
        <p:txBody>
          <a:bodyPr/>
          <a:lstStyle/>
          <a:p>
            <a:fld id="{1370230A-709D-4205-8636-A3280FD27E74}" type="slidenum">
              <a:rPr lang="en-US" smtClean="0"/>
              <a:t>31</a:t>
            </a:fld>
            <a:endParaRPr lang="en-US"/>
          </a:p>
        </p:txBody>
      </p:sp>
    </p:spTree>
    <p:extLst>
      <p:ext uri="{BB962C8B-B14F-4D97-AF65-F5344CB8AC3E}">
        <p14:creationId xmlns:p14="http://schemas.microsoft.com/office/powerpoint/2010/main" val="2041858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5713C-F5B5-1A8D-96AC-B88E0F319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A60BF-ECE8-4B81-7810-F2B8B4B99C63}"/>
              </a:ext>
            </a:extLst>
          </p:cNvPr>
          <p:cNvSpPr>
            <a:spLocks noGrp="1"/>
          </p:cNvSpPr>
          <p:nvPr>
            <p:ph type="title"/>
          </p:nvPr>
        </p:nvSpPr>
        <p:spPr/>
        <p:txBody>
          <a:bodyPr/>
          <a:lstStyle/>
          <a:p>
            <a:r>
              <a:rPr lang="en-US" dirty="0"/>
              <a:t>Feature and Hyperparameters</a:t>
            </a:r>
          </a:p>
        </p:txBody>
      </p:sp>
      <p:sp>
        <p:nvSpPr>
          <p:cNvPr id="3" name="Content Placeholder 2">
            <a:extLst>
              <a:ext uri="{FF2B5EF4-FFF2-40B4-BE49-F238E27FC236}">
                <a16:creationId xmlns:a16="http://schemas.microsoft.com/office/drawing/2014/main" id="{201E0DF1-D1EF-EC8D-9810-C071BADA3074}"/>
              </a:ext>
            </a:extLst>
          </p:cNvPr>
          <p:cNvSpPr>
            <a:spLocks noGrp="1"/>
          </p:cNvSpPr>
          <p:nvPr>
            <p:ph idx="1"/>
          </p:nvPr>
        </p:nvSpPr>
        <p:spPr/>
        <p:txBody>
          <a:bodyPr/>
          <a:lstStyle/>
          <a:p>
            <a:pPr>
              <a:buFont typeface="Courier New" panose="02070309020205020404" pitchFamily="49" charset="0"/>
              <a:buChar char="o"/>
            </a:pPr>
            <a:r>
              <a:rPr lang="en-US" dirty="0"/>
              <a:t> Ran drop-one ablations on the base set to identify which feature families contributed signal</a:t>
            </a:r>
          </a:p>
          <a:p>
            <a:pPr>
              <a:buFont typeface="Courier New" panose="02070309020205020404" pitchFamily="49" charset="0"/>
              <a:buChar char="o"/>
            </a:pPr>
            <a:r>
              <a:rPr lang="en-US" dirty="0"/>
              <a:t> Stress-tested the chosen set across seed configuration, redesigned feature families, and incremental additions before locking the final inputs</a:t>
            </a:r>
          </a:p>
          <a:p>
            <a:pPr>
              <a:buFont typeface="Courier New" panose="02070309020205020404" pitchFamily="49" charset="0"/>
              <a:buChar char="o"/>
            </a:pPr>
            <a:r>
              <a:rPr lang="en-US" dirty="0"/>
              <a:t> Used Optuna validation trials to tune PPO hyperparameters and select the configuration that generalized best</a:t>
            </a:r>
          </a:p>
        </p:txBody>
      </p:sp>
      <p:sp>
        <p:nvSpPr>
          <p:cNvPr id="4" name="Slide Number Placeholder 3">
            <a:extLst>
              <a:ext uri="{FF2B5EF4-FFF2-40B4-BE49-F238E27FC236}">
                <a16:creationId xmlns:a16="http://schemas.microsoft.com/office/drawing/2014/main" id="{64EBEEB3-1563-10EB-788F-B7B39F2B2C22}"/>
              </a:ext>
            </a:extLst>
          </p:cNvPr>
          <p:cNvSpPr>
            <a:spLocks noGrp="1"/>
          </p:cNvSpPr>
          <p:nvPr>
            <p:ph type="sldNum" sz="quarter" idx="12"/>
          </p:nvPr>
        </p:nvSpPr>
        <p:spPr/>
        <p:txBody>
          <a:bodyPr/>
          <a:lstStyle/>
          <a:p>
            <a:fld id="{1370230A-709D-4205-8636-A3280FD27E74}" type="slidenum">
              <a:rPr lang="en-US" smtClean="0"/>
              <a:t>32</a:t>
            </a:fld>
            <a:endParaRPr lang="en-US"/>
          </a:p>
        </p:txBody>
      </p:sp>
    </p:spTree>
    <p:extLst>
      <p:ext uri="{BB962C8B-B14F-4D97-AF65-F5344CB8AC3E}">
        <p14:creationId xmlns:p14="http://schemas.microsoft.com/office/powerpoint/2010/main" val="2168458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3CA72-16E7-DDAA-1628-E260466B4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DDADE-FFE6-D12E-5534-DA5D9380E36E}"/>
              </a:ext>
            </a:extLst>
          </p:cNvPr>
          <p:cNvSpPr>
            <a:spLocks noGrp="1"/>
          </p:cNvSpPr>
          <p:nvPr>
            <p:ph type="title"/>
          </p:nvPr>
        </p:nvSpPr>
        <p:spPr/>
        <p:txBody>
          <a:bodyPr/>
          <a:lstStyle/>
          <a:p>
            <a:r>
              <a:rPr lang="en-US" dirty="0"/>
              <a:t>Evaluation Logic</a:t>
            </a:r>
          </a:p>
        </p:txBody>
      </p:sp>
      <p:sp>
        <p:nvSpPr>
          <p:cNvPr id="4" name="Slide Number Placeholder 3">
            <a:extLst>
              <a:ext uri="{FF2B5EF4-FFF2-40B4-BE49-F238E27FC236}">
                <a16:creationId xmlns:a16="http://schemas.microsoft.com/office/drawing/2014/main" id="{B37ABEF5-B5EB-D612-B0C2-A327DCC3B91A}"/>
              </a:ext>
            </a:extLst>
          </p:cNvPr>
          <p:cNvSpPr>
            <a:spLocks noGrp="1"/>
          </p:cNvSpPr>
          <p:nvPr>
            <p:ph type="sldNum" sz="quarter" idx="12"/>
          </p:nvPr>
        </p:nvSpPr>
        <p:spPr/>
        <p:txBody>
          <a:bodyPr/>
          <a:lstStyle/>
          <a:p>
            <a:fld id="{1370230A-709D-4205-8636-A3280FD27E74}" type="slidenum">
              <a:rPr lang="en-US" smtClean="0"/>
              <a:t>33</a:t>
            </a:fld>
            <a:endParaRPr lang="en-US"/>
          </a:p>
        </p:txBody>
      </p:sp>
      <p:grpSp>
        <p:nvGrpSpPr>
          <p:cNvPr id="8" name="Group 7">
            <a:extLst>
              <a:ext uri="{FF2B5EF4-FFF2-40B4-BE49-F238E27FC236}">
                <a16:creationId xmlns:a16="http://schemas.microsoft.com/office/drawing/2014/main" id="{5C3FC93A-1F7D-DA5C-91E6-970EB8F48611}"/>
              </a:ext>
            </a:extLst>
          </p:cNvPr>
          <p:cNvGrpSpPr/>
          <p:nvPr/>
        </p:nvGrpSpPr>
        <p:grpSpPr>
          <a:xfrm>
            <a:off x="1306271" y="2497063"/>
            <a:ext cx="9579458" cy="2741407"/>
            <a:chOff x="1098927" y="2449561"/>
            <a:chExt cx="9579458" cy="2741407"/>
          </a:xfrm>
        </p:grpSpPr>
        <p:sp>
          <p:nvSpPr>
            <p:cNvPr id="9" name="Rectangle: Rounded Corners 8">
              <a:extLst>
                <a:ext uri="{FF2B5EF4-FFF2-40B4-BE49-F238E27FC236}">
                  <a16:creationId xmlns:a16="http://schemas.microsoft.com/office/drawing/2014/main" id="{44A569CE-0BE7-3346-52E6-C63858281192}"/>
                </a:ext>
              </a:extLst>
            </p:cNvPr>
            <p:cNvSpPr/>
            <p:nvPr/>
          </p:nvSpPr>
          <p:spPr>
            <a:xfrm>
              <a:off x="2299659" y="3095240"/>
              <a:ext cx="3142022" cy="2095728"/>
            </a:xfrm>
            <a:prstGeom prst="round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02724" tIns="184912" rIns="184912" bIns="184912" numCol="1" spcCol="1270" anchor="ctr" anchorCtr="0">
              <a:noAutofit/>
            </a:bodyPr>
            <a:lstStyle/>
            <a:p>
              <a:pPr marL="0" lvl="0" indent="0" algn="l" defTabSz="1155700">
                <a:lnSpc>
                  <a:spcPct val="90000"/>
                </a:lnSpc>
                <a:spcBef>
                  <a:spcPct val="0"/>
                </a:spcBef>
                <a:spcAft>
                  <a:spcPct val="35000"/>
                </a:spcAft>
                <a:buNone/>
              </a:pPr>
              <a:r>
                <a:rPr lang="en-US" sz="2600" b="0" i="0" kern="1200" dirty="0"/>
                <a:t>compare predicted ranks with realized risk ranks</a:t>
              </a:r>
              <a:endParaRPr lang="en-US" sz="2600" kern="1200" dirty="0"/>
            </a:p>
          </p:txBody>
        </p:sp>
        <p:sp>
          <p:nvSpPr>
            <p:cNvPr id="10" name="Freeform: Shape 9">
              <a:extLst>
                <a:ext uri="{FF2B5EF4-FFF2-40B4-BE49-F238E27FC236}">
                  <a16:creationId xmlns:a16="http://schemas.microsoft.com/office/drawing/2014/main" id="{126D8EE1-B5A1-5B48-C3BD-0E0CDE98963A}"/>
                </a:ext>
              </a:extLst>
            </p:cNvPr>
            <p:cNvSpPr/>
            <p:nvPr/>
          </p:nvSpPr>
          <p:spPr>
            <a:xfrm>
              <a:off x="1098927" y="2449561"/>
              <a:ext cx="1635551" cy="1635551"/>
            </a:xfrm>
            <a:custGeom>
              <a:avLst/>
              <a:gdLst>
                <a:gd name="csX0" fmla="*/ 0 w 2094681"/>
                <a:gd name="csY0" fmla="*/ 1047341 h 2094681"/>
                <a:gd name="csX1" fmla="*/ 1047341 w 2094681"/>
                <a:gd name="csY1" fmla="*/ 0 h 2094681"/>
                <a:gd name="csX2" fmla="*/ 2094682 w 2094681"/>
                <a:gd name="csY2" fmla="*/ 1047341 h 2094681"/>
                <a:gd name="csX3" fmla="*/ 1047341 w 2094681"/>
                <a:gd name="csY3" fmla="*/ 2094682 h 2094681"/>
                <a:gd name="csX4" fmla="*/ 0 w 2094681"/>
                <a:gd name="csY4" fmla="*/ 1047341 h 2094681"/>
              </a:gdLst>
              <a:ahLst/>
              <a:cxnLst>
                <a:cxn ang="0">
                  <a:pos x="csX0" y="csY0"/>
                </a:cxn>
                <a:cxn ang="0">
                  <a:pos x="csX1" y="csY1"/>
                </a:cxn>
                <a:cxn ang="0">
                  <a:pos x="csX2" y="csY2"/>
                </a:cxn>
                <a:cxn ang="0">
                  <a:pos x="csX3" y="csY3"/>
                </a:cxn>
                <a:cxn ang="0">
                  <a:pos x="csX4" y="csY4"/>
                </a:cxn>
              </a:cxnLst>
              <a:rect l="l" t="t" r="r" b="b"/>
              <a:pathLst>
                <a:path w="2094681" h="2094681">
                  <a:moveTo>
                    <a:pt x="0" y="1047341"/>
                  </a:moveTo>
                  <a:cubicBezTo>
                    <a:pt x="0" y="468911"/>
                    <a:pt x="468911" y="0"/>
                    <a:pt x="1047341" y="0"/>
                  </a:cubicBezTo>
                  <a:cubicBezTo>
                    <a:pt x="1625771" y="0"/>
                    <a:pt x="2094682" y="468911"/>
                    <a:pt x="2094682" y="1047341"/>
                  </a:cubicBezTo>
                  <a:cubicBezTo>
                    <a:pt x="2094682" y="1625771"/>
                    <a:pt x="1625771" y="2094682"/>
                    <a:pt x="1047341" y="2094682"/>
                  </a:cubicBezTo>
                  <a:cubicBezTo>
                    <a:pt x="468911" y="2094682"/>
                    <a:pt x="0" y="1625771"/>
                    <a:pt x="0" y="1047341"/>
                  </a:cubicBez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306759" tIns="306759" rIns="306759" bIns="306759" numCol="1" spcCol="1270" anchor="ctr" anchorCtr="0">
              <a:noAutofit/>
            </a:bodyPr>
            <a:lstStyle/>
            <a:p>
              <a:pPr marL="0" lvl="0" indent="0" algn="ctr" defTabSz="2311400">
                <a:lnSpc>
                  <a:spcPct val="90000"/>
                </a:lnSpc>
                <a:spcBef>
                  <a:spcPct val="0"/>
                </a:spcBef>
                <a:spcAft>
                  <a:spcPct val="35000"/>
                </a:spcAft>
                <a:buNone/>
              </a:pPr>
              <a:r>
                <a:rPr lang="en-US" sz="3600" kern="1200" dirty="0"/>
                <a:t>Stage 1</a:t>
              </a:r>
            </a:p>
          </p:txBody>
        </p:sp>
        <p:sp>
          <p:nvSpPr>
            <p:cNvPr id="11" name="Rectangle: Rounded Corners 10">
              <a:extLst>
                <a:ext uri="{FF2B5EF4-FFF2-40B4-BE49-F238E27FC236}">
                  <a16:creationId xmlns:a16="http://schemas.microsoft.com/office/drawing/2014/main" id="{33F023E7-CE32-2DE4-401D-4BCCEFFF5D36}"/>
                </a:ext>
              </a:extLst>
            </p:cNvPr>
            <p:cNvSpPr/>
            <p:nvPr/>
          </p:nvSpPr>
          <p:spPr>
            <a:xfrm>
              <a:off x="7536363" y="3095240"/>
              <a:ext cx="3142022" cy="2095728"/>
            </a:xfrm>
            <a:prstGeom prst="round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02723" tIns="184912" rIns="184913" bIns="184912" numCol="1" spcCol="1270" anchor="ctr" anchorCtr="0">
              <a:noAutofit/>
            </a:bodyPr>
            <a:lstStyle/>
            <a:p>
              <a:pPr marL="0" lvl="0" indent="0" algn="l" defTabSz="1155700">
                <a:lnSpc>
                  <a:spcPct val="90000"/>
                </a:lnSpc>
                <a:spcBef>
                  <a:spcPct val="0"/>
                </a:spcBef>
                <a:spcAft>
                  <a:spcPct val="35000"/>
                </a:spcAft>
                <a:buNone/>
              </a:pPr>
              <a:r>
                <a:rPr lang="en-US" sz="2600" b="0" i="0" kern="1200" dirty="0"/>
                <a:t>compare profile universes with the full active universe</a:t>
              </a:r>
              <a:endParaRPr lang="en-US" sz="2600" kern="1200" dirty="0"/>
            </a:p>
          </p:txBody>
        </p:sp>
        <p:sp>
          <p:nvSpPr>
            <p:cNvPr id="12" name="Freeform: Shape 11">
              <a:extLst>
                <a:ext uri="{FF2B5EF4-FFF2-40B4-BE49-F238E27FC236}">
                  <a16:creationId xmlns:a16="http://schemas.microsoft.com/office/drawing/2014/main" id="{DA06E568-9AA0-58AD-C18F-7D9C61EA2AC8}"/>
                </a:ext>
              </a:extLst>
            </p:cNvPr>
            <p:cNvSpPr/>
            <p:nvPr/>
          </p:nvSpPr>
          <p:spPr>
            <a:xfrm>
              <a:off x="6335631" y="2449561"/>
              <a:ext cx="1635551" cy="1635551"/>
            </a:xfrm>
            <a:custGeom>
              <a:avLst/>
              <a:gdLst>
                <a:gd name="csX0" fmla="*/ 0 w 2094681"/>
                <a:gd name="csY0" fmla="*/ 1047341 h 2094681"/>
                <a:gd name="csX1" fmla="*/ 1047341 w 2094681"/>
                <a:gd name="csY1" fmla="*/ 0 h 2094681"/>
                <a:gd name="csX2" fmla="*/ 2094682 w 2094681"/>
                <a:gd name="csY2" fmla="*/ 1047341 h 2094681"/>
                <a:gd name="csX3" fmla="*/ 1047341 w 2094681"/>
                <a:gd name="csY3" fmla="*/ 2094682 h 2094681"/>
                <a:gd name="csX4" fmla="*/ 0 w 2094681"/>
                <a:gd name="csY4" fmla="*/ 1047341 h 2094681"/>
              </a:gdLst>
              <a:ahLst/>
              <a:cxnLst>
                <a:cxn ang="0">
                  <a:pos x="csX0" y="csY0"/>
                </a:cxn>
                <a:cxn ang="0">
                  <a:pos x="csX1" y="csY1"/>
                </a:cxn>
                <a:cxn ang="0">
                  <a:pos x="csX2" y="csY2"/>
                </a:cxn>
                <a:cxn ang="0">
                  <a:pos x="csX3" y="csY3"/>
                </a:cxn>
                <a:cxn ang="0">
                  <a:pos x="csX4" y="csY4"/>
                </a:cxn>
              </a:cxnLst>
              <a:rect l="l" t="t" r="r" b="b"/>
              <a:pathLst>
                <a:path w="2094681" h="2094681">
                  <a:moveTo>
                    <a:pt x="0" y="1047341"/>
                  </a:moveTo>
                  <a:cubicBezTo>
                    <a:pt x="0" y="468911"/>
                    <a:pt x="468911" y="0"/>
                    <a:pt x="1047341" y="0"/>
                  </a:cubicBezTo>
                  <a:cubicBezTo>
                    <a:pt x="1625771" y="0"/>
                    <a:pt x="2094682" y="468911"/>
                    <a:pt x="2094682" y="1047341"/>
                  </a:cubicBezTo>
                  <a:cubicBezTo>
                    <a:pt x="2094682" y="1625771"/>
                    <a:pt x="1625771" y="2094682"/>
                    <a:pt x="1047341" y="2094682"/>
                  </a:cubicBezTo>
                  <a:cubicBezTo>
                    <a:pt x="468911" y="2094682"/>
                    <a:pt x="0" y="1625771"/>
                    <a:pt x="0" y="1047341"/>
                  </a:cubicBez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306759" tIns="306759" rIns="306759" bIns="306759" numCol="1" spcCol="1270" anchor="ctr" anchorCtr="0">
              <a:noAutofit/>
            </a:bodyPr>
            <a:lstStyle/>
            <a:p>
              <a:pPr marL="0" lvl="0" indent="0" algn="ctr" defTabSz="2311400">
                <a:lnSpc>
                  <a:spcPct val="90000"/>
                </a:lnSpc>
                <a:spcBef>
                  <a:spcPct val="0"/>
                </a:spcBef>
                <a:spcAft>
                  <a:spcPct val="35000"/>
                </a:spcAft>
                <a:buNone/>
              </a:pPr>
              <a:r>
                <a:rPr lang="en-US" sz="3600" kern="1200" dirty="0"/>
                <a:t>Stage 2</a:t>
              </a:r>
            </a:p>
          </p:txBody>
        </p:sp>
      </p:grpSp>
      <p:sp>
        <p:nvSpPr>
          <p:cNvPr id="6" name="Rectangle 5">
            <a:extLst>
              <a:ext uri="{FF2B5EF4-FFF2-40B4-BE49-F238E27FC236}">
                <a16:creationId xmlns:a16="http://schemas.microsoft.com/office/drawing/2014/main" id="{A9BDA3D6-C967-B8E8-2D4A-F66F6E3C0212}"/>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21D48F79-F52D-B7D7-4058-64FFC71D4612}"/>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9682387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15A5-7F2E-112D-E47C-2FE80C94359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4B2536-ECA8-EC81-8CFA-0D628B138722}"/>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1544701C-F628-6F3F-F940-B52C93C2A22F}"/>
              </a:ext>
            </a:extLst>
          </p:cNvPr>
          <p:cNvSpPr>
            <a:spLocks noGrp="1"/>
          </p:cNvSpPr>
          <p:nvPr>
            <p:ph type="ctrTitle"/>
          </p:nvPr>
        </p:nvSpPr>
        <p:spPr/>
        <p:txBody>
          <a:bodyPr/>
          <a:lstStyle/>
          <a:p>
            <a:r>
              <a:rPr lang="en-US" dirty="0"/>
              <a:t>Results</a:t>
            </a:r>
          </a:p>
        </p:txBody>
      </p:sp>
      <p:sp>
        <p:nvSpPr>
          <p:cNvPr id="3" name="Slide Number Placeholder 2">
            <a:extLst>
              <a:ext uri="{FF2B5EF4-FFF2-40B4-BE49-F238E27FC236}">
                <a16:creationId xmlns:a16="http://schemas.microsoft.com/office/drawing/2014/main" id="{253B747F-2A86-5BCD-3D7C-3E55DC07C81B}"/>
              </a:ext>
            </a:extLst>
          </p:cNvPr>
          <p:cNvSpPr>
            <a:spLocks noGrp="1"/>
          </p:cNvSpPr>
          <p:nvPr>
            <p:ph type="sldNum" sz="quarter" idx="12"/>
          </p:nvPr>
        </p:nvSpPr>
        <p:spPr/>
        <p:txBody>
          <a:bodyPr/>
          <a:lstStyle/>
          <a:p>
            <a:fld id="{1370230A-709D-4205-8636-A3280FD27E74}" type="slidenum">
              <a:rPr lang="en-US" smtClean="0"/>
              <a:t>34</a:t>
            </a:fld>
            <a:endParaRPr lang="en-US"/>
          </a:p>
        </p:txBody>
      </p:sp>
      <p:sp>
        <p:nvSpPr>
          <p:cNvPr id="9" name="Rectangle 8">
            <a:extLst>
              <a:ext uri="{FF2B5EF4-FFF2-40B4-BE49-F238E27FC236}">
                <a16:creationId xmlns:a16="http://schemas.microsoft.com/office/drawing/2014/main" id="{42830F7D-8751-F5D7-1627-87D68BE83F14}"/>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2750F8D5-BBD4-82EB-75DD-505AB8341A3E}"/>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975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3674-5DE0-20CA-0FE9-47D472065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B6A65-814F-D5B0-BA17-9B2667BFC20B}"/>
              </a:ext>
            </a:extLst>
          </p:cNvPr>
          <p:cNvSpPr>
            <a:spLocks noGrp="1"/>
          </p:cNvSpPr>
          <p:nvPr>
            <p:ph type="title"/>
          </p:nvPr>
        </p:nvSpPr>
        <p:spPr/>
        <p:txBody>
          <a:bodyPr/>
          <a:lstStyle/>
          <a:p>
            <a:r>
              <a:rPr lang="en-US" dirty="0"/>
              <a:t>Ranking Quality</a:t>
            </a:r>
          </a:p>
        </p:txBody>
      </p:sp>
      <p:sp>
        <p:nvSpPr>
          <p:cNvPr id="4" name="Slide Number Placeholder 3">
            <a:extLst>
              <a:ext uri="{FF2B5EF4-FFF2-40B4-BE49-F238E27FC236}">
                <a16:creationId xmlns:a16="http://schemas.microsoft.com/office/drawing/2014/main" id="{7799C7BA-C4B8-BBB1-124C-EBD24C0E9E84}"/>
              </a:ext>
            </a:extLst>
          </p:cNvPr>
          <p:cNvSpPr>
            <a:spLocks noGrp="1"/>
          </p:cNvSpPr>
          <p:nvPr>
            <p:ph type="sldNum" sz="quarter" idx="12"/>
          </p:nvPr>
        </p:nvSpPr>
        <p:spPr/>
        <p:txBody>
          <a:bodyPr/>
          <a:lstStyle/>
          <a:p>
            <a:fld id="{1370230A-709D-4205-8636-A3280FD27E74}" type="slidenum">
              <a:rPr lang="en-US" smtClean="0"/>
              <a:t>35</a:t>
            </a:fld>
            <a:endParaRPr lang="en-US"/>
          </a:p>
        </p:txBody>
      </p:sp>
      <p:sp>
        <p:nvSpPr>
          <p:cNvPr id="6" name="Rectangle 5">
            <a:extLst>
              <a:ext uri="{FF2B5EF4-FFF2-40B4-BE49-F238E27FC236}">
                <a16:creationId xmlns:a16="http://schemas.microsoft.com/office/drawing/2014/main" id="{BEF09A94-88DB-DACE-40EA-8F7007B66C17}"/>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38F5017-6895-12B4-CA1B-C74D895CA3EA}"/>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5" name="Content Placeholder 34">
            <a:extLst>
              <a:ext uri="{FF2B5EF4-FFF2-40B4-BE49-F238E27FC236}">
                <a16:creationId xmlns:a16="http://schemas.microsoft.com/office/drawing/2014/main" id="{E785BC03-083F-03CE-9393-22EB400080ED}"/>
              </a:ext>
            </a:extLst>
          </p:cNvPr>
          <p:cNvSpPr>
            <a:spLocks noGrp="1"/>
          </p:cNvSpPr>
          <p:nvPr>
            <p:ph idx="13"/>
          </p:nvPr>
        </p:nvSpPr>
        <p:spPr/>
        <p:txBody>
          <a:bodyPr/>
          <a:lstStyle/>
          <a:p>
            <a:pPr>
              <a:buFont typeface="Courier New" panose="02070309020205020404" pitchFamily="49" charset="0"/>
              <a:buChar char="o"/>
            </a:pPr>
            <a:r>
              <a:rPr lang="en-US" dirty="0"/>
              <a:t> Mean reward: 0.75</a:t>
            </a:r>
          </a:p>
          <a:p>
            <a:pPr>
              <a:buFont typeface="Courier New" panose="02070309020205020404" pitchFamily="49" charset="0"/>
              <a:buChar char="o"/>
            </a:pPr>
            <a:r>
              <a:rPr lang="en-US" dirty="0"/>
              <a:t> Mean Spearman correlation: 0.67</a:t>
            </a:r>
          </a:p>
          <a:p>
            <a:pPr>
              <a:buFont typeface="Courier New" panose="02070309020205020404" pitchFamily="49" charset="0"/>
              <a:buChar char="o"/>
            </a:pPr>
            <a:r>
              <a:rPr lang="en-US" dirty="0"/>
              <a:t> Predicted rankings meaningfully align with realized-risk rankings</a:t>
            </a:r>
          </a:p>
        </p:txBody>
      </p:sp>
      <p:pic>
        <p:nvPicPr>
          <p:cNvPr id="37" name="Picture 36" descr="Updated rank alignment visual">
            <a:extLst>
              <a:ext uri="{FF2B5EF4-FFF2-40B4-BE49-F238E27FC236}">
                <a16:creationId xmlns:a16="http://schemas.microsoft.com/office/drawing/2014/main" id="{A82D3A69-140F-BD30-C977-D28970838503}"/>
              </a:ext>
            </a:extLst>
          </p:cNvPr>
          <p:cNvPicPr>
            <a:picLocks noChangeAspect="1"/>
          </p:cNvPicPr>
          <p:nvPr/>
        </p:nvPicPr>
        <p:blipFill>
          <a:blip r:embed="rId3"/>
          <a:stretch>
            <a:fillRect/>
          </a:stretch>
        </p:blipFill>
        <p:spPr>
          <a:xfrm>
            <a:off x="3648585" y="1905000"/>
            <a:ext cx="4591901" cy="4526635"/>
          </a:xfrm>
          <a:prstGeom prst="rect">
            <a:avLst/>
          </a:prstGeom>
        </p:spPr>
      </p:pic>
    </p:spTree>
    <p:extLst>
      <p:ext uri="{BB962C8B-B14F-4D97-AF65-F5344CB8AC3E}">
        <p14:creationId xmlns:p14="http://schemas.microsoft.com/office/powerpoint/2010/main" val="3420627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xit" presetSubtype="0" fill="hold" grpId="0" nodeType="withEffect">
                                  <p:stCondLst>
                                    <p:cond delay="0"/>
                                  </p:stCondLst>
                                  <p:childTnLst>
                                    <p:animEffect transition="out" filter="fade">
                                      <p:cBhvr>
                                        <p:cTn id="9" dur="500"/>
                                        <p:tgtEl>
                                          <p:spTgt spid="35">
                                            <p:txEl>
                                              <p:pRg st="0" end="0"/>
                                            </p:txEl>
                                          </p:spTgt>
                                        </p:tgtEl>
                                      </p:cBhvr>
                                    </p:animEffect>
                                    <p:set>
                                      <p:cBhvr>
                                        <p:cTn id="10" dur="1" fill="hold">
                                          <p:stCondLst>
                                            <p:cond delay="499"/>
                                          </p:stCondLst>
                                        </p:cTn>
                                        <p:tgtEl>
                                          <p:spTgt spid="35">
                                            <p:txEl>
                                              <p:pRg st="0" end="0"/>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35">
                                            <p:txEl>
                                              <p:pRg st="1" end="1"/>
                                            </p:txEl>
                                          </p:spTgt>
                                        </p:tgtEl>
                                      </p:cBhvr>
                                    </p:animEffect>
                                    <p:set>
                                      <p:cBhvr>
                                        <p:cTn id="13" dur="1" fill="hold">
                                          <p:stCondLst>
                                            <p:cond delay="499"/>
                                          </p:stCondLst>
                                        </p:cTn>
                                        <p:tgtEl>
                                          <p:spTgt spid="35">
                                            <p:txEl>
                                              <p:pRg st="1" end="1"/>
                                            </p:txEl>
                                          </p:spTgt>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35">
                                            <p:txEl>
                                              <p:pRg st="2" end="2"/>
                                            </p:txEl>
                                          </p:spTgt>
                                        </p:tgtEl>
                                      </p:cBhvr>
                                    </p:animEffect>
                                    <p:set>
                                      <p:cBhvr>
                                        <p:cTn id="16" dur="1" fill="hold">
                                          <p:stCondLst>
                                            <p:cond delay="499"/>
                                          </p:stCondLst>
                                        </p:cTn>
                                        <p:tgtEl>
                                          <p:spTgt spid="35">
                                            <p:txEl>
                                              <p:pRg st="2" end="2"/>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8EC8-24B5-7FA3-1936-5089DDD0039D}"/>
              </a:ext>
            </a:extLst>
          </p:cNvPr>
          <p:cNvSpPr>
            <a:spLocks noGrp="1"/>
          </p:cNvSpPr>
          <p:nvPr>
            <p:ph type="title"/>
          </p:nvPr>
        </p:nvSpPr>
        <p:spPr/>
        <p:txBody>
          <a:bodyPr/>
          <a:lstStyle/>
          <a:p>
            <a:r>
              <a:rPr lang="en-US" dirty="0"/>
              <a:t>Risk Separation</a:t>
            </a:r>
          </a:p>
        </p:txBody>
      </p:sp>
      <p:sp>
        <p:nvSpPr>
          <p:cNvPr id="4" name="Slide Number Placeholder 3">
            <a:extLst>
              <a:ext uri="{FF2B5EF4-FFF2-40B4-BE49-F238E27FC236}">
                <a16:creationId xmlns:a16="http://schemas.microsoft.com/office/drawing/2014/main" id="{8B8E5BC4-0926-59FA-A9AF-74C4FBA7225B}"/>
              </a:ext>
            </a:extLst>
          </p:cNvPr>
          <p:cNvSpPr>
            <a:spLocks noGrp="1"/>
          </p:cNvSpPr>
          <p:nvPr>
            <p:ph type="sldNum" sz="quarter" idx="12"/>
          </p:nvPr>
        </p:nvSpPr>
        <p:spPr/>
        <p:txBody>
          <a:bodyPr/>
          <a:lstStyle/>
          <a:p>
            <a:fld id="{1370230A-709D-4205-8636-A3280FD27E74}" type="slidenum">
              <a:rPr lang="en-US" smtClean="0"/>
              <a:t>36</a:t>
            </a:fld>
            <a:endParaRPr lang="en-US"/>
          </a:p>
        </p:txBody>
      </p:sp>
      <p:sp>
        <p:nvSpPr>
          <p:cNvPr id="5" name="TextBox 4">
            <a:extLst>
              <a:ext uri="{FF2B5EF4-FFF2-40B4-BE49-F238E27FC236}">
                <a16:creationId xmlns:a16="http://schemas.microsoft.com/office/drawing/2014/main" id="{D4326A8D-26C5-4441-AB1B-1494BCB00801}"/>
              </a:ext>
            </a:extLst>
          </p:cNvPr>
          <p:cNvSpPr txBox="1"/>
          <p:nvPr/>
        </p:nvSpPr>
        <p:spPr>
          <a:xfrm>
            <a:off x="1600200" y="1955800"/>
            <a:ext cx="9499600" cy="304800"/>
          </a:xfrm>
          <a:prstGeom prst="rect">
            <a:avLst/>
          </a:prstGeom>
          <a:noFill/>
        </p:spPr>
        <p:txBody>
          <a:bodyPr vertOverflow="overflow" vert="horz" wrap="square" rtlCol="0" anchor="t">
            <a:noAutofit/>
          </a:bodyPr>
          <a:lstStyle/>
          <a:p>
            <a:pPr algn="l"/>
            <a:r>
              <a:rPr lang="en-US" sz="1450" dirty="0">
                <a:solidFill>
                  <a:srgbClr val="071426"/>
                </a:solidFill>
                <a:latin typeface="Aptos Display"/>
              </a:rPr>
              <a:t>Conservative, Full Universe, Balanced, and Aggressive universes mean realized risk across testing period</a:t>
            </a:r>
          </a:p>
        </p:txBody>
      </p:sp>
      <p:sp>
        <p:nvSpPr>
          <p:cNvPr id="6" name="TextBox 5">
            <a:extLst>
              <a:ext uri="{FF2B5EF4-FFF2-40B4-BE49-F238E27FC236}">
                <a16:creationId xmlns:a16="http://schemas.microsoft.com/office/drawing/2014/main" id="{C849853A-F912-4AD9-B127-C5CFD8C143FA}"/>
              </a:ext>
            </a:extLst>
          </p:cNvPr>
          <p:cNvSpPr txBox="1"/>
          <p:nvPr/>
        </p:nvSpPr>
        <p:spPr>
          <a:xfrm>
            <a:off x="1600200" y="5969000"/>
            <a:ext cx="9499600" cy="228600"/>
          </a:xfrm>
          <a:prstGeom prst="rect">
            <a:avLst/>
          </a:prstGeom>
          <a:noFill/>
        </p:spPr>
        <p:txBody>
          <a:bodyPr vertOverflow="overflow" vert="horz" wrap="square" rtlCol="0" anchor="t">
            <a:noAutofit/>
          </a:bodyPr>
          <a:lstStyle/>
          <a:p>
            <a:pPr algn="l"/>
            <a:r>
              <a:rPr lang="en-US" sz="950" dirty="0">
                <a:solidFill>
                  <a:srgbClr val="44546A"/>
                </a:solidFill>
                <a:latin typeface="Aptos Display"/>
              </a:rPr>
              <a:t>Monotonic ordering held in 11 of 11 test months.</a:t>
            </a:r>
          </a:p>
        </p:txBody>
      </p:sp>
      <p:graphicFrame>
        <p:nvGraphicFramePr>
          <p:cNvPr id="7" name="Restored risk separation chart"/>
          <p:cNvGraphicFramePr/>
          <p:nvPr/>
        </p:nvGraphicFramePr>
        <p:xfrm>
          <a:off x="1600200" y="2565400"/>
          <a:ext cx="9499600" cy="3098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18493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1B7F-8345-7D68-AD20-A4736C36E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BA707-3F67-90D9-987D-70286401A8AF}"/>
              </a:ext>
            </a:extLst>
          </p:cNvPr>
          <p:cNvSpPr>
            <a:spLocks noGrp="1"/>
          </p:cNvSpPr>
          <p:nvPr>
            <p:ph type="title"/>
          </p:nvPr>
        </p:nvSpPr>
        <p:spPr/>
        <p:txBody>
          <a:bodyPr/>
          <a:lstStyle/>
          <a:p>
            <a:r>
              <a:rPr lang="en-US" dirty="0"/>
              <a:t>Return Separation</a:t>
            </a:r>
          </a:p>
        </p:txBody>
      </p:sp>
      <p:sp>
        <p:nvSpPr>
          <p:cNvPr id="4" name="Slide Number Placeholder 3">
            <a:extLst>
              <a:ext uri="{FF2B5EF4-FFF2-40B4-BE49-F238E27FC236}">
                <a16:creationId xmlns:a16="http://schemas.microsoft.com/office/drawing/2014/main" id="{B376CD98-5B1A-0E15-DB2C-4414F5C37CD0}"/>
              </a:ext>
            </a:extLst>
          </p:cNvPr>
          <p:cNvSpPr>
            <a:spLocks noGrp="1"/>
          </p:cNvSpPr>
          <p:nvPr>
            <p:ph type="sldNum" sz="quarter" idx="12"/>
          </p:nvPr>
        </p:nvSpPr>
        <p:spPr/>
        <p:txBody>
          <a:bodyPr/>
          <a:lstStyle/>
          <a:p>
            <a:fld id="{1370230A-709D-4205-8636-A3280FD27E74}" type="slidenum">
              <a:rPr lang="en-US" smtClean="0"/>
              <a:t>37</a:t>
            </a:fld>
            <a:endParaRPr lang="en-US"/>
          </a:p>
        </p:txBody>
      </p:sp>
      <p:sp>
        <p:nvSpPr>
          <p:cNvPr id="5" name="TextBox 4">
            <a:extLst>
              <a:ext uri="{FF2B5EF4-FFF2-40B4-BE49-F238E27FC236}">
                <a16:creationId xmlns:a16="http://schemas.microsoft.com/office/drawing/2014/main" id="{8C7B7F69-FBEB-45C4-9A06-0587D552249B}"/>
              </a:ext>
            </a:extLst>
          </p:cNvPr>
          <p:cNvSpPr txBox="1"/>
          <p:nvPr/>
        </p:nvSpPr>
        <p:spPr>
          <a:xfrm>
            <a:off x="1600200" y="1955800"/>
            <a:ext cx="9499600" cy="304800"/>
          </a:xfrm>
          <a:prstGeom prst="rect">
            <a:avLst/>
          </a:prstGeom>
          <a:noFill/>
        </p:spPr>
        <p:txBody>
          <a:bodyPr vertOverflow="overflow" vert="horz" wrap="square" rtlCol="0" anchor="t">
            <a:noAutofit/>
          </a:bodyPr>
          <a:lstStyle/>
          <a:p>
            <a:pPr algn="l"/>
            <a:r>
              <a:rPr lang="en-US" sz="1450" dirty="0">
                <a:solidFill>
                  <a:srgbClr val="071426"/>
                </a:solidFill>
                <a:latin typeface="Aptos Display"/>
              </a:rPr>
              <a:t>Return diagnostics used to compare returns against the Full Universe benchmark under the equal-weight allocation rule.</a:t>
            </a:r>
          </a:p>
        </p:txBody>
      </p:sp>
      <p:graphicFrame>
        <p:nvGraphicFramePr>
          <p:cNvPr id="7" name="Restored economic diagnostic histogram"/>
          <p:cNvGraphicFramePr/>
          <p:nvPr/>
        </p:nvGraphicFramePr>
        <p:xfrm>
          <a:off x="1600200" y="2565400"/>
          <a:ext cx="9499600" cy="3098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53038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AB5DB-24D8-D1AE-E3A5-09372C4AB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D4CA9-F0FC-5ACE-28E7-FEF4BC5F854C}"/>
              </a:ext>
            </a:extLst>
          </p:cNvPr>
          <p:cNvSpPr>
            <a:spLocks noGrp="1"/>
          </p:cNvSpPr>
          <p:nvPr>
            <p:ph type="title"/>
          </p:nvPr>
        </p:nvSpPr>
        <p:spPr/>
        <p:txBody>
          <a:bodyPr/>
          <a:lstStyle/>
          <a:p>
            <a:r>
              <a:rPr lang="en-US" dirty="0"/>
              <a:t>Baseline Comparison</a:t>
            </a:r>
          </a:p>
        </p:txBody>
      </p:sp>
      <p:sp>
        <p:nvSpPr>
          <p:cNvPr id="4" name="Slide Number Placeholder 3">
            <a:extLst>
              <a:ext uri="{FF2B5EF4-FFF2-40B4-BE49-F238E27FC236}">
                <a16:creationId xmlns:a16="http://schemas.microsoft.com/office/drawing/2014/main" id="{C402A42C-5C49-66F5-FFDE-73431AA4CE65}"/>
              </a:ext>
            </a:extLst>
          </p:cNvPr>
          <p:cNvSpPr>
            <a:spLocks noGrp="1"/>
          </p:cNvSpPr>
          <p:nvPr>
            <p:ph type="sldNum" sz="quarter" idx="12"/>
          </p:nvPr>
        </p:nvSpPr>
        <p:spPr/>
        <p:txBody>
          <a:bodyPr/>
          <a:lstStyle/>
          <a:p>
            <a:fld id="{1370230A-709D-4205-8636-A3280FD27E74}" type="slidenum">
              <a:rPr lang="en-US" smtClean="0"/>
              <a:t>38</a:t>
            </a:fld>
            <a:endParaRPr lang="en-US"/>
          </a:p>
        </p:txBody>
      </p:sp>
      <p:sp>
        <p:nvSpPr>
          <p:cNvPr id="6" name="Rectangle 5">
            <a:extLst>
              <a:ext uri="{FF2B5EF4-FFF2-40B4-BE49-F238E27FC236}">
                <a16:creationId xmlns:a16="http://schemas.microsoft.com/office/drawing/2014/main" id="{5AD70B5F-48C9-83BF-E364-ABCFE597276C}"/>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6BD6CDF-5287-B242-E27D-70C130C9F2E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Box 2">
            <a:extLst>
              <a:ext uri="{FF2B5EF4-FFF2-40B4-BE49-F238E27FC236}">
                <a16:creationId xmlns:a16="http://schemas.microsoft.com/office/drawing/2014/main" id="{4D1559CF-3E95-B0A8-03E4-D4DC78ADA7CF}"/>
              </a:ext>
            </a:extLst>
          </p:cNvPr>
          <p:cNvSpPr txBox="1"/>
          <p:nvPr/>
        </p:nvSpPr>
        <p:spPr>
          <a:xfrm>
            <a:off x="1151233" y="1800678"/>
            <a:ext cx="8890000" cy="939800"/>
          </a:xfrm>
          <a:prstGeom prst="rect">
            <a:avLst/>
          </a:prstGeom>
          <a:noFill/>
        </p:spPr>
        <p:txBody>
          <a:bodyPr vertOverflow="overflow" vert="horz" wrap="square" rtlCol="0" anchor="t">
            <a:noAutofit/>
          </a:bodyPr>
          <a:lstStyle/>
          <a:p>
            <a:r>
              <a:rPr lang="en-US" dirty="0"/>
              <a:t>The baseline used is full active universe without filtering</a:t>
            </a:r>
          </a:p>
          <a:p>
            <a:pPr algn="l"/>
            <a:endParaRPr lang="en-US" sz="1400" dirty="0">
              <a:solidFill>
                <a:srgbClr val="071426"/>
              </a:solidFill>
              <a:latin typeface="+mj-lt"/>
            </a:endParaRPr>
          </a:p>
        </p:txBody>
      </p:sp>
      <p:sp>
        <p:nvSpPr>
          <p:cNvPr id="8" name="Rectangle 7">
            <a:extLst>
              <a:ext uri="{FF2B5EF4-FFF2-40B4-BE49-F238E27FC236}">
                <a16:creationId xmlns:a16="http://schemas.microsoft.com/office/drawing/2014/main" id="{024634D3-1727-F77C-DD84-9C41A277DEF3}"/>
              </a:ext>
            </a:extLst>
          </p:cNvPr>
          <p:cNvSpPr/>
          <p:nvPr/>
        </p:nvSpPr>
        <p:spPr>
          <a:xfrm>
            <a:off x="6088380" y="3109243"/>
            <a:ext cx="15240" cy="2133600"/>
          </a:xfrm>
          <a:prstGeom prst="rect">
            <a:avLst/>
          </a:prstGeom>
          <a:solidFill>
            <a:srgbClr val="07142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Oval 8">
            <a:extLst>
              <a:ext uri="{FF2B5EF4-FFF2-40B4-BE49-F238E27FC236}">
                <a16:creationId xmlns:a16="http://schemas.microsoft.com/office/drawing/2014/main" id="{20E7D9B9-DB3F-D209-39D6-C265C3BA9B71}"/>
              </a:ext>
            </a:extLst>
          </p:cNvPr>
          <p:cNvSpPr/>
          <p:nvPr/>
        </p:nvSpPr>
        <p:spPr>
          <a:xfrm>
            <a:off x="1304849" y="3609526"/>
            <a:ext cx="69850" cy="69850"/>
          </a:xfrm>
          <a:prstGeom prst="ellipse">
            <a:avLst/>
          </a:prstGeom>
          <a:solidFill>
            <a:srgbClr val="00F0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D30760F-32C3-DB6C-2CDA-FC44ECA5DE9C}"/>
              </a:ext>
            </a:extLst>
          </p:cNvPr>
          <p:cNvSpPr txBox="1"/>
          <p:nvPr/>
        </p:nvSpPr>
        <p:spPr>
          <a:xfrm>
            <a:off x="1462378" y="3450776"/>
            <a:ext cx="4543859" cy="457200"/>
          </a:xfrm>
          <a:prstGeom prst="rect">
            <a:avLst/>
          </a:prstGeom>
          <a:noFill/>
        </p:spPr>
        <p:txBody>
          <a:bodyPr vertOverflow="overflow" vert="horz" wrap="square" rtlCol="0" anchor="t">
            <a:noAutofit/>
          </a:bodyPr>
          <a:lstStyle/>
          <a:p>
            <a:pPr algn="l"/>
            <a:r>
              <a:rPr lang="en-US" sz="2050" b="1" dirty="0">
                <a:solidFill>
                  <a:srgbClr val="071426"/>
                </a:solidFill>
                <a:latin typeface="Aptos Display"/>
              </a:rPr>
              <a:t>Conservative Universe</a:t>
            </a:r>
          </a:p>
        </p:txBody>
      </p:sp>
      <p:sp>
        <p:nvSpPr>
          <p:cNvPr id="11" name="TextBox 10">
            <a:extLst>
              <a:ext uri="{FF2B5EF4-FFF2-40B4-BE49-F238E27FC236}">
                <a16:creationId xmlns:a16="http://schemas.microsoft.com/office/drawing/2014/main" id="{D0388CC8-89AC-ACD4-62C8-BA4E0DD05BAC}"/>
              </a:ext>
            </a:extLst>
          </p:cNvPr>
          <p:cNvSpPr txBox="1"/>
          <p:nvPr/>
        </p:nvSpPr>
        <p:spPr>
          <a:xfrm>
            <a:off x="1490622" y="4062320"/>
            <a:ext cx="4038600" cy="787400"/>
          </a:xfrm>
          <a:prstGeom prst="rect">
            <a:avLst/>
          </a:prstGeom>
          <a:noFill/>
        </p:spPr>
        <p:txBody>
          <a:bodyPr vertOverflow="overflow" vert="horz" wrap="square" rtlCol="0" anchor="t">
            <a:noAutofit/>
          </a:bodyPr>
          <a:lstStyle/>
          <a:p>
            <a:r>
              <a:rPr lang="en-US" sz="1750" dirty="0">
                <a:solidFill>
                  <a:srgbClr val="111827"/>
                </a:solidFill>
                <a:latin typeface="Aptos Display"/>
              </a:rPr>
              <a:t>Reduced mean realized risk by </a:t>
            </a:r>
            <a:r>
              <a:rPr lang="en-US" sz="1750" b="1" dirty="0">
                <a:solidFill>
                  <a:srgbClr val="111827"/>
                </a:solidFill>
                <a:latin typeface="Aptos Display"/>
              </a:rPr>
              <a:t>52.2%</a:t>
            </a:r>
          </a:p>
        </p:txBody>
      </p:sp>
      <p:sp>
        <p:nvSpPr>
          <p:cNvPr id="12" name="Oval 11">
            <a:extLst>
              <a:ext uri="{FF2B5EF4-FFF2-40B4-BE49-F238E27FC236}">
                <a16:creationId xmlns:a16="http://schemas.microsoft.com/office/drawing/2014/main" id="{D17038CF-7CFD-98B4-BA8B-12035E3096DB}"/>
              </a:ext>
            </a:extLst>
          </p:cNvPr>
          <p:cNvSpPr/>
          <p:nvPr/>
        </p:nvSpPr>
        <p:spPr>
          <a:xfrm>
            <a:off x="6662778" y="3609526"/>
            <a:ext cx="69850" cy="69850"/>
          </a:xfrm>
          <a:prstGeom prst="ellipse">
            <a:avLst/>
          </a:prstGeom>
          <a:solidFill>
            <a:srgbClr val="00F0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BD77314C-43F1-AAC9-E3F9-73992799B1CE}"/>
              </a:ext>
            </a:extLst>
          </p:cNvPr>
          <p:cNvSpPr txBox="1"/>
          <p:nvPr/>
        </p:nvSpPr>
        <p:spPr>
          <a:xfrm>
            <a:off x="6896913" y="3450776"/>
            <a:ext cx="4114800" cy="457200"/>
          </a:xfrm>
          <a:prstGeom prst="rect">
            <a:avLst/>
          </a:prstGeom>
          <a:noFill/>
        </p:spPr>
        <p:txBody>
          <a:bodyPr vertOverflow="overflow" vert="horz" wrap="square" rtlCol="0" anchor="t">
            <a:noAutofit/>
          </a:bodyPr>
          <a:lstStyle/>
          <a:p>
            <a:pPr algn="l"/>
            <a:r>
              <a:rPr lang="en-US" sz="2050" b="1" dirty="0">
                <a:solidFill>
                  <a:srgbClr val="071426"/>
                </a:solidFill>
                <a:latin typeface="Aptos Display"/>
              </a:rPr>
              <a:t>Aggressive Universe</a:t>
            </a:r>
          </a:p>
        </p:txBody>
      </p:sp>
      <p:sp>
        <p:nvSpPr>
          <p:cNvPr id="14" name="TextBox 13">
            <a:extLst>
              <a:ext uri="{FF2B5EF4-FFF2-40B4-BE49-F238E27FC236}">
                <a16:creationId xmlns:a16="http://schemas.microsoft.com/office/drawing/2014/main" id="{6A3C0EC3-1C53-6214-362F-7277ADDFE503}"/>
              </a:ext>
            </a:extLst>
          </p:cNvPr>
          <p:cNvSpPr txBox="1"/>
          <p:nvPr/>
        </p:nvSpPr>
        <p:spPr>
          <a:xfrm>
            <a:off x="6990080" y="4739133"/>
            <a:ext cx="4165600" cy="787400"/>
          </a:xfrm>
          <a:prstGeom prst="rect">
            <a:avLst/>
          </a:prstGeom>
          <a:noFill/>
        </p:spPr>
        <p:txBody>
          <a:bodyPr vertOverflow="overflow" vert="horz" wrap="square" rtlCol="0" anchor="t">
            <a:noAutofit/>
          </a:bodyPr>
          <a:lstStyle/>
          <a:p>
            <a:pPr algn="l"/>
            <a:r>
              <a:rPr lang="en-US" sz="1750" dirty="0">
                <a:solidFill>
                  <a:srgbClr val="111827"/>
                </a:solidFill>
                <a:latin typeface="Aptos Display"/>
              </a:rPr>
              <a:t>Higher historical cumulative return by </a:t>
            </a:r>
            <a:r>
              <a:rPr lang="en-US" sz="1750" b="1" dirty="0">
                <a:solidFill>
                  <a:srgbClr val="111827"/>
                </a:solidFill>
                <a:latin typeface="Aptos Display"/>
              </a:rPr>
              <a:t>73.9%</a:t>
            </a:r>
          </a:p>
        </p:txBody>
      </p:sp>
      <p:sp>
        <p:nvSpPr>
          <p:cNvPr id="15" name="TextBox 14">
            <a:extLst>
              <a:ext uri="{FF2B5EF4-FFF2-40B4-BE49-F238E27FC236}">
                <a16:creationId xmlns:a16="http://schemas.microsoft.com/office/drawing/2014/main" id="{83B35185-1DB8-3AAD-BE6D-573BF6B1B0DE}"/>
              </a:ext>
            </a:extLst>
          </p:cNvPr>
          <p:cNvSpPr txBox="1"/>
          <p:nvPr/>
        </p:nvSpPr>
        <p:spPr>
          <a:xfrm>
            <a:off x="6990080" y="4062320"/>
            <a:ext cx="4165600" cy="787400"/>
          </a:xfrm>
          <a:prstGeom prst="rect">
            <a:avLst/>
          </a:prstGeom>
          <a:noFill/>
        </p:spPr>
        <p:txBody>
          <a:bodyPr vertOverflow="overflow" vert="horz" wrap="square" rtlCol="0" anchor="t">
            <a:noAutofit/>
          </a:bodyPr>
          <a:lstStyle/>
          <a:p>
            <a:pPr algn="l"/>
            <a:r>
              <a:rPr lang="en-US" sz="1750" dirty="0">
                <a:solidFill>
                  <a:srgbClr val="111827"/>
                </a:solidFill>
                <a:latin typeface="Aptos Display"/>
              </a:rPr>
              <a:t>Increased realized risk by </a:t>
            </a:r>
            <a:r>
              <a:rPr lang="en-US" sz="1750" b="1" dirty="0">
                <a:solidFill>
                  <a:srgbClr val="111827"/>
                </a:solidFill>
                <a:latin typeface="Aptos Display"/>
              </a:rPr>
              <a:t>37.6%</a:t>
            </a:r>
          </a:p>
        </p:txBody>
      </p:sp>
      <p:sp>
        <p:nvSpPr>
          <p:cNvPr id="16" name="TextBox 15">
            <a:extLst>
              <a:ext uri="{FF2B5EF4-FFF2-40B4-BE49-F238E27FC236}">
                <a16:creationId xmlns:a16="http://schemas.microsoft.com/office/drawing/2014/main" id="{3062AB8A-6528-B127-833E-A9A5665FCDF0}"/>
              </a:ext>
            </a:extLst>
          </p:cNvPr>
          <p:cNvSpPr txBox="1"/>
          <p:nvPr/>
        </p:nvSpPr>
        <p:spPr>
          <a:xfrm>
            <a:off x="1462378" y="4739133"/>
            <a:ext cx="4038600" cy="787400"/>
          </a:xfrm>
          <a:prstGeom prst="rect">
            <a:avLst/>
          </a:prstGeom>
          <a:noFill/>
        </p:spPr>
        <p:txBody>
          <a:bodyPr vertOverflow="overflow" vert="horz" wrap="square" rtlCol="0" anchor="t">
            <a:noAutofit/>
          </a:bodyPr>
          <a:lstStyle/>
          <a:p>
            <a:pPr algn="l"/>
            <a:r>
              <a:rPr lang="en-US" sz="1750" dirty="0">
                <a:solidFill>
                  <a:srgbClr val="111827"/>
                </a:solidFill>
                <a:latin typeface="Aptos Display"/>
              </a:rPr>
              <a:t>Lower realized risk in all test months</a:t>
            </a:r>
          </a:p>
        </p:txBody>
      </p:sp>
    </p:spTree>
    <p:extLst>
      <p:ext uri="{BB962C8B-B14F-4D97-AF65-F5344CB8AC3E}">
        <p14:creationId xmlns:p14="http://schemas.microsoft.com/office/powerpoint/2010/main" val="9647337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D9D52-CC5A-BF16-5B9F-E79D96702C2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999BEAF-2E72-73DF-E73D-D84116C055D9}"/>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C43F0D8-DA27-6AEB-A485-6F1095613986}"/>
              </a:ext>
            </a:extLst>
          </p:cNvPr>
          <p:cNvSpPr>
            <a:spLocks noGrp="1"/>
          </p:cNvSpPr>
          <p:nvPr>
            <p:ph type="ctrTitle"/>
          </p:nvPr>
        </p:nvSpPr>
        <p:spPr/>
        <p:txBody>
          <a:bodyPr/>
          <a:lstStyle/>
          <a:p>
            <a:r>
              <a:rPr lang="en-US" dirty="0"/>
              <a:t>Conclusion</a:t>
            </a:r>
          </a:p>
        </p:txBody>
      </p:sp>
      <p:sp>
        <p:nvSpPr>
          <p:cNvPr id="3" name="Slide Number Placeholder 2">
            <a:extLst>
              <a:ext uri="{FF2B5EF4-FFF2-40B4-BE49-F238E27FC236}">
                <a16:creationId xmlns:a16="http://schemas.microsoft.com/office/drawing/2014/main" id="{6E9C0BEA-4E3D-1E19-6481-4578A8D183C8}"/>
              </a:ext>
            </a:extLst>
          </p:cNvPr>
          <p:cNvSpPr>
            <a:spLocks noGrp="1"/>
          </p:cNvSpPr>
          <p:nvPr>
            <p:ph type="sldNum" sz="quarter" idx="12"/>
          </p:nvPr>
        </p:nvSpPr>
        <p:spPr/>
        <p:txBody>
          <a:bodyPr/>
          <a:lstStyle/>
          <a:p>
            <a:fld id="{1370230A-709D-4205-8636-A3280FD27E74}" type="slidenum">
              <a:rPr lang="en-US" smtClean="0"/>
              <a:t>39</a:t>
            </a:fld>
            <a:endParaRPr lang="en-US"/>
          </a:p>
        </p:txBody>
      </p:sp>
      <p:sp>
        <p:nvSpPr>
          <p:cNvPr id="9" name="Rectangle 8">
            <a:extLst>
              <a:ext uri="{FF2B5EF4-FFF2-40B4-BE49-F238E27FC236}">
                <a16:creationId xmlns:a16="http://schemas.microsoft.com/office/drawing/2014/main" id="{72B75C39-476C-E33D-53C4-E2D02CC52168}"/>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C3DF6A21-F194-49D4-3A9A-D47DF55AE682}"/>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66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E34F-4A33-28A7-0170-9B1372B05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A2604-B93C-8903-C2CC-C64CB3B1C31C}"/>
              </a:ext>
            </a:extLst>
          </p:cNvPr>
          <p:cNvSpPr>
            <a:spLocks noGrp="1"/>
          </p:cNvSpPr>
          <p:nvPr>
            <p:ph type="title"/>
          </p:nvPr>
        </p:nvSpPr>
        <p:spPr/>
        <p:txBody>
          <a:bodyPr/>
          <a:lstStyle/>
          <a:p>
            <a:r>
              <a:rPr lang="en-US" dirty="0"/>
              <a:t>Research Question Answers</a:t>
            </a:r>
          </a:p>
        </p:txBody>
      </p:sp>
      <p:sp>
        <p:nvSpPr>
          <p:cNvPr id="4" name="Slide Number Placeholder 3">
            <a:extLst>
              <a:ext uri="{FF2B5EF4-FFF2-40B4-BE49-F238E27FC236}">
                <a16:creationId xmlns:a16="http://schemas.microsoft.com/office/drawing/2014/main" id="{E9B19D73-7C6D-EF3D-4F51-F27F65CD2C2F}"/>
              </a:ext>
            </a:extLst>
          </p:cNvPr>
          <p:cNvSpPr>
            <a:spLocks noGrp="1"/>
          </p:cNvSpPr>
          <p:nvPr>
            <p:ph type="sldNum" sz="quarter" idx="12"/>
          </p:nvPr>
        </p:nvSpPr>
        <p:spPr/>
        <p:txBody>
          <a:bodyPr/>
          <a:lstStyle/>
          <a:p>
            <a:fld id="{1370230A-709D-4205-8636-A3280FD27E74}" type="slidenum">
              <a:rPr lang="en-US" smtClean="0"/>
              <a:t>40</a:t>
            </a:fld>
            <a:endParaRPr lang="en-US"/>
          </a:p>
        </p:txBody>
      </p:sp>
      <p:sp>
        <p:nvSpPr>
          <p:cNvPr id="6" name="Rectangle 5">
            <a:extLst>
              <a:ext uri="{FF2B5EF4-FFF2-40B4-BE49-F238E27FC236}">
                <a16:creationId xmlns:a16="http://schemas.microsoft.com/office/drawing/2014/main" id="{9A5A719C-6953-E763-E8A8-04E8AAEE4BA2}"/>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60E768D6-85A6-F903-CDFD-56166A158578}"/>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7" name="RQA2_card_1">
            <a:extLst>
              <a:ext uri="{FF2B5EF4-FFF2-40B4-BE49-F238E27FC236}">
                <a16:creationId xmlns:a16="http://schemas.microsoft.com/office/drawing/2014/main" id="{0E0B164B-5948-450D-8D6A-CF3BA3098601}"/>
              </a:ext>
            </a:extLst>
          </p:cNvPr>
          <p:cNvSpPr/>
          <p:nvPr/>
        </p:nvSpPr>
        <p:spPr>
          <a:xfrm>
            <a:off x="1371600" y="2413000"/>
            <a:ext cx="3048000" cy="2946400"/>
          </a:xfrm>
          <a:prstGeom prst="rect">
            <a:avLst/>
          </a:prstGeom>
          <a:solidFill>
            <a:srgbClr val="F8F8F8"/>
          </a:solidFill>
          <a:ln w="15875" cap="flat" cmpd="sng" algn="ctr">
            <a:solidFill>
              <a:srgbClr val="0C171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RQA2_dot_1">
            <a:extLst>
              <a:ext uri="{FF2B5EF4-FFF2-40B4-BE49-F238E27FC236}">
                <a16:creationId xmlns:a16="http://schemas.microsoft.com/office/drawing/2014/main" id="{ED21C862-2682-4F08-B235-2AA32E998ED4}"/>
              </a:ext>
            </a:extLst>
          </p:cNvPr>
          <p:cNvSpPr/>
          <p:nvPr/>
        </p:nvSpPr>
        <p:spPr>
          <a:xfrm>
            <a:off x="1600200" y="2692400"/>
            <a:ext cx="88900" cy="88900"/>
          </a:xfrm>
          <a:prstGeom prst="ellipse">
            <a:avLst/>
          </a:prstGeom>
          <a:solidFill>
            <a:srgbClr val="00F7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RQA2_heading_1">
            <a:extLst>
              <a:ext uri="{FF2B5EF4-FFF2-40B4-BE49-F238E27FC236}">
                <a16:creationId xmlns:a16="http://schemas.microsoft.com/office/drawing/2014/main" id="{CC365A62-7BBC-48E6-B90F-C2EF19E8E211}"/>
              </a:ext>
            </a:extLst>
          </p:cNvPr>
          <p:cNvSpPr txBox="1"/>
          <p:nvPr/>
        </p:nvSpPr>
        <p:spPr>
          <a:xfrm>
            <a:off x="1790700" y="2565400"/>
            <a:ext cx="762000" cy="355600"/>
          </a:xfrm>
          <a:prstGeom prst="rect">
            <a:avLst/>
          </a:prstGeom>
          <a:noFill/>
          <a:ln>
            <a:noFill/>
          </a:ln>
        </p:spPr>
        <p:txBody>
          <a:bodyPr vertOverflow="overflow" vert="horz" wrap="square" rtlCol="0" anchor="t">
            <a:normAutofit lnSpcReduction="10000"/>
          </a:bodyPr>
          <a:lstStyle/>
          <a:p>
            <a:pPr algn="l"/>
            <a:r>
              <a:rPr lang="en-US" b="1">
                <a:solidFill>
                  <a:srgbClr val="0C171F"/>
                </a:solidFill>
                <a:latin typeface="Century Gothic"/>
              </a:rPr>
              <a:t>RQ1</a:t>
            </a:r>
          </a:p>
        </p:txBody>
      </p:sp>
      <p:sp>
        <p:nvSpPr>
          <p:cNvPr id="70" name="RQA2_top_rule_1">
            <a:extLst>
              <a:ext uri="{FF2B5EF4-FFF2-40B4-BE49-F238E27FC236}">
                <a16:creationId xmlns:a16="http://schemas.microsoft.com/office/drawing/2014/main" id="{2C4CD5E5-01D2-425D-B20D-45C7C89A290F}"/>
              </a:ext>
            </a:extLst>
          </p:cNvPr>
          <p:cNvSpPr/>
          <p:nvPr/>
        </p:nvSpPr>
        <p:spPr>
          <a:xfrm>
            <a:off x="1600200" y="3060700"/>
            <a:ext cx="2590800" cy="12700"/>
          </a:xfrm>
          <a:prstGeom prst="rect">
            <a:avLst/>
          </a:prstGeom>
          <a:solidFill>
            <a:srgbClr val="0C171F"/>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RQA2_answer_label_1">
            <a:extLst>
              <a:ext uri="{FF2B5EF4-FFF2-40B4-BE49-F238E27FC236}">
                <a16:creationId xmlns:a16="http://schemas.microsoft.com/office/drawing/2014/main" id="{DF84D7B5-3F6C-46A2-8DC9-228AF8E006F4}"/>
              </a:ext>
            </a:extLst>
          </p:cNvPr>
          <p:cNvSpPr txBox="1"/>
          <p:nvPr/>
        </p:nvSpPr>
        <p:spPr>
          <a:xfrm>
            <a:off x="1600200" y="3365500"/>
            <a:ext cx="1143000" cy="203200"/>
          </a:xfrm>
          <a:prstGeom prst="rect">
            <a:avLst/>
          </a:prstGeom>
          <a:noFill/>
          <a:ln>
            <a:noFill/>
          </a:ln>
        </p:spPr>
        <p:txBody>
          <a:bodyPr vertOverflow="overflow" vert="horz" wrap="square" rtlCol="0" anchor="t">
            <a:normAutofit fontScale="92500" lnSpcReduction="10000"/>
          </a:bodyPr>
          <a:lstStyle/>
          <a:p>
            <a:pPr algn="l"/>
            <a:r>
              <a:rPr lang="en-US" sz="850" b="1">
                <a:solidFill>
                  <a:srgbClr val="00F700"/>
                </a:solidFill>
                <a:latin typeface="Century Gothic"/>
              </a:rPr>
              <a:t>ANSWER</a:t>
            </a:r>
          </a:p>
        </p:txBody>
      </p:sp>
      <p:sp>
        <p:nvSpPr>
          <p:cNvPr id="72" name="RQA2_answer_1">
            <a:extLst>
              <a:ext uri="{FF2B5EF4-FFF2-40B4-BE49-F238E27FC236}">
                <a16:creationId xmlns:a16="http://schemas.microsoft.com/office/drawing/2014/main" id="{B695E458-DC5D-47D8-BFE6-2D5BD3EC4851}"/>
              </a:ext>
            </a:extLst>
          </p:cNvPr>
          <p:cNvSpPr txBox="1"/>
          <p:nvPr/>
        </p:nvSpPr>
        <p:spPr>
          <a:xfrm>
            <a:off x="1600200" y="3632200"/>
            <a:ext cx="2590800" cy="1117600"/>
          </a:xfrm>
          <a:prstGeom prst="rect">
            <a:avLst/>
          </a:prstGeom>
          <a:noFill/>
          <a:ln>
            <a:noFill/>
          </a:ln>
        </p:spPr>
        <p:txBody>
          <a:bodyPr vertOverflow="overflow" vert="horz" wrap="square" rtlCol="0" anchor="t">
            <a:normAutofit/>
          </a:bodyPr>
          <a:lstStyle/>
          <a:p>
            <a:pPr algn="l"/>
            <a:r>
              <a:rPr lang="en-US" sz="1200" dirty="0">
                <a:solidFill>
                  <a:srgbClr val="0C171F"/>
                </a:solidFill>
                <a:latin typeface="Calibri"/>
                <a:ea typeface="Calibri"/>
                <a:cs typeface="Calibri"/>
              </a:rPr>
              <a:t>Yes. AI/ML can narrow the active universe by learning historical risk and return patterns, then applying the same diagnostic rule across candidates.</a:t>
            </a:r>
          </a:p>
        </p:txBody>
      </p:sp>
      <p:sp>
        <p:nvSpPr>
          <p:cNvPr id="73" name="RQA2_question_cover_1">
            <a:extLst>
              <a:ext uri="{FF2B5EF4-FFF2-40B4-BE49-F238E27FC236}">
                <a16:creationId xmlns:a16="http://schemas.microsoft.com/office/drawing/2014/main" id="{BBD48913-E1D2-4A00-B427-925A5F392C18}"/>
              </a:ext>
            </a:extLst>
          </p:cNvPr>
          <p:cNvSpPr/>
          <p:nvPr/>
        </p:nvSpPr>
        <p:spPr>
          <a:xfrm>
            <a:off x="1524000" y="3225800"/>
            <a:ext cx="2743200" cy="1549400"/>
          </a:xfrm>
          <a:prstGeom prst="rect">
            <a:avLst/>
          </a:prstGeom>
          <a:ln>
            <a:noFill/>
          </a:ln>
        </p:spPr>
        <p:style>
          <a:lnRef idx="2">
            <a:schemeClr val="accent3"/>
          </a:lnRef>
          <a:fillRef idx="1">
            <a:schemeClr val="lt1"/>
          </a:fillRef>
          <a:effectRef idx="0">
            <a:schemeClr val="accent3"/>
          </a:effectRef>
          <a:fontRef idx="minor">
            <a:schemeClr val="dk1"/>
          </a:fontRef>
        </p:style>
        <p:txBody>
          <a:bodyPr vertOverflow="clip" horzOverflow="clip" wrap="square" rtlCol="0" anchor="t">
            <a:normAutofit/>
          </a:bodyPr>
          <a:lstStyle/>
          <a:p>
            <a:pPr algn="l"/>
            <a:r>
              <a:rPr lang="en-US" sz="1250" dirty="0">
                <a:solidFill>
                  <a:srgbClr val="0C171F"/>
                </a:solidFill>
                <a:latin typeface="Calibri"/>
                <a:ea typeface="Calibri"/>
                <a:cs typeface="Calibri"/>
              </a:rPr>
              <a:t>QUESTION
Can AI/ML support dynamic risk-based universe selection?</a:t>
            </a:r>
          </a:p>
        </p:txBody>
      </p:sp>
      <p:sp>
        <p:nvSpPr>
          <p:cNvPr id="76" name="RQA2_footer_rule_1">
            <a:extLst>
              <a:ext uri="{FF2B5EF4-FFF2-40B4-BE49-F238E27FC236}">
                <a16:creationId xmlns:a16="http://schemas.microsoft.com/office/drawing/2014/main" id="{9EC6D629-5B13-42CD-B175-C988BD167550}"/>
              </a:ext>
            </a:extLst>
          </p:cNvPr>
          <p:cNvSpPr/>
          <p:nvPr/>
        </p:nvSpPr>
        <p:spPr>
          <a:xfrm>
            <a:off x="1600200" y="4749800"/>
            <a:ext cx="2590800" cy="12700"/>
          </a:xfrm>
          <a:prstGeom prst="rect">
            <a:avLst/>
          </a:prstGeom>
          <a:solidFill>
            <a:srgbClr val="1F394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7" name="RQA2_footer_1">
            <a:extLst>
              <a:ext uri="{FF2B5EF4-FFF2-40B4-BE49-F238E27FC236}">
                <a16:creationId xmlns:a16="http://schemas.microsoft.com/office/drawing/2014/main" id="{39E96C68-1BD7-4933-ABDE-93874343DC8B}"/>
              </a:ext>
            </a:extLst>
          </p:cNvPr>
          <p:cNvSpPr txBox="1"/>
          <p:nvPr/>
        </p:nvSpPr>
        <p:spPr>
          <a:xfrm>
            <a:off x="1600200" y="4914900"/>
            <a:ext cx="2590800" cy="228600"/>
          </a:xfrm>
          <a:prstGeom prst="rect">
            <a:avLst/>
          </a:prstGeom>
          <a:noFill/>
          <a:ln>
            <a:noFill/>
          </a:ln>
        </p:spPr>
        <p:txBody>
          <a:bodyPr vertOverflow="overflow" vert="horz" wrap="square" rtlCol="0" anchor="t">
            <a:normAutofit/>
          </a:bodyPr>
          <a:lstStyle/>
          <a:p>
            <a:pPr algn="l"/>
            <a:r>
              <a:rPr lang="en-US" sz="900">
                <a:solidFill>
                  <a:srgbClr val="1F394D"/>
                </a:solidFill>
                <a:latin typeface="Calibri"/>
                <a:ea typeface="Calibri"/>
                <a:cs typeface="Calibri"/>
              </a:rPr>
              <a:t>Universe selection</a:t>
            </a:r>
          </a:p>
        </p:txBody>
      </p:sp>
      <p:sp>
        <p:nvSpPr>
          <p:cNvPr id="78" name="RQA2_card_2">
            <a:extLst>
              <a:ext uri="{FF2B5EF4-FFF2-40B4-BE49-F238E27FC236}">
                <a16:creationId xmlns:a16="http://schemas.microsoft.com/office/drawing/2014/main" id="{4A32E6AB-835E-4067-ABD4-262763322877}"/>
              </a:ext>
            </a:extLst>
          </p:cNvPr>
          <p:cNvSpPr/>
          <p:nvPr/>
        </p:nvSpPr>
        <p:spPr>
          <a:xfrm>
            <a:off x="4851400" y="2413000"/>
            <a:ext cx="3048000" cy="2946400"/>
          </a:xfrm>
          <a:prstGeom prst="rect">
            <a:avLst/>
          </a:prstGeom>
          <a:solidFill>
            <a:srgbClr val="F8F8F8"/>
          </a:solidFill>
          <a:ln w="15875" cap="flat" cmpd="sng" algn="ctr">
            <a:solidFill>
              <a:srgbClr val="0C171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RQA2_dot_2">
            <a:extLst>
              <a:ext uri="{FF2B5EF4-FFF2-40B4-BE49-F238E27FC236}">
                <a16:creationId xmlns:a16="http://schemas.microsoft.com/office/drawing/2014/main" id="{C68EC843-BF26-4E0F-8F02-D7005ACE9D31}"/>
              </a:ext>
            </a:extLst>
          </p:cNvPr>
          <p:cNvSpPr/>
          <p:nvPr/>
        </p:nvSpPr>
        <p:spPr>
          <a:xfrm>
            <a:off x="5080000" y="2692400"/>
            <a:ext cx="88900" cy="88900"/>
          </a:xfrm>
          <a:prstGeom prst="ellipse">
            <a:avLst/>
          </a:prstGeom>
          <a:solidFill>
            <a:srgbClr val="00F7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RQA2_heading_2">
            <a:extLst>
              <a:ext uri="{FF2B5EF4-FFF2-40B4-BE49-F238E27FC236}">
                <a16:creationId xmlns:a16="http://schemas.microsoft.com/office/drawing/2014/main" id="{81D84A85-A936-4602-AC92-4B254AFEB73C}"/>
              </a:ext>
            </a:extLst>
          </p:cNvPr>
          <p:cNvSpPr txBox="1"/>
          <p:nvPr/>
        </p:nvSpPr>
        <p:spPr>
          <a:xfrm>
            <a:off x="5270500" y="2565400"/>
            <a:ext cx="762000" cy="355600"/>
          </a:xfrm>
          <a:prstGeom prst="rect">
            <a:avLst/>
          </a:prstGeom>
          <a:noFill/>
          <a:ln>
            <a:noFill/>
          </a:ln>
        </p:spPr>
        <p:txBody>
          <a:bodyPr vertOverflow="overflow" vert="horz" wrap="square" rtlCol="0" anchor="t">
            <a:normAutofit lnSpcReduction="10000"/>
          </a:bodyPr>
          <a:lstStyle/>
          <a:p>
            <a:pPr algn="l"/>
            <a:r>
              <a:rPr lang="en-US" b="1">
                <a:solidFill>
                  <a:srgbClr val="0C171F"/>
                </a:solidFill>
                <a:latin typeface="Century Gothic"/>
              </a:rPr>
              <a:t>RQ2</a:t>
            </a:r>
          </a:p>
        </p:txBody>
      </p:sp>
      <p:sp>
        <p:nvSpPr>
          <p:cNvPr id="81" name="RQA2_top_rule_2">
            <a:extLst>
              <a:ext uri="{FF2B5EF4-FFF2-40B4-BE49-F238E27FC236}">
                <a16:creationId xmlns:a16="http://schemas.microsoft.com/office/drawing/2014/main" id="{227B37C2-A381-4A18-B2B6-01489F682760}"/>
              </a:ext>
            </a:extLst>
          </p:cNvPr>
          <p:cNvSpPr/>
          <p:nvPr/>
        </p:nvSpPr>
        <p:spPr>
          <a:xfrm>
            <a:off x="5080000" y="3060700"/>
            <a:ext cx="2590800" cy="12700"/>
          </a:xfrm>
          <a:prstGeom prst="rect">
            <a:avLst/>
          </a:prstGeom>
          <a:solidFill>
            <a:srgbClr val="0C171F"/>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QA2_answer_label_2">
            <a:extLst>
              <a:ext uri="{FF2B5EF4-FFF2-40B4-BE49-F238E27FC236}">
                <a16:creationId xmlns:a16="http://schemas.microsoft.com/office/drawing/2014/main" id="{268D38E4-B103-4DD6-B267-6528810A6312}"/>
              </a:ext>
            </a:extLst>
          </p:cNvPr>
          <p:cNvSpPr txBox="1"/>
          <p:nvPr/>
        </p:nvSpPr>
        <p:spPr>
          <a:xfrm>
            <a:off x="5080000" y="3365500"/>
            <a:ext cx="1143000" cy="203200"/>
          </a:xfrm>
          <a:prstGeom prst="rect">
            <a:avLst/>
          </a:prstGeom>
          <a:noFill/>
          <a:ln>
            <a:noFill/>
          </a:ln>
        </p:spPr>
        <p:txBody>
          <a:bodyPr vertOverflow="overflow" vert="horz" wrap="square" rtlCol="0" anchor="t">
            <a:normAutofit fontScale="92500" lnSpcReduction="10000"/>
          </a:bodyPr>
          <a:lstStyle/>
          <a:p>
            <a:pPr algn="l"/>
            <a:r>
              <a:rPr lang="en-US" sz="850" b="1">
                <a:solidFill>
                  <a:srgbClr val="00F700"/>
                </a:solidFill>
                <a:latin typeface="Century Gothic"/>
              </a:rPr>
              <a:t>ANSWER</a:t>
            </a:r>
          </a:p>
        </p:txBody>
      </p:sp>
      <p:sp>
        <p:nvSpPr>
          <p:cNvPr id="83" name="RQA2_answer_2">
            <a:extLst>
              <a:ext uri="{FF2B5EF4-FFF2-40B4-BE49-F238E27FC236}">
                <a16:creationId xmlns:a16="http://schemas.microsoft.com/office/drawing/2014/main" id="{102AD599-9722-46C1-ABEC-64E2DB1A6241}"/>
              </a:ext>
            </a:extLst>
          </p:cNvPr>
          <p:cNvSpPr txBox="1"/>
          <p:nvPr/>
        </p:nvSpPr>
        <p:spPr>
          <a:xfrm>
            <a:off x="5080000" y="3632200"/>
            <a:ext cx="2590800" cy="1117600"/>
          </a:xfrm>
          <a:prstGeom prst="rect">
            <a:avLst/>
          </a:prstGeom>
          <a:noFill/>
          <a:ln>
            <a:noFill/>
          </a:ln>
        </p:spPr>
        <p:txBody>
          <a:bodyPr vertOverflow="overflow" vert="horz" wrap="square" rtlCol="0" anchor="t">
            <a:normAutofit/>
          </a:bodyPr>
          <a:lstStyle/>
          <a:p>
            <a:pPr algn="l"/>
            <a:r>
              <a:rPr lang="en-US" sz="1200">
                <a:solidFill>
                  <a:srgbClr val="0C171F"/>
                </a:solidFill>
                <a:latin typeface="Calibri"/>
                <a:ea typeface="Calibri"/>
                <a:cs typeface="Calibri"/>
              </a:rPr>
              <a:t>Mostly. Conservative filtering aligned with risk reduction, while aggressive filtering captured stronger return participation with higher realized risk.</a:t>
            </a:r>
          </a:p>
        </p:txBody>
      </p:sp>
      <p:sp>
        <p:nvSpPr>
          <p:cNvPr id="84" name="RQA2_question_cover_2">
            <a:extLst>
              <a:ext uri="{FF2B5EF4-FFF2-40B4-BE49-F238E27FC236}">
                <a16:creationId xmlns:a16="http://schemas.microsoft.com/office/drawing/2014/main" id="{4034351F-CB96-4ADE-BFA4-6339187CCC2E}"/>
              </a:ext>
            </a:extLst>
          </p:cNvPr>
          <p:cNvSpPr/>
          <p:nvPr/>
        </p:nvSpPr>
        <p:spPr>
          <a:xfrm>
            <a:off x="5003800" y="3225800"/>
            <a:ext cx="2743200" cy="1549400"/>
          </a:xfrm>
          <a:prstGeom prst="rect">
            <a:avLst/>
          </a:prstGeom>
          <a:ln>
            <a:noFill/>
          </a:ln>
        </p:spPr>
        <p:style>
          <a:lnRef idx="2">
            <a:schemeClr val="accent3"/>
          </a:lnRef>
          <a:fillRef idx="1">
            <a:schemeClr val="lt1"/>
          </a:fillRef>
          <a:effectRef idx="0">
            <a:schemeClr val="accent3"/>
          </a:effectRef>
          <a:fontRef idx="minor">
            <a:schemeClr val="dk1"/>
          </a:fontRef>
        </p:style>
        <p:txBody>
          <a:bodyPr vertOverflow="clip" horzOverflow="clip" wrap="square" rtlCol="0" anchor="t">
            <a:normAutofit/>
          </a:bodyPr>
          <a:lstStyle/>
          <a:p>
            <a:pPr algn="l"/>
            <a:r>
              <a:rPr lang="en-US" sz="1250">
                <a:solidFill>
                  <a:srgbClr val="0C171F"/>
                </a:solidFill>
                <a:latin typeface="Calibri"/>
                <a:ea typeface="Calibri"/>
                <a:cs typeface="Calibri"/>
              </a:rPr>
              <a:t>QUESTION
Do selected universes align with investor profiles?</a:t>
            </a:r>
          </a:p>
        </p:txBody>
      </p:sp>
      <p:sp>
        <p:nvSpPr>
          <p:cNvPr id="87" name="RQA2_footer_rule_2">
            <a:extLst>
              <a:ext uri="{FF2B5EF4-FFF2-40B4-BE49-F238E27FC236}">
                <a16:creationId xmlns:a16="http://schemas.microsoft.com/office/drawing/2014/main" id="{86F5D802-877E-4714-B74B-F6744B4F0953}"/>
              </a:ext>
            </a:extLst>
          </p:cNvPr>
          <p:cNvSpPr/>
          <p:nvPr/>
        </p:nvSpPr>
        <p:spPr>
          <a:xfrm>
            <a:off x="5080000" y="4749800"/>
            <a:ext cx="2590800" cy="12700"/>
          </a:xfrm>
          <a:prstGeom prst="rect">
            <a:avLst/>
          </a:prstGeom>
          <a:solidFill>
            <a:srgbClr val="1F394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QA2_footer_2">
            <a:extLst>
              <a:ext uri="{FF2B5EF4-FFF2-40B4-BE49-F238E27FC236}">
                <a16:creationId xmlns:a16="http://schemas.microsoft.com/office/drawing/2014/main" id="{068BEF45-7A3D-4F2B-92A7-46536EA939E9}"/>
              </a:ext>
            </a:extLst>
          </p:cNvPr>
          <p:cNvSpPr txBox="1"/>
          <p:nvPr/>
        </p:nvSpPr>
        <p:spPr>
          <a:xfrm>
            <a:off x="5080000" y="4914900"/>
            <a:ext cx="2590800" cy="228600"/>
          </a:xfrm>
          <a:prstGeom prst="rect">
            <a:avLst/>
          </a:prstGeom>
          <a:noFill/>
          <a:ln>
            <a:noFill/>
          </a:ln>
        </p:spPr>
        <p:txBody>
          <a:bodyPr vertOverflow="overflow" vert="horz" wrap="square" rtlCol="0" anchor="t">
            <a:normAutofit/>
          </a:bodyPr>
          <a:lstStyle/>
          <a:p>
            <a:pPr algn="l"/>
            <a:r>
              <a:rPr lang="en-US" sz="900">
                <a:solidFill>
                  <a:srgbClr val="1F394D"/>
                </a:solidFill>
                <a:latin typeface="Calibri"/>
                <a:ea typeface="Calibri"/>
                <a:cs typeface="Calibri"/>
              </a:rPr>
              <a:t>Investor suitability</a:t>
            </a:r>
          </a:p>
        </p:txBody>
      </p:sp>
      <p:sp>
        <p:nvSpPr>
          <p:cNvPr id="89" name="RQA2_card_3">
            <a:extLst>
              <a:ext uri="{FF2B5EF4-FFF2-40B4-BE49-F238E27FC236}">
                <a16:creationId xmlns:a16="http://schemas.microsoft.com/office/drawing/2014/main" id="{A7E5FF18-1E55-4971-94D6-2128B15FB5F8}"/>
              </a:ext>
            </a:extLst>
          </p:cNvPr>
          <p:cNvSpPr/>
          <p:nvPr/>
        </p:nvSpPr>
        <p:spPr>
          <a:xfrm>
            <a:off x="8331200" y="2413000"/>
            <a:ext cx="3048000" cy="2946400"/>
          </a:xfrm>
          <a:prstGeom prst="rect">
            <a:avLst/>
          </a:prstGeom>
          <a:solidFill>
            <a:srgbClr val="F8F8F8"/>
          </a:solidFill>
          <a:ln w="15875" cap="flat" cmpd="sng" algn="ctr">
            <a:solidFill>
              <a:srgbClr val="0C171F"/>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RQA2_dot_3">
            <a:extLst>
              <a:ext uri="{FF2B5EF4-FFF2-40B4-BE49-F238E27FC236}">
                <a16:creationId xmlns:a16="http://schemas.microsoft.com/office/drawing/2014/main" id="{B7D8EE04-060F-4246-B86F-76A418FFB97E}"/>
              </a:ext>
            </a:extLst>
          </p:cNvPr>
          <p:cNvSpPr/>
          <p:nvPr/>
        </p:nvSpPr>
        <p:spPr>
          <a:xfrm>
            <a:off x="8559800" y="2692400"/>
            <a:ext cx="88900" cy="88900"/>
          </a:xfrm>
          <a:prstGeom prst="ellipse">
            <a:avLst/>
          </a:prstGeom>
          <a:solidFill>
            <a:srgbClr val="00F7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1" name="RQA2_heading_3">
            <a:extLst>
              <a:ext uri="{FF2B5EF4-FFF2-40B4-BE49-F238E27FC236}">
                <a16:creationId xmlns:a16="http://schemas.microsoft.com/office/drawing/2014/main" id="{03F47DE9-31A8-4143-B32E-257753EFFBE5}"/>
              </a:ext>
            </a:extLst>
          </p:cNvPr>
          <p:cNvSpPr txBox="1"/>
          <p:nvPr/>
        </p:nvSpPr>
        <p:spPr>
          <a:xfrm>
            <a:off x="8750300" y="2565400"/>
            <a:ext cx="762000" cy="355600"/>
          </a:xfrm>
          <a:prstGeom prst="rect">
            <a:avLst/>
          </a:prstGeom>
          <a:noFill/>
          <a:ln>
            <a:noFill/>
          </a:ln>
        </p:spPr>
        <p:txBody>
          <a:bodyPr vertOverflow="overflow" vert="horz" wrap="square" rtlCol="0" anchor="t">
            <a:normAutofit lnSpcReduction="10000"/>
          </a:bodyPr>
          <a:lstStyle/>
          <a:p>
            <a:pPr algn="l"/>
            <a:r>
              <a:rPr lang="en-US" b="1">
                <a:solidFill>
                  <a:srgbClr val="0C171F"/>
                </a:solidFill>
                <a:latin typeface="Century Gothic"/>
              </a:rPr>
              <a:t>RQ3</a:t>
            </a:r>
          </a:p>
        </p:txBody>
      </p:sp>
      <p:sp>
        <p:nvSpPr>
          <p:cNvPr id="92" name="RQA2_top_rule_3">
            <a:extLst>
              <a:ext uri="{FF2B5EF4-FFF2-40B4-BE49-F238E27FC236}">
                <a16:creationId xmlns:a16="http://schemas.microsoft.com/office/drawing/2014/main" id="{92F4F080-361F-4F07-9FD3-16375081A4C3}"/>
              </a:ext>
            </a:extLst>
          </p:cNvPr>
          <p:cNvSpPr/>
          <p:nvPr/>
        </p:nvSpPr>
        <p:spPr>
          <a:xfrm>
            <a:off x="8559800" y="3060700"/>
            <a:ext cx="2590800" cy="12700"/>
          </a:xfrm>
          <a:prstGeom prst="rect">
            <a:avLst/>
          </a:prstGeom>
          <a:solidFill>
            <a:srgbClr val="0C171F"/>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RQA2_answer_label_3">
            <a:extLst>
              <a:ext uri="{FF2B5EF4-FFF2-40B4-BE49-F238E27FC236}">
                <a16:creationId xmlns:a16="http://schemas.microsoft.com/office/drawing/2014/main" id="{6042F1EF-E798-4F3B-90D8-B680FEAC5368}"/>
              </a:ext>
            </a:extLst>
          </p:cNvPr>
          <p:cNvSpPr txBox="1"/>
          <p:nvPr/>
        </p:nvSpPr>
        <p:spPr>
          <a:xfrm>
            <a:off x="8559800" y="3365500"/>
            <a:ext cx="1143000" cy="203200"/>
          </a:xfrm>
          <a:prstGeom prst="rect">
            <a:avLst/>
          </a:prstGeom>
          <a:noFill/>
          <a:ln>
            <a:noFill/>
          </a:ln>
        </p:spPr>
        <p:txBody>
          <a:bodyPr vertOverflow="overflow" vert="horz" wrap="square" rtlCol="0" anchor="t">
            <a:normAutofit fontScale="92500" lnSpcReduction="10000"/>
          </a:bodyPr>
          <a:lstStyle/>
          <a:p>
            <a:pPr algn="l"/>
            <a:r>
              <a:rPr lang="en-US" sz="850" b="1">
                <a:solidFill>
                  <a:srgbClr val="00F700"/>
                </a:solidFill>
                <a:latin typeface="Century Gothic"/>
              </a:rPr>
              <a:t>ANSWER</a:t>
            </a:r>
          </a:p>
        </p:txBody>
      </p:sp>
      <p:sp>
        <p:nvSpPr>
          <p:cNvPr id="94" name="RQA2_answer_3">
            <a:extLst>
              <a:ext uri="{FF2B5EF4-FFF2-40B4-BE49-F238E27FC236}">
                <a16:creationId xmlns:a16="http://schemas.microsoft.com/office/drawing/2014/main" id="{567BED27-727D-4755-9D42-B5227111CB0E}"/>
              </a:ext>
            </a:extLst>
          </p:cNvPr>
          <p:cNvSpPr txBox="1"/>
          <p:nvPr/>
        </p:nvSpPr>
        <p:spPr>
          <a:xfrm>
            <a:off x="8559800" y="3632200"/>
            <a:ext cx="2590800" cy="1117600"/>
          </a:xfrm>
          <a:prstGeom prst="rect">
            <a:avLst/>
          </a:prstGeom>
          <a:noFill/>
          <a:ln>
            <a:noFill/>
          </a:ln>
        </p:spPr>
        <p:txBody>
          <a:bodyPr vertOverflow="overflow" vert="horz" wrap="square" rtlCol="0" anchor="t">
            <a:normAutofit/>
          </a:bodyPr>
          <a:lstStyle/>
          <a:p>
            <a:pPr algn="l"/>
            <a:r>
              <a:rPr lang="en-US" sz="1200">
                <a:solidFill>
                  <a:srgbClr val="0C171F"/>
                </a:solidFill>
                <a:latin typeface="Calibri"/>
                <a:ea typeface="Calibri"/>
                <a:cs typeface="Calibri"/>
              </a:rPr>
              <a:t>Filtering changed the opportunity set under the same equal-weight rule. Conservative reduced realized risk. Aggressive increased realized risk and return participation.</a:t>
            </a:r>
          </a:p>
        </p:txBody>
      </p:sp>
      <p:sp>
        <p:nvSpPr>
          <p:cNvPr id="95" name="RQA2_question_cover_3">
            <a:extLst>
              <a:ext uri="{FF2B5EF4-FFF2-40B4-BE49-F238E27FC236}">
                <a16:creationId xmlns:a16="http://schemas.microsoft.com/office/drawing/2014/main" id="{5DAB3DB9-D8E3-4511-92DC-A95BF0E03DEE}"/>
              </a:ext>
            </a:extLst>
          </p:cNvPr>
          <p:cNvSpPr/>
          <p:nvPr/>
        </p:nvSpPr>
        <p:spPr>
          <a:xfrm>
            <a:off x="8483600" y="3225800"/>
            <a:ext cx="2743200" cy="1549400"/>
          </a:xfrm>
          <a:prstGeom prst="rect">
            <a:avLst/>
          </a:prstGeom>
          <a:ln>
            <a:noFill/>
          </a:ln>
        </p:spPr>
        <p:style>
          <a:lnRef idx="2">
            <a:schemeClr val="accent3"/>
          </a:lnRef>
          <a:fillRef idx="1">
            <a:schemeClr val="lt1"/>
          </a:fillRef>
          <a:effectRef idx="0">
            <a:schemeClr val="accent3"/>
          </a:effectRef>
          <a:fontRef idx="minor">
            <a:schemeClr val="dk1"/>
          </a:fontRef>
        </p:style>
        <p:txBody>
          <a:bodyPr vertOverflow="clip" horzOverflow="clip" wrap="square" rtlCol="0" anchor="t">
            <a:normAutofit/>
          </a:bodyPr>
          <a:lstStyle/>
          <a:p>
            <a:pPr algn="l"/>
            <a:r>
              <a:rPr lang="en-US" sz="1250">
                <a:solidFill>
                  <a:srgbClr val="0C171F"/>
                </a:solidFill>
                <a:latin typeface="Calibri"/>
                <a:ea typeface="Calibri"/>
                <a:cs typeface="Calibri"/>
              </a:rPr>
              <a:t>QUESTION
How do selected universes compare with the full active universe?</a:t>
            </a:r>
          </a:p>
        </p:txBody>
      </p:sp>
      <p:sp>
        <p:nvSpPr>
          <p:cNvPr id="98" name="RQA2_footer_rule_3">
            <a:extLst>
              <a:ext uri="{FF2B5EF4-FFF2-40B4-BE49-F238E27FC236}">
                <a16:creationId xmlns:a16="http://schemas.microsoft.com/office/drawing/2014/main" id="{196CEBD7-B3B0-47FD-BD6A-BE8B1C342FEF}"/>
              </a:ext>
            </a:extLst>
          </p:cNvPr>
          <p:cNvSpPr/>
          <p:nvPr/>
        </p:nvSpPr>
        <p:spPr>
          <a:xfrm>
            <a:off x="8559800" y="4749800"/>
            <a:ext cx="2590800" cy="12700"/>
          </a:xfrm>
          <a:prstGeom prst="rect">
            <a:avLst/>
          </a:prstGeom>
          <a:solidFill>
            <a:srgbClr val="1F394D"/>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RQA2_footer_3">
            <a:extLst>
              <a:ext uri="{FF2B5EF4-FFF2-40B4-BE49-F238E27FC236}">
                <a16:creationId xmlns:a16="http://schemas.microsoft.com/office/drawing/2014/main" id="{30621A20-2FEE-4C2C-AFC2-131BE8AAE78C}"/>
              </a:ext>
            </a:extLst>
          </p:cNvPr>
          <p:cNvSpPr txBox="1"/>
          <p:nvPr/>
        </p:nvSpPr>
        <p:spPr>
          <a:xfrm>
            <a:off x="8559800" y="4914900"/>
            <a:ext cx="2590800" cy="228600"/>
          </a:xfrm>
          <a:prstGeom prst="rect">
            <a:avLst/>
          </a:prstGeom>
          <a:noFill/>
          <a:ln>
            <a:noFill/>
          </a:ln>
        </p:spPr>
        <p:txBody>
          <a:bodyPr vertOverflow="overflow" vert="horz" wrap="square" rtlCol="0" anchor="t">
            <a:normAutofit/>
          </a:bodyPr>
          <a:lstStyle/>
          <a:p>
            <a:pPr algn="l"/>
            <a:r>
              <a:rPr lang="en-US" sz="900">
                <a:solidFill>
                  <a:srgbClr val="1F394D"/>
                </a:solidFill>
                <a:latin typeface="Calibri"/>
                <a:ea typeface="Calibri"/>
                <a:cs typeface="Calibri"/>
              </a:rPr>
              <a:t>Baseline comparison</a:t>
            </a:r>
          </a:p>
        </p:txBody>
      </p:sp>
      <p:sp>
        <p:nvSpPr>
          <p:cNvPr id="100" name="RQA2_caution">
            <a:extLst>
              <a:ext uri="{FF2B5EF4-FFF2-40B4-BE49-F238E27FC236}">
                <a16:creationId xmlns:a16="http://schemas.microsoft.com/office/drawing/2014/main" id="{47634A8B-AB91-4E95-8EFE-F94B866FA938}"/>
              </a:ext>
            </a:extLst>
          </p:cNvPr>
          <p:cNvSpPr txBox="1"/>
          <p:nvPr/>
        </p:nvSpPr>
        <p:spPr>
          <a:xfrm>
            <a:off x="1422400" y="5613400"/>
            <a:ext cx="9144000" cy="304800"/>
          </a:xfrm>
          <a:prstGeom prst="rect">
            <a:avLst/>
          </a:prstGeom>
          <a:noFill/>
          <a:ln>
            <a:noFill/>
          </a:ln>
        </p:spPr>
        <p:txBody>
          <a:bodyPr vertOverflow="overflow" vert="horz" wrap="square" rtlCol="0" anchor="t">
            <a:normAutofit/>
          </a:bodyPr>
          <a:lstStyle/>
          <a:p>
            <a:pPr algn="l"/>
            <a:r>
              <a:rPr lang="en-US" sz="1100">
                <a:solidFill>
                  <a:srgbClr val="1F394D"/>
                </a:solidFill>
                <a:latin typeface="Calibri"/>
                <a:ea typeface="Calibri"/>
                <a:cs typeface="Calibri"/>
              </a:rPr>
              <a:t>Historical diagnostics only. Results indicate past behavior and do not guarantee future performance.</a:t>
            </a:r>
          </a:p>
        </p:txBody>
      </p:sp>
    </p:spTree>
    <p:extLst>
      <p:ext uri="{BB962C8B-B14F-4D97-AF65-F5344CB8AC3E}">
        <p14:creationId xmlns:p14="http://schemas.microsoft.com/office/powerpoint/2010/main" val="4056487901"/>
      </p:ext>
    </p:extLst>
  </p:cSld>
  <p:clrMapOvr>
    <a:masterClrMapping/>
  </p:clrMapOvr>
  <p:timing>
    <p:tnLst>
      <p:par>
        <p:cTn id="1" dur="indefinite" restart="never" nodeType="tmRoot">
          <p:childTnLst>
            <p:seq concurrent="1" nextAc="seek">
              <p:cTn id="2" dur="indefinite" nodeType="mainSeq">
                <p:childTnLst>
                  <p:par>
                    <p:cTn id="3" presetID="10" presetClass="exit" presetSubtype="0" fill="hold" nodeType="clickEffect">
                      <p:stCondLst>
                        <p:cond delay="indefinite"/>
                      </p:stCondLst>
                      <p:childTnLst>
                        <p:animEffect transition="out" filter="fade">
                          <p:cBhvr>
                            <p:cTn id="4" dur="500" fill="hold"/>
                            <p:tgtEl>
                              <p:spTgt spid="73"/>
                            </p:tgtEl>
                          </p:cBhvr>
                        </p:animEffect>
                      </p:childTnLst>
                    </p:cTn>
                  </p:par>
                  <p:par>
                    <p:cTn id="5" presetID="10" presetClass="exit" presetSubtype="0" fill="hold" nodeType="clickEffect">
                      <p:stCondLst>
                        <p:cond delay="indefinite"/>
                      </p:stCondLst>
                      <p:childTnLst>
                        <p:animEffect transition="out" filter="fade">
                          <p:cBhvr>
                            <p:cTn id="6" dur="500" fill="hold"/>
                            <p:tgtEl>
                              <p:spTgt spid="84"/>
                            </p:tgtEl>
                          </p:cBhvr>
                        </p:animEffect>
                      </p:childTnLst>
                    </p:cTn>
                  </p:par>
                  <p:par>
                    <p:cTn id="7" presetID="10" presetClass="exit" presetSubtype="0" fill="hold" nodeType="clickEffect">
                      <p:stCondLst>
                        <p:cond delay="indefinite"/>
                      </p:stCondLst>
                      <p:childTnLst>
                        <p:animEffect transition="out" filter="fade">
                          <p:cBhvr>
                            <p:cTn id="8" dur="500" fill="hold"/>
                            <p:tgtEl>
                              <p:spTgt spid="95"/>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D1AC-5DDE-CF93-0946-1D789193E2D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EA2AA5A-7712-CE85-0446-44BBDFFF900B}"/>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3CC2137-B381-6765-3EA2-9F4FC2B9276A}"/>
              </a:ext>
            </a:extLst>
          </p:cNvPr>
          <p:cNvSpPr>
            <a:spLocks noGrp="1"/>
          </p:cNvSpPr>
          <p:nvPr>
            <p:ph type="ctrTitle"/>
          </p:nvPr>
        </p:nvSpPr>
        <p:spPr/>
        <p:txBody>
          <a:bodyPr/>
          <a:lstStyle/>
          <a:p>
            <a:r>
              <a:rPr lang="en-US" dirty="0"/>
              <a:t>Future Work</a:t>
            </a:r>
          </a:p>
        </p:txBody>
      </p:sp>
      <p:sp>
        <p:nvSpPr>
          <p:cNvPr id="3" name="Slide Number Placeholder 2">
            <a:extLst>
              <a:ext uri="{FF2B5EF4-FFF2-40B4-BE49-F238E27FC236}">
                <a16:creationId xmlns:a16="http://schemas.microsoft.com/office/drawing/2014/main" id="{9A3F4243-6829-3577-F4D1-9AFDDDF06F9D}"/>
              </a:ext>
            </a:extLst>
          </p:cNvPr>
          <p:cNvSpPr>
            <a:spLocks noGrp="1"/>
          </p:cNvSpPr>
          <p:nvPr>
            <p:ph type="sldNum" sz="quarter" idx="12"/>
          </p:nvPr>
        </p:nvSpPr>
        <p:spPr/>
        <p:txBody>
          <a:bodyPr/>
          <a:lstStyle/>
          <a:p>
            <a:fld id="{1370230A-709D-4205-8636-A3280FD27E74}" type="slidenum">
              <a:rPr lang="en-US" smtClean="0"/>
              <a:t>41</a:t>
            </a:fld>
            <a:endParaRPr lang="en-US"/>
          </a:p>
        </p:txBody>
      </p:sp>
      <p:sp>
        <p:nvSpPr>
          <p:cNvPr id="9" name="Rectangle 8">
            <a:extLst>
              <a:ext uri="{FF2B5EF4-FFF2-40B4-BE49-F238E27FC236}">
                <a16:creationId xmlns:a16="http://schemas.microsoft.com/office/drawing/2014/main" id="{26791D62-E96F-A213-85E8-8B9E380A8EBA}"/>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36FC8B30-4035-3013-7C1B-AAFD322C2C8E}"/>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0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72CD-1FA5-5BD7-7549-C6FD2F607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B5452-E424-5FA2-53E3-40E0B407B62F}"/>
              </a:ext>
            </a:extLst>
          </p:cNvPr>
          <p:cNvSpPr>
            <a:spLocks noGrp="1"/>
          </p:cNvSpPr>
          <p:nvPr>
            <p:ph type="title"/>
          </p:nvPr>
        </p:nvSpPr>
        <p:spPr/>
        <p:txBody>
          <a:bodyPr/>
          <a:lstStyle/>
          <a:p>
            <a:r>
              <a:rPr lang="en-US" dirty="0"/>
              <a:t>Live Data and Forward Testing</a:t>
            </a:r>
          </a:p>
        </p:txBody>
      </p:sp>
      <p:sp>
        <p:nvSpPr>
          <p:cNvPr id="4" name="Slide Number Placeholder 3">
            <a:extLst>
              <a:ext uri="{FF2B5EF4-FFF2-40B4-BE49-F238E27FC236}">
                <a16:creationId xmlns:a16="http://schemas.microsoft.com/office/drawing/2014/main" id="{13A43503-5E3E-E433-D210-5B4F5261A98D}"/>
              </a:ext>
            </a:extLst>
          </p:cNvPr>
          <p:cNvSpPr>
            <a:spLocks noGrp="1"/>
          </p:cNvSpPr>
          <p:nvPr>
            <p:ph type="sldNum" sz="quarter" idx="12"/>
          </p:nvPr>
        </p:nvSpPr>
        <p:spPr/>
        <p:txBody>
          <a:bodyPr/>
          <a:lstStyle/>
          <a:p>
            <a:fld id="{1370230A-709D-4205-8636-A3280FD27E74}" type="slidenum">
              <a:rPr lang="en-US" smtClean="0"/>
              <a:t>42</a:t>
            </a:fld>
            <a:endParaRPr lang="en-US"/>
          </a:p>
        </p:txBody>
      </p:sp>
      <p:pic>
        <p:nvPicPr>
          <p:cNvPr id="3" name="Content Placeholder 2" descr="Updated Live Forward-Testing Loop">
            <a:extLst>
              <a:ext uri="{FF2B5EF4-FFF2-40B4-BE49-F238E27FC236}">
                <a16:creationId xmlns:a16="http://schemas.microsoft.com/office/drawing/2014/main" id="{98F2AAE0-5607-42A3-EB2C-3B36BA7F77B7}"/>
              </a:ext>
            </a:extLst>
          </p:cNvPr>
          <p:cNvPicPr>
            <a:picLocks noGrp="1" noChangeAspect="1"/>
          </p:cNvPicPr>
          <p:nvPr>
            <p:ph idx="13"/>
          </p:nvPr>
        </p:nvPicPr>
        <p:blipFill>
          <a:blip r:embed="rId3"/>
          <a:stretch>
            <a:fillRect/>
          </a:stretch>
        </p:blipFill>
        <p:spPr>
          <a:xfrm>
            <a:off x="1392609" y="2942524"/>
            <a:ext cx="9467107" cy="1947676"/>
          </a:xfrm>
          <a:prstGeom prst="rect">
            <a:avLst/>
          </a:prstGeom>
        </p:spPr>
      </p:pic>
      <p:sp>
        <p:nvSpPr>
          <p:cNvPr id="6" name="Rectangle 5">
            <a:extLst>
              <a:ext uri="{FF2B5EF4-FFF2-40B4-BE49-F238E27FC236}">
                <a16:creationId xmlns:a16="http://schemas.microsoft.com/office/drawing/2014/main" id="{AD33A49E-1CD1-153B-22DC-E540F739E85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EF3B326-6448-9FAF-A8B1-0BCE259CE63D}"/>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15061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4AFBC-57C1-671C-2937-91C00058F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2DC4-A870-7360-7669-9DABB4FC4571}"/>
              </a:ext>
            </a:extLst>
          </p:cNvPr>
          <p:cNvSpPr>
            <a:spLocks noGrp="1"/>
          </p:cNvSpPr>
          <p:nvPr>
            <p:ph type="title"/>
          </p:nvPr>
        </p:nvSpPr>
        <p:spPr/>
        <p:txBody>
          <a:bodyPr/>
          <a:lstStyle/>
          <a:p>
            <a:r>
              <a:rPr lang="en-US" dirty="0"/>
              <a:t>Return-Aware Suitability</a:t>
            </a:r>
          </a:p>
        </p:txBody>
      </p:sp>
      <p:sp>
        <p:nvSpPr>
          <p:cNvPr id="4" name="Slide Number Placeholder 3">
            <a:extLst>
              <a:ext uri="{FF2B5EF4-FFF2-40B4-BE49-F238E27FC236}">
                <a16:creationId xmlns:a16="http://schemas.microsoft.com/office/drawing/2014/main" id="{2DA583BF-2BDE-633A-5C25-AACDDF9110B7}"/>
              </a:ext>
            </a:extLst>
          </p:cNvPr>
          <p:cNvSpPr>
            <a:spLocks noGrp="1"/>
          </p:cNvSpPr>
          <p:nvPr>
            <p:ph type="sldNum" sz="quarter" idx="12"/>
          </p:nvPr>
        </p:nvSpPr>
        <p:spPr/>
        <p:txBody>
          <a:bodyPr/>
          <a:lstStyle/>
          <a:p>
            <a:fld id="{1370230A-709D-4205-8636-A3280FD27E74}" type="slidenum">
              <a:rPr lang="en-US" smtClean="0"/>
              <a:t>43</a:t>
            </a:fld>
            <a:endParaRPr lang="en-US"/>
          </a:p>
        </p:txBody>
      </p:sp>
      <p:sp>
        <p:nvSpPr>
          <p:cNvPr id="6" name="Rectangle 5">
            <a:extLst>
              <a:ext uri="{FF2B5EF4-FFF2-40B4-BE49-F238E27FC236}">
                <a16:creationId xmlns:a16="http://schemas.microsoft.com/office/drawing/2014/main" id="{D92A5F04-BDCD-CC33-C444-D39B844EC847}"/>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509B7C6A-99D8-352A-0D4F-B4DCCCC179D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TextBox 9">
            <a:extLst>
              <a:ext uri="{FF2B5EF4-FFF2-40B4-BE49-F238E27FC236}">
                <a16:creationId xmlns:a16="http://schemas.microsoft.com/office/drawing/2014/main" id="{B2F7CF58-F83B-4181-A45C-2CA8CE3A9AF2}"/>
              </a:ext>
            </a:extLst>
          </p:cNvPr>
          <p:cNvSpPr txBox="1"/>
          <p:nvPr/>
        </p:nvSpPr>
        <p:spPr>
          <a:xfrm>
            <a:off x="1151233" y="1800678"/>
            <a:ext cx="8890000" cy="939800"/>
          </a:xfrm>
          <a:prstGeom prst="rect">
            <a:avLst/>
          </a:prstGeom>
          <a:noFill/>
        </p:spPr>
        <p:txBody>
          <a:bodyPr vertOverflow="overflow" vert="horz" wrap="square" rtlCol="0" anchor="t">
            <a:noAutofit/>
          </a:bodyPr>
          <a:lstStyle/>
          <a:p>
            <a:pPr algn="l"/>
            <a:r>
              <a:rPr lang="en-US" sz="1400" dirty="0">
                <a:solidFill>
                  <a:srgbClr val="071426"/>
                </a:solidFill>
                <a:latin typeface="+mj-lt"/>
              </a:rPr>
              <a:t>Return awareness can refine suitability, but it should never override investor risk limits.</a:t>
            </a:r>
          </a:p>
        </p:txBody>
      </p:sp>
      <p:sp>
        <p:nvSpPr>
          <p:cNvPr id="11" name="Rectangle 10">
            <a:extLst>
              <a:ext uri="{FF2B5EF4-FFF2-40B4-BE49-F238E27FC236}">
                <a16:creationId xmlns:a16="http://schemas.microsoft.com/office/drawing/2014/main" id="{128489D2-AFA8-44AB-ADCD-F3FC6D7F38C5}"/>
              </a:ext>
            </a:extLst>
          </p:cNvPr>
          <p:cNvSpPr/>
          <p:nvPr/>
        </p:nvSpPr>
        <p:spPr>
          <a:xfrm>
            <a:off x="6088380" y="3109243"/>
            <a:ext cx="15240" cy="2133600"/>
          </a:xfrm>
          <a:prstGeom prst="rect">
            <a:avLst/>
          </a:prstGeom>
          <a:solidFill>
            <a:srgbClr val="07142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Oval 12">
            <a:extLst>
              <a:ext uri="{FF2B5EF4-FFF2-40B4-BE49-F238E27FC236}">
                <a16:creationId xmlns:a16="http://schemas.microsoft.com/office/drawing/2014/main" id="{7C310EEC-AB52-4AD6-9816-07415DAC27E6}"/>
              </a:ext>
            </a:extLst>
          </p:cNvPr>
          <p:cNvSpPr/>
          <p:nvPr/>
        </p:nvSpPr>
        <p:spPr>
          <a:xfrm>
            <a:off x="1304849" y="3609526"/>
            <a:ext cx="69850" cy="69850"/>
          </a:xfrm>
          <a:prstGeom prst="ellipse">
            <a:avLst/>
          </a:prstGeom>
          <a:solidFill>
            <a:srgbClr val="00F0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5CB260E4-7B44-4484-A20C-9A0AC7483772}"/>
              </a:ext>
            </a:extLst>
          </p:cNvPr>
          <p:cNvSpPr txBox="1"/>
          <p:nvPr/>
        </p:nvSpPr>
        <p:spPr>
          <a:xfrm>
            <a:off x="1462378" y="3450776"/>
            <a:ext cx="4543859" cy="457200"/>
          </a:xfrm>
          <a:prstGeom prst="rect">
            <a:avLst/>
          </a:prstGeom>
          <a:noFill/>
        </p:spPr>
        <p:txBody>
          <a:bodyPr vertOverflow="overflow" vert="horz" wrap="square" rtlCol="0" anchor="t">
            <a:noAutofit/>
          </a:bodyPr>
          <a:lstStyle/>
          <a:p>
            <a:pPr algn="l"/>
            <a:r>
              <a:rPr lang="en-US" sz="2050" b="1" dirty="0">
                <a:solidFill>
                  <a:srgbClr val="071426"/>
                </a:solidFill>
                <a:latin typeface="Aptos Display"/>
              </a:rPr>
              <a:t>Risk suitability defines the boundaries</a:t>
            </a:r>
          </a:p>
        </p:txBody>
      </p:sp>
      <p:sp>
        <p:nvSpPr>
          <p:cNvPr id="15" name="TextBox 14">
            <a:extLst>
              <a:ext uri="{FF2B5EF4-FFF2-40B4-BE49-F238E27FC236}">
                <a16:creationId xmlns:a16="http://schemas.microsoft.com/office/drawing/2014/main" id="{9DAB81A3-08B1-479E-B85E-5C2A5ACBFDA7}"/>
              </a:ext>
            </a:extLst>
          </p:cNvPr>
          <p:cNvSpPr txBox="1"/>
          <p:nvPr/>
        </p:nvSpPr>
        <p:spPr>
          <a:xfrm>
            <a:off x="1490622" y="4062320"/>
            <a:ext cx="4038600" cy="787400"/>
          </a:xfrm>
          <a:prstGeom prst="rect">
            <a:avLst/>
          </a:prstGeom>
          <a:noFill/>
        </p:spPr>
        <p:txBody>
          <a:bodyPr vertOverflow="overflow" vert="horz" wrap="square" rtlCol="0" anchor="t">
            <a:noAutofit/>
          </a:bodyPr>
          <a:lstStyle/>
          <a:p>
            <a:pPr algn="l"/>
            <a:r>
              <a:rPr lang="en-US" sz="1750" dirty="0">
                <a:solidFill>
                  <a:srgbClr val="111827"/>
                </a:solidFill>
                <a:latin typeface="Aptos Display"/>
              </a:rPr>
              <a:t>Choices must remain consistent with
the investor’s risk tolerance without increased risk exposure.</a:t>
            </a:r>
          </a:p>
        </p:txBody>
      </p:sp>
      <p:sp>
        <p:nvSpPr>
          <p:cNvPr id="17" name="Oval 16">
            <a:extLst>
              <a:ext uri="{FF2B5EF4-FFF2-40B4-BE49-F238E27FC236}">
                <a16:creationId xmlns:a16="http://schemas.microsoft.com/office/drawing/2014/main" id="{5B8D2A04-B9B8-47B7-B58E-48CE5BE2389A}"/>
              </a:ext>
            </a:extLst>
          </p:cNvPr>
          <p:cNvSpPr/>
          <p:nvPr/>
        </p:nvSpPr>
        <p:spPr>
          <a:xfrm>
            <a:off x="6662778" y="3609526"/>
            <a:ext cx="69850" cy="69850"/>
          </a:xfrm>
          <a:prstGeom prst="ellipse">
            <a:avLst/>
          </a:prstGeom>
          <a:solidFill>
            <a:srgbClr val="00F000"/>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7D07610A-1FB9-4084-881B-ED4CC7CF31E3}"/>
              </a:ext>
            </a:extLst>
          </p:cNvPr>
          <p:cNvSpPr txBox="1"/>
          <p:nvPr/>
        </p:nvSpPr>
        <p:spPr>
          <a:xfrm>
            <a:off x="6896913" y="3450776"/>
            <a:ext cx="4114800" cy="457200"/>
          </a:xfrm>
          <a:prstGeom prst="rect">
            <a:avLst/>
          </a:prstGeom>
          <a:noFill/>
        </p:spPr>
        <p:txBody>
          <a:bodyPr vertOverflow="overflow" vert="horz" wrap="square" rtlCol="0" anchor="t">
            <a:noAutofit/>
          </a:bodyPr>
          <a:lstStyle/>
          <a:p>
            <a:pPr algn="l"/>
            <a:r>
              <a:rPr lang="en-US" sz="2050" b="1" dirty="0">
                <a:solidFill>
                  <a:srgbClr val="071426"/>
                </a:solidFill>
                <a:latin typeface="Aptos Display"/>
              </a:rPr>
              <a:t>Return awareness adds context</a:t>
            </a:r>
          </a:p>
        </p:txBody>
      </p:sp>
      <p:sp>
        <p:nvSpPr>
          <p:cNvPr id="19" name="TextBox 18">
            <a:extLst>
              <a:ext uri="{FF2B5EF4-FFF2-40B4-BE49-F238E27FC236}">
                <a16:creationId xmlns:a16="http://schemas.microsoft.com/office/drawing/2014/main" id="{CABE72A2-BF00-46F9-B396-B778EEA086CA}"/>
              </a:ext>
            </a:extLst>
          </p:cNvPr>
          <p:cNvSpPr txBox="1"/>
          <p:nvPr/>
        </p:nvSpPr>
        <p:spPr>
          <a:xfrm>
            <a:off x="6896913" y="4062320"/>
            <a:ext cx="4165600" cy="787400"/>
          </a:xfrm>
          <a:prstGeom prst="rect">
            <a:avLst/>
          </a:prstGeom>
          <a:noFill/>
        </p:spPr>
        <p:txBody>
          <a:bodyPr vertOverflow="overflow" vert="horz" wrap="square" rtlCol="0" anchor="t">
            <a:noAutofit/>
          </a:bodyPr>
          <a:lstStyle/>
          <a:p>
            <a:pPr algn="l"/>
            <a:r>
              <a:rPr lang="en-US" sz="1750" dirty="0">
                <a:solidFill>
                  <a:srgbClr val="111827"/>
                </a:solidFill>
                <a:latin typeface="Aptos Display"/>
              </a:rPr>
              <a:t>Return information may support a more
complete suitability assessment while maintaining better returns for investors.</a:t>
            </a:r>
          </a:p>
        </p:txBody>
      </p:sp>
      <p:sp>
        <p:nvSpPr>
          <p:cNvPr id="20" name="TextBox 19">
            <a:extLst>
              <a:ext uri="{FF2B5EF4-FFF2-40B4-BE49-F238E27FC236}">
                <a16:creationId xmlns:a16="http://schemas.microsoft.com/office/drawing/2014/main" id="{2EA27113-D77F-4065-B346-516853C09071}"/>
              </a:ext>
            </a:extLst>
          </p:cNvPr>
          <p:cNvSpPr txBox="1"/>
          <p:nvPr/>
        </p:nvSpPr>
        <p:spPr>
          <a:xfrm>
            <a:off x="4739843" y="6259971"/>
            <a:ext cx="4775200" cy="279400"/>
          </a:xfrm>
          <a:prstGeom prst="rect">
            <a:avLst/>
          </a:prstGeom>
          <a:noFill/>
        </p:spPr>
        <p:txBody>
          <a:bodyPr vertOverflow="overflow" vert="horz" wrap="square" rtlCol="0" anchor="t">
            <a:noAutofit/>
          </a:bodyPr>
          <a:lstStyle/>
          <a:p>
            <a:pPr algn="l"/>
            <a:r>
              <a:rPr lang="en-US" sz="1250" dirty="0">
                <a:solidFill>
                  <a:srgbClr val="071426"/>
                </a:solidFill>
                <a:latin typeface="Aptos Display"/>
              </a:rPr>
              <a:t>Exact integration requires further research.</a:t>
            </a:r>
          </a:p>
        </p:txBody>
      </p:sp>
    </p:spTree>
    <p:extLst>
      <p:ext uri="{BB962C8B-B14F-4D97-AF65-F5344CB8AC3E}">
        <p14:creationId xmlns:p14="http://schemas.microsoft.com/office/powerpoint/2010/main" val="1822701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8AFA-39AD-9513-D64C-AEFDB678BF73}"/>
              </a:ext>
            </a:extLst>
          </p:cNvPr>
          <p:cNvSpPr>
            <a:spLocks noGrp="1"/>
          </p:cNvSpPr>
          <p:nvPr>
            <p:ph type="title"/>
          </p:nvPr>
        </p:nvSpPr>
        <p:spPr/>
        <p:txBody>
          <a:bodyPr/>
          <a:lstStyle/>
          <a:p>
            <a:r>
              <a:rPr lang="en-US" dirty="0"/>
              <a:t>Key References</a:t>
            </a:r>
          </a:p>
        </p:txBody>
      </p:sp>
      <p:sp>
        <p:nvSpPr>
          <p:cNvPr id="4" name="Slide Number Placeholder 3">
            <a:extLst>
              <a:ext uri="{FF2B5EF4-FFF2-40B4-BE49-F238E27FC236}">
                <a16:creationId xmlns:a16="http://schemas.microsoft.com/office/drawing/2014/main" id="{C9822F69-DAAD-B8E5-58DF-15BED3BBA8F6}"/>
              </a:ext>
            </a:extLst>
          </p:cNvPr>
          <p:cNvSpPr>
            <a:spLocks noGrp="1"/>
          </p:cNvSpPr>
          <p:nvPr>
            <p:ph type="sldNum" sz="quarter" idx="12"/>
          </p:nvPr>
        </p:nvSpPr>
        <p:spPr/>
        <p:txBody>
          <a:bodyPr/>
          <a:lstStyle/>
          <a:p>
            <a:fld id="{1370230A-709D-4205-8636-A3280FD27E74}" type="slidenum">
              <a:rPr lang="en-US" smtClean="0"/>
              <a:t>44</a:t>
            </a:fld>
            <a:endParaRPr lang="en-US"/>
          </a:p>
        </p:txBody>
      </p:sp>
      <p:sp>
        <p:nvSpPr>
          <p:cNvPr id="5" name="KR_core_heading_dot"/>
          <p:cNvSpPr/>
          <p:nvPr/>
        </p:nvSpPr>
        <p:spPr>
          <a:xfrm>
            <a:off x="1097280" y="2409472"/>
            <a:ext cx="88900" cy="88900"/>
          </a:xfrm>
          <a:prstGeom prst="ellipse">
            <a:avLst/>
          </a:prstGeom>
          <a:solidFill>
            <a:srgbClr val="00F700"/>
          </a:solidFill>
          <a:ln>
            <a:noFill/>
          </a:ln>
        </p:spPr>
        <p:txBody>
          <a:bodyPr/>
          <a:lstStyle/>
          <a:p>
            <a:endParaRPr lang="en-US" dirty="0"/>
          </a:p>
        </p:txBody>
      </p:sp>
      <p:sp>
        <p:nvSpPr>
          <p:cNvPr id="6" name="KR_core_heading"/>
          <p:cNvSpPr txBox="1"/>
          <p:nvPr/>
        </p:nvSpPr>
        <p:spPr>
          <a:xfrm>
            <a:off x="1300480" y="2282472"/>
            <a:ext cx="4381500" cy="355600"/>
          </a:xfrm>
          <a:prstGeom prst="rect">
            <a:avLst/>
          </a:prstGeom>
          <a:noFill/>
          <a:ln>
            <a:noFill/>
          </a:ln>
        </p:spPr>
        <p:txBody>
          <a:bodyPr wrap="square" lIns="0" tIns="0" rIns="0" bIns="0" anchor="t"/>
          <a:lstStyle/>
          <a:p>
            <a:pPr algn="l"/>
            <a:r>
              <a:rPr lang="en-US" sz="2000" dirty="0">
                <a:solidFill>
                  <a:srgbClr val="0C171F"/>
                </a:solidFill>
                <a:latin typeface="Century Gothic"/>
                <a:cs typeface="Century Gothic"/>
              </a:rPr>
              <a:t>Academic References</a:t>
            </a:r>
            <a:endParaRPr lang="en-US" sz="2000" dirty="0"/>
          </a:p>
        </p:txBody>
      </p:sp>
      <p:sp>
        <p:nvSpPr>
          <p:cNvPr id="7" name="KR_data_heading_dot"/>
          <p:cNvSpPr/>
          <p:nvPr/>
        </p:nvSpPr>
        <p:spPr>
          <a:xfrm>
            <a:off x="7802880" y="2409472"/>
            <a:ext cx="88900" cy="88900"/>
          </a:xfrm>
          <a:prstGeom prst="ellipse">
            <a:avLst/>
          </a:prstGeom>
          <a:solidFill>
            <a:srgbClr val="00F700"/>
          </a:solidFill>
          <a:ln>
            <a:noFill/>
          </a:ln>
        </p:spPr>
        <p:txBody>
          <a:bodyPr/>
          <a:lstStyle/>
          <a:p>
            <a:endParaRPr lang="en-US" dirty="0"/>
          </a:p>
        </p:txBody>
      </p:sp>
      <p:sp>
        <p:nvSpPr>
          <p:cNvPr id="8" name="KR_data_heading"/>
          <p:cNvSpPr txBox="1"/>
          <p:nvPr/>
        </p:nvSpPr>
        <p:spPr>
          <a:xfrm>
            <a:off x="8006080" y="2282472"/>
            <a:ext cx="3048000" cy="355600"/>
          </a:xfrm>
          <a:prstGeom prst="rect">
            <a:avLst/>
          </a:prstGeom>
          <a:noFill/>
          <a:ln>
            <a:noFill/>
          </a:ln>
        </p:spPr>
        <p:txBody>
          <a:bodyPr wrap="square" lIns="0" tIns="0" rIns="0" bIns="0" anchor="t"/>
          <a:lstStyle/>
          <a:p>
            <a:pPr algn="l"/>
            <a:r>
              <a:rPr lang="en-US" sz="2000" dirty="0">
                <a:solidFill>
                  <a:srgbClr val="0C171F"/>
                </a:solidFill>
                <a:latin typeface="Century Gothic"/>
                <a:cs typeface="Century Gothic"/>
              </a:rPr>
              <a:t>Historical Data Sources</a:t>
            </a:r>
            <a:endParaRPr lang="en-US" sz="2000" dirty="0"/>
          </a:p>
        </p:txBody>
      </p:sp>
      <p:sp>
        <p:nvSpPr>
          <p:cNvPr id="9" name="KR_vertical_divider"/>
          <p:cNvSpPr/>
          <p:nvPr/>
        </p:nvSpPr>
        <p:spPr>
          <a:xfrm>
            <a:off x="7269480" y="2320572"/>
            <a:ext cx="15240" cy="3238500"/>
          </a:xfrm>
          <a:prstGeom prst="rect">
            <a:avLst/>
          </a:prstGeom>
          <a:solidFill>
            <a:srgbClr val="1F394D">
              <a:alpha val="45000"/>
            </a:srgbClr>
          </a:solidFill>
          <a:ln>
            <a:noFill/>
          </a:ln>
        </p:spPr>
        <p:txBody>
          <a:bodyPr/>
          <a:lstStyle/>
          <a:p>
            <a:endParaRPr lang="en-US" dirty="0"/>
          </a:p>
        </p:txBody>
      </p:sp>
      <p:sp>
        <p:nvSpPr>
          <p:cNvPr id="20" name="KR_data_source_1"/>
          <p:cNvSpPr txBox="1"/>
          <p:nvPr/>
        </p:nvSpPr>
        <p:spPr>
          <a:xfrm>
            <a:off x="8006080" y="2904772"/>
            <a:ext cx="3175000" cy="5842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Investing.com</a:t>
            </a:r>
            <a:r>
              <a:rPr lang="en-US" sz="1700" dirty="0">
                <a:solidFill>
                  <a:srgbClr val="1F394D"/>
                </a:solidFill>
                <a:latin typeface="Calibri"/>
                <a:cs typeface="Calibri"/>
              </a:rPr>
              <a:t> — historical market-series CSV data</a:t>
            </a:r>
            <a:endParaRPr lang="en-US" sz="1700" dirty="0"/>
          </a:p>
        </p:txBody>
      </p:sp>
      <p:sp>
        <p:nvSpPr>
          <p:cNvPr id="21" name="KR_data_source_2"/>
          <p:cNvSpPr txBox="1"/>
          <p:nvPr/>
        </p:nvSpPr>
        <p:spPr>
          <a:xfrm>
            <a:off x="8006080" y="3781072"/>
            <a:ext cx="3175000" cy="635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Egyptian Exchange (EGX)</a:t>
            </a:r>
            <a:r>
              <a:rPr lang="en-US" sz="1700" dirty="0">
                <a:solidFill>
                  <a:srgbClr val="1F394D"/>
                </a:solidFill>
                <a:latin typeface="Calibri"/>
                <a:cs typeface="Calibri"/>
              </a:rPr>
              <a:t> — Macro-economics data</a:t>
            </a:r>
            <a:endParaRPr lang="en-US" sz="1700" dirty="0"/>
          </a:p>
        </p:txBody>
      </p:sp>
      <p:sp>
        <p:nvSpPr>
          <p:cNvPr id="23" name="KR_core_ref_1"/>
          <p:cNvSpPr txBox="1"/>
          <p:nvPr/>
        </p:nvSpPr>
        <p:spPr>
          <a:xfrm>
            <a:off x="1300480" y="2904772"/>
            <a:ext cx="5461000" cy="381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Markowitz (1952)</a:t>
            </a:r>
            <a:r>
              <a:rPr lang="en-US" sz="1700" dirty="0">
                <a:solidFill>
                  <a:srgbClr val="1F394D"/>
                </a:solidFill>
                <a:latin typeface="Calibri"/>
                <a:cs typeface="Calibri"/>
              </a:rPr>
              <a:t> — Portfolio Selection</a:t>
            </a:r>
            <a:endParaRPr lang="en-US" sz="1700" dirty="0"/>
          </a:p>
        </p:txBody>
      </p:sp>
      <p:sp>
        <p:nvSpPr>
          <p:cNvPr id="24" name="KR_core_ref_2"/>
          <p:cNvSpPr txBox="1"/>
          <p:nvPr/>
        </p:nvSpPr>
        <p:spPr>
          <a:xfrm>
            <a:off x="1300480" y="3450872"/>
            <a:ext cx="5461000" cy="381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Wang et al. (2020)</a:t>
            </a:r>
            <a:r>
              <a:rPr lang="en-US" sz="1700" dirty="0">
                <a:solidFill>
                  <a:srgbClr val="1F394D"/>
                </a:solidFill>
                <a:latin typeface="Calibri"/>
                <a:cs typeface="Calibri"/>
              </a:rPr>
              <a:t> — Deep-Learning Portfolio Preselection</a:t>
            </a:r>
            <a:endParaRPr lang="en-US" sz="1700" dirty="0"/>
          </a:p>
        </p:txBody>
      </p:sp>
      <p:sp>
        <p:nvSpPr>
          <p:cNvPr id="25" name="KR_core_ref_3"/>
          <p:cNvSpPr txBox="1"/>
          <p:nvPr/>
        </p:nvSpPr>
        <p:spPr>
          <a:xfrm>
            <a:off x="1300480" y="3996972"/>
            <a:ext cx="5461000" cy="381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Ma et al. (2021)</a:t>
            </a:r>
            <a:r>
              <a:rPr lang="en-US" sz="1700" dirty="0">
                <a:solidFill>
                  <a:srgbClr val="1F394D"/>
                </a:solidFill>
                <a:latin typeface="Calibri"/>
                <a:cs typeface="Calibri"/>
              </a:rPr>
              <a:t> — Return Prediction and Portfolio Optimization</a:t>
            </a:r>
            <a:endParaRPr lang="en-US" sz="1700" dirty="0"/>
          </a:p>
        </p:txBody>
      </p:sp>
      <p:sp>
        <p:nvSpPr>
          <p:cNvPr id="26" name="KR_core_ref_4"/>
          <p:cNvSpPr txBox="1"/>
          <p:nvPr/>
        </p:nvSpPr>
        <p:spPr>
          <a:xfrm>
            <a:off x="1300480" y="4543072"/>
            <a:ext cx="5461000" cy="381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Chaweewanchon &amp; Chaysiri (2022)</a:t>
            </a:r>
            <a:r>
              <a:rPr lang="en-US" sz="1700" dirty="0">
                <a:solidFill>
                  <a:srgbClr val="1F394D"/>
                </a:solidFill>
                <a:latin typeface="Calibri"/>
                <a:cs typeface="Calibri"/>
              </a:rPr>
              <a:t> — Predictive Stock Selection</a:t>
            </a:r>
            <a:endParaRPr lang="en-US" sz="1700" dirty="0"/>
          </a:p>
        </p:txBody>
      </p:sp>
      <p:sp>
        <p:nvSpPr>
          <p:cNvPr id="27" name="KR_core_ref_5"/>
          <p:cNvSpPr txBox="1"/>
          <p:nvPr/>
        </p:nvSpPr>
        <p:spPr>
          <a:xfrm>
            <a:off x="1300480" y="5089172"/>
            <a:ext cx="5461000" cy="381000"/>
          </a:xfrm>
          <a:prstGeom prst="rect">
            <a:avLst/>
          </a:prstGeom>
          <a:noFill/>
          <a:ln>
            <a:noFill/>
          </a:ln>
        </p:spPr>
        <p:txBody>
          <a:bodyPr wrap="square" lIns="0" tIns="0" rIns="0" bIns="0" anchor="t"/>
          <a:lstStyle/>
          <a:p>
            <a:pPr algn="l"/>
            <a:r>
              <a:rPr lang="en-US" sz="1700" dirty="0">
                <a:solidFill>
                  <a:srgbClr val="0C171F"/>
                </a:solidFill>
                <a:latin typeface="Calibri"/>
                <a:cs typeface="Calibri"/>
              </a:rPr>
              <a:t>Atta Mills &amp; Anyomi (2022)</a:t>
            </a:r>
            <a:r>
              <a:rPr lang="en-US" sz="1700" dirty="0">
                <a:solidFill>
                  <a:srgbClr val="1F394D"/>
                </a:solidFill>
                <a:latin typeface="Calibri"/>
                <a:cs typeface="Calibri"/>
              </a:rPr>
              <a:t> — DEA-Based Portfolio Preselection</a:t>
            </a:r>
            <a:endParaRPr lang="en-US" sz="1700" dirty="0"/>
          </a:p>
        </p:txBody>
      </p:sp>
    </p:spTree>
    <p:extLst>
      <p:ext uri="{BB962C8B-B14F-4D97-AF65-F5344CB8AC3E}">
        <p14:creationId xmlns:p14="http://schemas.microsoft.com/office/powerpoint/2010/main" val="14624473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37EE6-31DC-CF8C-3527-3455145C11C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DCD7553-10BB-6B70-CE9C-6873E1E0FDBD}"/>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D01E4A5-C67C-4F9F-0930-AFE7DB6D02F4}"/>
              </a:ext>
            </a:extLst>
          </p:cNvPr>
          <p:cNvSpPr>
            <a:spLocks noGrp="1"/>
          </p:cNvSpPr>
          <p:nvPr>
            <p:ph type="ctrTitle"/>
          </p:nvPr>
        </p:nvSpPr>
        <p:spPr/>
        <p:txBody>
          <a:bodyPr/>
          <a:lstStyle/>
          <a:p>
            <a:r>
              <a:rPr lang="en-US" dirty="0"/>
              <a:t>Q&amp;A</a:t>
            </a:r>
          </a:p>
        </p:txBody>
      </p:sp>
      <p:sp>
        <p:nvSpPr>
          <p:cNvPr id="3" name="Slide Number Placeholder 2">
            <a:extLst>
              <a:ext uri="{FF2B5EF4-FFF2-40B4-BE49-F238E27FC236}">
                <a16:creationId xmlns:a16="http://schemas.microsoft.com/office/drawing/2014/main" id="{A72EF5A2-72A1-C1FD-7C49-8FE02533DD3D}"/>
              </a:ext>
            </a:extLst>
          </p:cNvPr>
          <p:cNvSpPr>
            <a:spLocks noGrp="1"/>
          </p:cNvSpPr>
          <p:nvPr>
            <p:ph type="sldNum" sz="quarter" idx="12"/>
          </p:nvPr>
        </p:nvSpPr>
        <p:spPr/>
        <p:txBody>
          <a:bodyPr/>
          <a:lstStyle/>
          <a:p>
            <a:fld id="{1370230A-709D-4205-8636-A3280FD27E74}" type="slidenum">
              <a:rPr lang="en-US" smtClean="0"/>
              <a:t>45</a:t>
            </a:fld>
            <a:endParaRPr lang="en-US"/>
          </a:p>
        </p:txBody>
      </p:sp>
      <p:sp>
        <p:nvSpPr>
          <p:cNvPr id="9" name="Rectangle 8">
            <a:extLst>
              <a:ext uri="{FF2B5EF4-FFF2-40B4-BE49-F238E27FC236}">
                <a16:creationId xmlns:a16="http://schemas.microsoft.com/office/drawing/2014/main" id="{887E2BE3-BC4F-9CE7-1C9E-45709A45E2C1}"/>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3E4F9760-FA75-20B0-B1FD-60A6EA00284F}"/>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308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19DD-D800-0D7A-C7CE-1FA0D0345929}"/>
              </a:ext>
            </a:extLst>
          </p:cNvPr>
          <p:cNvSpPr>
            <a:spLocks noGrp="1"/>
          </p:cNvSpPr>
          <p:nvPr>
            <p:ph type="ctrTitle"/>
          </p:nvPr>
        </p:nvSpPr>
        <p:spPr/>
        <p:txBody>
          <a:bodyPr/>
          <a:lstStyle/>
          <a:p>
            <a:r>
              <a:rPr lang="en-US" dirty="0"/>
              <a:t>Thank You</a:t>
            </a:r>
          </a:p>
        </p:txBody>
      </p:sp>
      <p:sp>
        <p:nvSpPr>
          <p:cNvPr id="3" name="Slide Number Placeholder 2">
            <a:extLst>
              <a:ext uri="{FF2B5EF4-FFF2-40B4-BE49-F238E27FC236}">
                <a16:creationId xmlns:a16="http://schemas.microsoft.com/office/drawing/2014/main" id="{828648F4-4DB9-7651-9CC5-CBEFF75BBF41}"/>
              </a:ext>
            </a:extLst>
          </p:cNvPr>
          <p:cNvSpPr>
            <a:spLocks noGrp="1"/>
          </p:cNvSpPr>
          <p:nvPr>
            <p:ph type="sldNum" sz="quarter" idx="12"/>
          </p:nvPr>
        </p:nvSpPr>
        <p:spPr/>
        <p:txBody>
          <a:bodyPr/>
          <a:lstStyle/>
          <a:p>
            <a:fld id="{1370230A-709D-4205-8636-A3280FD27E74}" type="slidenum">
              <a:rPr lang="en-US" smtClean="0"/>
              <a:t>46</a:t>
            </a:fld>
            <a:endParaRPr lang="en-US"/>
          </a:p>
        </p:txBody>
      </p:sp>
    </p:spTree>
    <p:extLst>
      <p:ext uri="{BB962C8B-B14F-4D97-AF65-F5344CB8AC3E}">
        <p14:creationId xmlns:p14="http://schemas.microsoft.com/office/powerpoint/2010/main" val="283058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Custom 4">
      <a:dk1>
        <a:srgbClr val="0C171F"/>
      </a:dk1>
      <a:lt1>
        <a:srgbClr val="F8F8F8"/>
      </a:lt1>
      <a:dk2>
        <a:srgbClr val="0C171F"/>
      </a:dk2>
      <a:lt2>
        <a:srgbClr val="F8F8F8"/>
      </a:lt2>
      <a:accent1>
        <a:srgbClr val="00F700"/>
      </a:accent1>
      <a:accent2>
        <a:srgbClr val="00F700"/>
      </a:accent2>
      <a:accent3>
        <a:srgbClr val="1F394D"/>
      </a:accent3>
      <a:accent4>
        <a:srgbClr val="9B8357"/>
      </a:accent4>
      <a:accent5>
        <a:srgbClr val="C2BC80"/>
      </a:accent5>
      <a:accent6>
        <a:srgbClr val="94A088"/>
      </a:accent6>
      <a:hlink>
        <a:srgbClr val="2998E3"/>
      </a:hlink>
      <a:folHlink>
        <a:srgbClr val="8C8C8C"/>
      </a:folHlink>
    </a:clrScheme>
    <a:fontScheme name="Advansys">
      <a:majorFont>
        <a:latin typeface="Century Gothic"/>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F3695E-1BAD-43B2-8A26-56D2BC4DA976}">
  <we:reference id="wa200010215" version="2.0.0.0" store="en-US"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2479</TotalTime>
  <Words>4839</Words>
  <Application>Microsoft Office PowerPoint</Application>
  <PresentationFormat>Widescreen</PresentationFormat>
  <Paragraphs>368</Paragraphs>
  <Slides>46</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Aptos</vt:lpstr>
      <vt:lpstr>Aptos Display</vt:lpstr>
      <vt:lpstr>Calibri</vt:lpstr>
      <vt:lpstr>Century Gothic</vt:lpstr>
      <vt:lpstr>Courier New</vt:lpstr>
      <vt:lpstr>Retrospect</vt:lpstr>
      <vt:lpstr>Portfolio Optimization</vt:lpstr>
      <vt:lpstr>Roadmap</vt:lpstr>
      <vt:lpstr>Problem Definition</vt:lpstr>
      <vt:lpstr>The Fixed-Universe Assumption</vt:lpstr>
      <vt:lpstr>Why Universe Selection Matters?</vt:lpstr>
      <vt:lpstr>Scope and Asset Universe</vt:lpstr>
      <vt:lpstr>Research Questions</vt:lpstr>
      <vt:lpstr>Literature Review</vt:lpstr>
      <vt:lpstr>Classical Allocation Context</vt:lpstr>
      <vt:lpstr>AI/ML Preselection Context</vt:lpstr>
      <vt:lpstr>DEA Preselection Paper</vt:lpstr>
      <vt:lpstr>RL And Investor Personalization</vt:lpstr>
      <vt:lpstr>Proposed Solution</vt:lpstr>
      <vt:lpstr>Contribution In One View</vt:lpstr>
      <vt:lpstr>What does the Model Predict ?</vt:lpstr>
      <vt:lpstr>Methodology</vt:lpstr>
      <vt:lpstr>Raw Data Engineering</vt:lpstr>
      <vt:lpstr>Point-In-Time Monthly Panel</vt:lpstr>
      <vt:lpstr>Feature Families</vt:lpstr>
      <vt:lpstr>Realized Risk Target</vt:lpstr>
      <vt:lpstr>What Is Reinforcement Learning</vt:lpstr>
      <vt:lpstr>Why Reinforcement Learning</vt:lpstr>
      <vt:lpstr>Why PPO</vt:lpstr>
      <vt:lpstr>PPO Episode Format</vt:lpstr>
      <vt:lpstr>Variable Universe &amp; Masking</vt:lpstr>
      <vt:lpstr>Actor-Critic Architecture</vt:lpstr>
      <vt:lpstr>Reward Definition</vt:lpstr>
      <vt:lpstr>Profile-Specific Asset Universes</vt:lpstr>
      <vt:lpstr>Experiments</vt:lpstr>
      <vt:lpstr>Chronological Split Design</vt:lpstr>
      <vt:lpstr>Framework Selection</vt:lpstr>
      <vt:lpstr>Feature and Hyperparameters</vt:lpstr>
      <vt:lpstr>Evaluation Logic</vt:lpstr>
      <vt:lpstr>Results</vt:lpstr>
      <vt:lpstr>Ranking Quality</vt:lpstr>
      <vt:lpstr>Risk Separation</vt:lpstr>
      <vt:lpstr>Return Separation</vt:lpstr>
      <vt:lpstr>Baseline Comparison</vt:lpstr>
      <vt:lpstr>Conclusion</vt:lpstr>
      <vt:lpstr>Research Question Answers</vt:lpstr>
      <vt:lpstr>Future Work</vt:lpstr>
      <vt:lpstr>Live Data and Forward Testing</vt:lpstr>
      <vt:lpstr>Return-Aware Suitability</vt:lpstr>
      <vt:lpstr>Key References</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Abuelkheir</dc:creator>
  <cp:lastModifiedBy>Ali Abuelkheir</cp:lastModifiedBy>
  <cp:revision>8</cp:revision>
  <dcterms:created xsi:type="dcterms:W3CDTF">2026-06-04T02:00:01Z</dcterms:created>
  <dcterms:modified xsi:type="dcterms:W3CDTF">2026-06-09T16:12:12Z</dcterms:modified>
</cp:coreProperties>
</file>