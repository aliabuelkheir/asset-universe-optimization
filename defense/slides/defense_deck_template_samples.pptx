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d7e21c4395480d" /><Relationship Type="http://schemas.openxmlformats.org/officeDocument/2006/relationships/extended-properties" Target="/docProps/app.xml" Id="R3bc9e2285a244c6c" /><Relationship Type="http://schemas.openxmlformats.org/officeDocument/2006/relationships/officeDocument" Target="/ppt/presentation.xml" Id="R9d13cae6f0714a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8d4734777546a1"/>
  </p:sldMasterIdLst>
  <p:notesMasterIdLst>
    <p:notesMasterId xmlns:r="http://schemas.openxmlformats.org/officeDocument/2006/relationships" r:id="Ra7144f2e028d40e0"/>
  </p:notesMasterIdLst>
  <p:sldIdLst>
    <p:sldId xmlns:r="http://schemas.openxmlformats.org/officeDocument/2006/relationships" id="256" r:id="R5b59e06c1c5c404f"/>
    <p:sldId xmlns:r="http://schemas.openxmlformats.org/officeDocument/2006/relationships" id="257" r:id="Rd38252cdae6a4d46"/>
    <p:sldId xmlns:r="http://schemas.openxmlformats.org/officeDocument/2006/relationships" id="258" r:id="R1b464597a30043af"/>
    <p:sldId xmlns:r="http://schemas.openxmlformats.org/officeDocument/2006/relationships" id="259" r:id="R9fef63dc43b5462a"/>
    <p:sldId xmlns:r="http://schemas.openxmlformats.org/officeDocument/2006/relationships" id="260" r:id="Raceb066b85964c41"/>
    <p:sldId xmlns:r="http://schemas.openxmlformats.org/officeDocument/2006/relationships" id="261" r:id="R9fa4e12fe1fb4e8a"/>
    <p:sldId xmlns:r="http://schemas.openxmlformats.org/officeDocument/2006/relationships" id="262" r:id="R1d7bfe6ebb244c47"/>
    <p:sldId xmlns:r="http://schemas.openxmlformats.org/officeDocument/2006/relationships" id="263" r:id="R9e309978cc9640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2ea5db08404533" /><Relationship Type="http://schemas.openxmlformats.org/officeDocument/2006/relationships/slideMaster" Target="/ppt/slideMasters/slideMaster1.xml" Id="R698d4734777546a1" /><Relationship Type="http://schemas.openxmlformats.org/officeDocument/2006/relationships/notesMaster" Target="/ppt/notesMasters/notesMaster1.xml" Id="Ra7144f2e028d40e0" /><Relationship Type="http://schemas.openxmlformats.org/officeDocument/2006/relationships/presProps" Target="/ppt/presProps.xml" Id="R458d52cc994c4be5" /><Relationship Type="http://schemas.openxmlformats.org/officeDocument/2006/relationships/viewProps" Target="/ppt/viewProps.xml" Id="R6ae59b902f124912" /><Relationship Type="http://schemas.openxmlformats.org/officeDocument/2006/relationships/tableStyles" Target="/ppt/tableStyles.xml" Id="R49c926b6f0cb43ef" /><Relationship Type="http://schemas.openxmlformats.org/officeDocument/2006/relationships/slide" Target="/ppt/slides/slide1.xml" Id="R5b59e06c1c5c404f" /><Relationship Type="http://schemas.openxmlformats.org/officeDocument/2006/relationships/slide" Target="/ppt/slides/slide2.xml" Id="Rd38252cdae6a4d46" /><Relationship Type="http://schemas.openxmlformats.org/officeDocument/2006/relationships/slide" Target="/ppt/slides/slide3.xml" Id="R1b464597a30043af" /><Relationship Type="http://schemas.openxmlformats.org/officeDocument/2006/relationships/slide" Target="/ppt/slides/slide4.xml" Id="R9fef63dc43b5462a" /><Relationship Type="http://schemas.openxmlformats.org/officeDocument/2006/relationships/slide" Target="/ppt/slides/slide5.xml" Id="Raceb066b85964c41" /><Relationship Type="http://schemas.openxmlformats.org/officeDocument/2006/relationships/slide" Target="/ppt/slides/slide6.xml" Id="R9fa4e12fe1fb4e8a" /><Relationship Type="http://schemas.openxmlformats.org/officeDocument/2006/relationships/slide" Target="/ppt/slides/slide7.xml" Id="R1d7bfe6ebb244c47" /><Relationship Type="http://schemas.openxmlformats.org/officeDocument/2006/relationships/slide" Target="/ppt/slides/slide8.xml" Id="R9e309978cc9640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e7c277e19c40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9ebb0837974315" /><Relationship Type="http://schemas.openxmlformats.org/officeDocument/2006/relationships/notesMaster" Target="/ppt/notesMasters/notesMaster1.xml" Id="R3e2eb2de8d934b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382f30d78242a7" /><Relationship Type="http://schemas.openxmlformats.org/officeDocument/2006/relationships/notesMaster" Target="/ppt/notesMasters/notesMaster1.xml" Id="R5780f2bbe65c47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28760afe99487e" /><Relationship Type="http://schemas.openxmlformats.org/officeDocument/2006/relationships/notesMaster" Target="/ppt/notesMasters/notesMaster1.xml" Id="R0c2e13a10ea84c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5c53d07e1d4a13" /><Relationship Type="http://schemas.openxmlformats.org/officeDocument/2006/relationships/notesMaster" Target="/ppt/notesMasters/notesMaster1.xml" Id="R54df95a9959a44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028a976b314b8b" /><Relationship Type="http://schemas.openxmlformats.org/officeDocument/2006/relationships/notesMaster" Target="/ppt/notesMasters/notesMaster1.xml" Id="R6c11929e4b8443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16aefd73bd4f24" /><Relationship Type="http://schemas.openxmlformats.org/officeDocument/2006/relationships/notesMaster" Target="/ppt/notesMasters/notesMaster1.xml" Id="R68b40311541d4c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20ef4e25e446fd" /><Relationship Type="http://schemas.openxmlformats.org/officeDocument/2006/relationships/notesMaster" Target="/ppt/notesMasters/notesMaster1.xml" Id="R441e8b6408c64b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4f51b0f87f421a" /><Relationship Type="http://schemas.openxmlformats.org/officeDocument/2006/relationships/notesMaster" Target="/ppt/notesMasters/notesMaster1.xml" Id="R89d75df0015a43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412e3b3ae44c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3c7ad83ec44230" /><Relationship Type="http://schemas.openxmlformats.org/officeDocument/2006/relationships/slideLayout" Target="/ppt/slideLayouts/slideLayout1.xml" Id="R11b84facc8f64f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b84facc8f64f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38fa63c024a87" /><Relationship Type="http://schemas.openxmlformats.org/officeDocument/2006/relationships/image" Target="/ppt/media/image.png" Id="R0c15b1111d63411e" /><Relationship Type="http://schemas.openxmlformats.org/officeDocument/2006/relationships/image" Target="/ppt/media/image.jpeg" Id="R806e0d0915ce4444" /><Relationship Type="http://schemas.openxmlformats.org/officeDocument/2006/relationships/notesSlide" Target="/ppt/notesSlides/notesSlide1.xml" Id="R48733ce549f84d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34a9db7844ceb" /><Relationship Type="http://schemas.openxmlformats.org/officeDocument/2006/relationships/image" Target="/ppt/media/image2.png" Id="R43108bf16f4346ea" /><Relationship Type="http://schemas.openxmlformats.org/officeDocument/2006/relationships/image" Target="/ppt/media/image2.jpeg" Id="Rfcc29b39fdaa4c3c" /><Relationship Type="http://schemas.openxmlformats.org/officeDocument/2006/relationships/notesSlide" Target="/ppt/notesSlides/notesSlide2.xml" Id="Rca6c18ef2db24f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ec5034f5344af" /><Relationship Type="http://schemas.openxmlformats.org/officeDocument/2006/relationships/image" Target="/ppt/media/image3.png" Id="R8ec40c05b15d4981" /><Relationship Type="http://schemas.openxmlformats.org/officeDocument/2006/relationships/image" Target="/ppt/media/image3.jpeg" Id="Rf0fe270f0406411c" /><Relationship Type="http://schemas.openxmlformats.org/officeDocument/2006/relationships/notesSlide" Target="/ppt/notesSlides/notesSlide3.xml" Id="R3caf397ea31342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2355e2aaa4775" /><Relationship Type="http://schemas.openxmlformats.org/officeDocument/2006/relationships/image" Target="/ppt/media/image4.png" Id="R7c83b8f7b3f84f4d" /><Relationship Type="http://schemas.openxmlformats.org/officeDocument/2006/relationships/image" Target="/ppt/media/image4.jpeg" Id="R7b9a828edef3490f" /><Relationship Type="http://schemas.openxmlformats.org/officeDocument/2006/relationships/image" Target="/ppt/media/image5.png" Id="R8b95a7271739449a" /><Relationship Type="http://schemas.openxmlformats.org/officeDocument/2006/relationships/notesSlide" Target="/ppt/notesSlides/notesSlide4.xml" Id="R5114b73a13614d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6b4419f0e494f" /><Relationship Type="http://schemas.openxmlformats.org/officeDocument/2006/relationships/image" Target="/ppt/media/image6.png" Id="R9b5d94b732164424" /><Relationship Type="http://schemas.openxmlformats.org/officeDocument/2006/relationships/image" Target="/ppt/media/image5.jpeg" Id="R1fa0bd900f204e9b" /><Relationship Type="http://schemas.openxmlformats.org/officeDocument/2006/relationships/image" Target="/ppt/media/image7.png" Id="Rfbc3f827a114412a" /><Relationship Type="http://schemas.openxmlformats.org/officeDocument/2006/relationships/notesSlide" Target="/ppt/notesSlides/notesSlide5.xml" Id="Rf6fcf4a8309c4e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673b65e3f4197" /><Relationship Type="http://schemas.openxmlformats.org/officeDocument/2006/relationships/image" Target="/ppt/media/image8.png" Id="R80d159b6a1d74671" /><Relationship Type="http://schemas.openxmlformats.org/officeDocument/2006/relationships/image" Target="/ppt/media/image6.jpeg" Id="R0a08531695f1457c" /><Relationship Type="http://schemas.openxmlformats.org/officeDocument/2006/relationships/notesSlide" Target="/ppt/notesSlides/notesSlide6.xml" Id="R64594acbb7a944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3b0078b9e4fff" /><Relationship Type="http://schemas.openxmlformats.org/officeDocument/2006/relationships/image" Target="/ppt/media/image9.png" Id="R8b7c2a4b18794924" /><Relationship Type="http://schemas.openxmlformats.org/officeDocument/2006/relationships/image" Target="/ppt/media/image7.jpeg" Id="R70d9464a56854ff3" /><Relationship Type="http://schemas.openxmlformats.org/officeDocument/2006/relationships/notesSlide" Target="/ppt/notesSlides/notesSlide7.xml" Id="R24475d7ed4514d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1a10d851144e5" /><Relationship Type="http://schemas.openxmlformats.org/officeDocument/2006/relationships/image" Target="/ppt/media/image10.png" Id="Rbe28b0340e164e96" /><Relationship Type="http://schemas.openxmlformats.org/officeDocument/2006/relationships/image" Target="/ppt/media/image8.jpeg" Id="R69cc2c8e7e204260" /><Relationship Type="http://schemas.openxmlformats.org/officeDocument/2006/relationships/notesSlide" Target="/ppt/notesSlides/notesSlide8.xml" Id="R99c9788d910e42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E2D7D0-AEE4-4465-9B01-08330822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C4DD7-4105-4208-BB39-D99E31B2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DCAC7-A5C7-479B-A073-CF93E50B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1B64B-B5F2-4652-8375-9380A672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030D3-F5E6-4871-B9E5-4FFC855C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1666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C510A-0637-4261-86D9-424AD89D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0"/>
            <a:ext cx="1666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1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807B5-5ABB-4CD8-BEE8-0721B498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5b1111d63411e"/>
          <a:stretch xmlns:a="http://schemas.openxmlformats.org/drawingml/2006/main"/>
        </p:blipFill>
        <p:spPr>
          <a:xfrm xmlns:a="http://schemas.openxmlformats.org/drawingml/2006/main">
            <a:off x="9840574" y="247650"/>
            <a:ext cx="416602" cy="43815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e0d0915ce4444"/>
          <a:stretch xmlns:a="http://schemas.openxmlformats.org/drawingml/2006/main"/>
        </p:blipFill>
        <p:spPr>
          <a:xfrm xmlns:a="http://schemas.openxmlformats.org/drawingml/2006/main">
            <a:off x="10727808" y="190500"/>
            <a:ext cx="489984" cy="533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946AC-7D0E-4BAB-B893-58113753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Template sample - title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1E985-311C-4607-8533-52E9F243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2C0EB-16B7-417C-81B5-5CF3A8A5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65A4E-5AE0-41DE-9A96-CF615374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86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2864B"/>
                </a:solidFill>
                <a:latin typeface="Aptos"/>
                <a:ea typeface="Aptos"/>
                <a:cs typeface="Aptos"/>
              </a:rPr>
              <a:t>BACHELOR THESIS DEFENSE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A97DBE-75CE-4464-8E62-E87D5565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239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A3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42A3B"/>
                </a:solidFill>
                <a:latin typeface="Aptos Display"/>
                <a:ea typeface="Aptos Display"/>
                <a:cs typeface="Aptos Display"/>
              </a:rPr>
              <a:t>Asset Universe Selection Based on Investor 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34928-55E1-492D-91B2-40E2FC35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731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7313A"/>
                </a:solidFill>
                <a:latin typeface="Aptos"/>
                <a:ea typeface="Aptos"/>
                <a:cs typeface="Aptos"/>
              </a:rPr>
              <a:t>Portfolio optimization using AI risk-ranking before allocation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A5E4F-8926-464F-A545-343C7EA9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54A88-CC79-44B2-8C54-8981A6B4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5765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650A56-033A-43B5-BC72-A57003DF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5765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1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8F81A1-6D86-4D7A-B95D-95F32A05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9070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4C4447-FF72-40AC-9C34-2496EA1C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38375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2A3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42A3B"/>
                </a:solidFill>
                <a:latin typeface="Aptos"/>
                <a:ea typeface="Aptos"/>
                <a:cs typeface="Aptos"/>
              </a:rPr>
              <a:t>risk ranking</a:t>
            </a:r>
          </a:p>
          <a:p xmlns:a="http://schemas.openxmlformats.org/drawingml/2006/main">
            <a:pPr algn="ctr">
              <a:defRPr sz="2175" b="1">
                <a:solidFill>
                  <a:srgbClr val="142A3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42A3B"/>
                </a:solidFill>
                <a:latin typeface="Aptos"/>
                <a:ea typeface="Aptos"/>
                <a:cs typeface="Aptos"/>
              </a:rPr>
              <a:t>before</a:t>
            </a:r>
          </a:p>
          <a:p xmlns:a="http://schemas.openxmlformats.org/drawingml/2006/main">
            <a:pPr algn="ctr">
              <a:defRPr sz="2175" b="1">
                <a:solidFill>
                  <a:srgbClr val="142A3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42A3B"/>
                </a:solidFill>
                <a:latin typeface="Aptos"/>
                <a:ea typeface="Aptos"/>
                <a:cs typeface="Aptos"/>
              </a:rPr>
              <a:t>allocation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1FD62F-01DB-427E-8076-56D79AF3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814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Template only. Final wording waits for reviewed script.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D26575-3F3E-4A3E-A7B0-530207FC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F1D748-7F6C-4318-B432-8D874B31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2864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2864B"/>
                </a:solidFill>
                <a:latin typeface="Aptos"/>
                <a:ea typeface="Aptos"/>
                <a:cs typeface="Aptos"/>
              </a:rPr>
              <a:t>PRESENTER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CC4E3E-063B-47A0-9E3A-F4AA16A8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731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7313A"/>
                </a:solidFill>
                <a:latin typeface="Aptos"/>
                <a:ea typeface="Aptos"/>
                <a:cs typeface="Aptos"/>
              </a:rPr>
              <a:t>Ali Abuelkheir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11C47E-2371-4AAC-B797-FD31B461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530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9A62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A629"/>
                </a:solidFill>
                <a:latin typeface="Aptos"/>
                <a:ea typeface="Aptos"/>
                <a:cs typeface="Aptos"/>
              </a:rPr>
              <a:t>INSTITUTION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EE701C-0145-465A-BE50-B2FFD702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816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731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7313A"/>
                </a:solidFill>
                <a:latin typeface="Aptos"/>
                <a:ea typeface="Aptos"/>
                <a:cs typeface="Aptos"/>
              </a:rPr>
              <a:t>German University in Cairo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9F7D80-89D0-41DD-927F-A58928BB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3530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12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6121B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0A72B6-9A59-493B-B26D-20087092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816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731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7313A"/>
                </a:solidFill>
                <a:latin typeface="Aptos"/>
                <a:ea typeface="Aptos"/>
                <a:cs typeface="Aptos"/>
              </a:rPr>
              <a:t>ROBIN portfolio research</a:t>
            </a:r>
          </a:p>
        </p:txBody>
      </p:sp>
    </p:spTree>
    <p:extLst>
      <p:ext uri="{BB962C8B-B14F-4D97-AF65-F5344CB8AC3E}">
        <p14:creationId xmlns:p14="http://schemas.microsoft.com/office/powerpoint/2010/main" val="10902752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002181-83A6-4D24-94F8-4753DAC6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665B0-E398-49B2-A564-F7A92F49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3BC30-1D18-4C5D-8423-0D2D5D38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606AF-D618-4AF4-B2F8-7CB0F814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5DE48-DF33-405C-9213-349E9626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1666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5FB44-80E4-4068-A478-C968C815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0"/>
            <a:ext cx="1666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1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0FCDA-3860-4052-9C33-FC3059EA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08bf16f4346ea"/>
          <a:stretch xmlns:a="http://schemas.openxmlformats.org/drawingml/2006/main"/>
        </p:blipFill>
        <p:spPr>
          <a:xfrm xmlns:a="http://schemas.openxmlformats.org/drawingml/2006/main">
            <a:off x="9840574" y="247650"/>
            <a:ext cx="416602" cy="43815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29b39fdaa4c3c"/>
          <a:stretch xmlns:a="http://schemas.openxmlformats.org/drawingml/2006/main"/>
        </p:blipFill>
        <p:spPr>
          <a:xfrm xmlns:a="http://schemas.openxmlformats.org/drawingml/2006/main">
            <a:off x="10727808" y="190500"/>
            <a:ext cx="489984" cy="533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B7424-63A3-451C-946F-3527BE07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Template sample - roadmap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9E47A-5AAF-4E53-8E64-6B7065BB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D06D1-9D17-4FA9-8F4A-F7F4EE16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864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864B"/>
                </a:solidFill>
                <a:latin typeface="Aptos"/>
                <a:ea typeface="Aptos"/>
                <a:cs typeface="Aptos"/>
              </a:rPr>
              <a:t>NAVIGATION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26732-5B91-40F1-8878-5647ACAE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A3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A3B"/>
                </a:solidFill>
                <a:latin typeface="Aptos Display"/>
                <a:ea typeface="Aptos Display"/>
                <a:cs typeface="Aptos Display"/>
              </a:rPr>
              <a:t>Talk 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400CB-9FBA-48B6-82B8-04BC8E66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200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48901-8811-4601-99D7-80A88D19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20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8366CC-B5C6-40C0-A74A-7DC30C27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49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A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A3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E29F6D-261A-44DA-9A0E-814E11F7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954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4CE2CD-3344-4679-BF75-E5DBB3E3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193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Why profile-based universe selection matters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108783-3EDC-458C-909B-BF883B93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66850"/>
            <a:ext cx="3200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573AD4-30EB-494E-AFB9-2A25E5FE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66850"/>
            <a:ext cx="320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B47E2C-1E90-453E-B324-26822203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14500"/>
            <a:ext cx="49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A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A3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81DF72-0DED-446D-96AD-D963F0E5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Gap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484E6-4388-4522-B164-FC1AB423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193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What existing portfolio selection misses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72F9E4-BE00-4B3B-83FE-C85412E5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66850"/>
            <a:ext cx="3200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FEDDD1-1A48-4A7A-BB43-EFBE275E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66850"/>
            <a:ext cx="320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1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E33DEB-9B8F-4C71-B30B-9DE8EBA2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49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A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A3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B0CDB8-1A76-4F28-8F94-8D21DCE4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954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C6AEB9-5337-425B-8B82-96F20DB3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193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How ranking becomes pre-allocation filtering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DDA720-2F99-49F3-903B-FCB2F885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200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99372F-189B-49E6-9340-C9A1DAC0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20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E3F549-7A18-4895-90CA-B696C7FA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49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A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A3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B4DB55-B01D-42DA-9DBB-175E5BCA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718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BF8C8A-75EA-4B29-8384-A10BC6B5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957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Data, environment, PPO setup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CF9FAF-515E-444A-8325-83864B81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43250"/>
            <a:ext cx="3200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A6690A-4A31-4835-97E5-33678DAD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43250"/>
            <a:ext cx="320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F89D3F-34E7-4282-B8D7-D5961E8B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90900"/>
            <a:ext cx="49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A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A3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05B9B7-514F-454E-A0D3-EC5BC8B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718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F48C16-7DBE-4BFA-A4FC-C5C7F1BC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957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Risk separation and diagnostics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00BAD6-322B-45C4-A643-6DED78CA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43250"/>
            <a:ext cx="3200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915826-854A-4FCE-8E3F-CEC44F99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43250"/>
            <a:ext cx="320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1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9FD9BA-B860-48B5-B277-F5789857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90900"/>
            <a:ext cx="49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A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A3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AF9DBB-C30C-40CF-AFB1-F0F7D360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718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0BF920-9363-44AF-96A4-79B363FA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957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Research claims and limitations</a:t>
            </a:r>
          </a:p>
        </p:txBody>
      </p:sp>
    </p:spTree>
    <p:extLst>
      <p:ext uri="{BB962C8B-B14F-4D97-AF65-F5344CB8AC3E}">
        <p14:creationId xmlns:p14="http://schemas.microsoft.com/office/powerpoint/2010/main" val="19975461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FC53C3-7A15-4AE4-AA8A-F333D333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49E07-E355-4E61-AF90-15ADC93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6A435-D620-4CA6-9E05-7DBA6A43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8C441-7DB1-47E8-987E-2FE59682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82674-871F-4DA2-9E5B-FEBF14E3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1666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7BA57-D3F0-4178-969F-10D7A9A5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0"/>
            <a:ext cx="1666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1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59F65-E6DB-426D-8BDC-D13E3E0F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40c05b15d4981"/>
          <a:stretch xmlns:a="http://schemas.openxmlformats.org/drawingml/2006/main"/>
        </p:blipFill>
        <p:spPr>
          <a:xfrm xmlns:a="http://schemas.openxmlformats.org/drawingml/2006/main">
            <a:off x="9840574" y="247650"/>
            <a:ext cx="416602" cy="43815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e270f0406411c"/>
          <a:stretch xmlns:a="http://schemas.openxmlformats.org/drawingml/2006/main"/>
        </p:blipFill>
        <p:spPr>
          <a:xfrm xmlns:a="http://schemas.openxmlformats.org/drawingml/2006/main">
            <a:off x="10727808" y="190500"/>
            <a:ext cx="489984" cy="533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4E5DA-A349-4386-BD4F-E7843322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Template sample - compact finance 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9ED50-7C8D-4F73-A453-F7119547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CC0DA-20C7-4ED4-BE42-F763D4A4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864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864B"/>
                </a:solidFill>
                <a:latin typeface="Aptos"/>
                <a:ea typeface="Aptos"/>
                <a:cs typeface="Aptos"/>
              </a:rPr>
              <a:t>TABLE STRESS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8C03F-646F-45C5-9974-73DB6A1A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A3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A3B"/>
                </a:solidFill>
                <a:latin typeface="Aptos Display"/>
                <a:ea typeface="Aptos Display"/>
                <a:cs typeface="Aptos Display"/>
              </a:rPr>
              <a:t>Scope and asset universe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51B555-B0F6-4E31-A2AB-D3B65DC8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7D8D6F-69D6-4E1D-B36C-4CE9455F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90625"/>
            <a:ext cx="781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Finance tables should sit on a grid and use whitespace as structure.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4BE5F8-AA25-4EFE-8083-3DFD6DE2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3B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03593-8F77-418C-BEDD-8B71947E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765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Asset class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2C4EB5-FD4E-4A4E-B022-3C0C0BAF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6220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3B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4D9ED9-5173-48E3-B27C-2187DDF2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476500"/>
            <a:ext cx="466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 in the universe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7B50B7-F436-447F-8472-271ACED6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62200"/>
            <a:ext cx="2228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3B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4661C7-2BFF-44FC-B0D5-7A5B2E08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47650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Slide treatment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D3616C-BAAD-4521-9501-FFA775C2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9A86D6-9B8A-4CB7-9611-DF46A728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527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Treasury bills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E7315E-262C-4155-B64F-84D39EC3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3845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CE78-F597-498A-A701-5DD3B861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952750"/>
            <a:ext cx="466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Defensive money-market exposure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886E69-4D3A-4150-BCC6-023AA4AA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38450"/>
            <a:ext cx="2228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26618F-D710-4D28-B3B5-B14E9340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952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short role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0293F5-DA20-448E-BC81-EFC77B8C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C9E5EE-EC24-4942-AE76-2E49DF58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290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Government bonds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933AEA-A0E6-457B-B9DF-466881B6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1470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BACB3F-FF17-44BB-9D37-BE1133D1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429000"/>
            <a:ext cx="466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Fixed-income exposure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316B7E-AD94-4056-89A7-4C510857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14700"/>
            <a:ext cx="2228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00F2B7-57B7-4A42-A0A1-0EBCB975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42900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short role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1D65DE-C983-4619-84B8-DE94155D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32DFA3-CAEA-4CBB-9AAA-EF17A1A0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052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EGX30 / stocks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A5DDEE-9A15-407D-BFC2-271B489F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9095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329202-16BA-4E59-B738-EE3A08CF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905250"/>
            <a:ext cx="466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Equity growth and benchmark context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9BE9B4-F2A8-4836-991C-F8C8130F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90950"/>
            <a:ext cx="2228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79C843-8B01-4FEC-BF0B-53F47771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905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grouped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4BCB7B-C76D-4E98-9A2A-35708B66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3DE5BC-9847-4E30-987D-B22D672D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815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Gold / REIT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566E4C-228E-4F95-B8B0-41B42CA5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6720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47CADB-78ED-4A7C-838E-30A7B028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381500"/>
            <a:ext cx="466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Real-asset exposure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4C7575-D1A7-415C-8E8F-63C3F44F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67200"/>
            <a:ext cx="2228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5F6BC0-8D32-4141-978A-C7AFF3AF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38150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grouped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EE5BBE-520D-47BC-A0B9-B63BF073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EEF544-9F72-4AE0-8010-4AFAD0FC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8577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USD/EGP / CPI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169C12-D26A-4E18-B4DD-73F1E48C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4345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A73286-89C9-430E-9036-4B11B2DD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857750"/>
            <a:ext cx="466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Macro context inputs, not selected assets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F5DB35-9080-49A9-A683-07495431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43450"/>
            <a:ext cx="2228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0B8FB35-49A4-4799-875A-A0A5D5BB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857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note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1D04A6B-D211-40FA-9BB4-CFC2B2F3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937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01B255-B7EF-41BD-931A-0A72B28F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6257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86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864B"/>
                </a:solidFill>
                <a:latin typeface="Aptos"/>
                <a:ea typeface="Aptos"/>
                <a:cs typeface="Aptos"/>
              </a:rPr>
              <a:t>Speaker notes and exact labels remain WAITING_FOR_REVIEWED_SCRIPT.</a:t>
            </a:r>
          </a:p>
        </p:txBody>
      </p:sp>
    </p:spTree>
    <p:extLst>
      <p:ext uri="{BB962C8B-B14F-4D97-AF65-F5344CB8AC3E}">
        <p14:creationId xmlns:p14="http://schemas.microsoft.com/office/powerpoint/2010/main" val="9738918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9E60C0-C44F-4010-81E3-22D61A9F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25C41-3624-43D6-AF6D-CEF72B69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C00D1-9FA1-4DAB-A320-B051558B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5782E-C40D-4AF0-A908-ACC71BAF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A783B-D352-461A-BE91-79EAEABE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1666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10FC9-4C30-4C87-AE09-C058043A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0"/>
            <a:ext cx="1666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1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553D9-46D6-4468-9E05-C313B6A9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3b8f7b3f84f4d"/>
          <a:stretch xmlns:a="http://schemas.openxmlformats.org/drawingml/2006/main"/>
        </p:blipFill>
        <p:spPr>
          <a:xfrm xmlns:a="http://schemas.openxmlformats.org/drawingml/2006/main">
            <a:off x="9840574" y="247650"/>
            <a:ext cx="416602" cy="43815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a828edef3490f"/>
          <a:stretch xmlns:a="http://schemas.openxmlformats.org/drawingml/2006/main"/>
        </p:blipFill>
        <p:spPr>
          <a:xfrm xmlns:a="http://schemas.openxmlformats.org/drawingml/2006/main">
            <a:off x="10727808" y="190500"/>
            <a:ext cx="489984" cy="533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4EAB1B-5F6E-4F58-B4A7-D83409D6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Template sample - thesis figure screenshot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DF32A-CE18-4F02-A6E1-0DC7FA6A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98AB9-4D6E-44CF-A850-97960B35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864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864B"/>
                </a:solidFill>
                <a:latin typeface="Aptos"/>
                <a:ea typeface="Aptos"/>
                <a:cs typeface="Aptos"/>
              </a:rPr>
              <a:t>FIGURE FRAMING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F8CC9-9421-4377-9B36-55CC1908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A3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A3B"/>
                </a:solidFill>
                <a:latin typeface="Aptos Display"/>
                <a:ea typeface="Aptos Display"/>
                <a:cs typeface="Aptos Display"/>
              </a:rPr>
              <a:t>Contribution in one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80A569-D171-4C88-ADAE-E57CDCD6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The contribution slide should read as one evidence-led pipeline, not as a crowded explanation.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240B7-2B89-40F7-9C50-66E05A0E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F5B62-9F46-4316-9B70-82530FFC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288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Data engineering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AAB28-1F4D-480D-A3B3-914642A8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6C245E-6FD8-4081-A37D-3AD994D4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288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Monthly ranking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E73F41-0436-4FAB-A3EC-0EEBC925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76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1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F0129E-EC01-4C41-90A6-A2565FDC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288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Profile filtering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8AFACD-D5A1-4F25-8791-4094E2EA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98298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5a7271739449a"/>
          <a:stretch xmlns:a="http://schemas.openxmlformats.org/drawingml/2006/main"/>
        </p:blipFill>
        <p:spPr>
          <a:xfrm xmlns:a="http://schemas.openxmlformats.org/drawingml/2006/main">
            <a:off x="1365457" y="3028950"/>
            <a:ext cx="8775285" cy="13906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C3A848-6B24-4961-AD3B-6B55A4E7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006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Source crop: thesis methodology Figure 3.1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5F0626-A545-44F4-BF6A-DFEFE9B9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7205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DE05EE-BE40-47EA-BFE5-59D68993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57775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31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7313A"/>
                </a:solidFill>
                <a:latin typeface="Aptos"/>
                <a:ea typeface="Aptos"/>
                <a:cs typeface="Aptos"/>
              </a:rPr>
              <a:t>No final notes injected</a:t>
            </a:r>
          </a:p>
        </p:txBody>
      </p:sp>
    </p:spTree>
    <p:extLst>
      <p:ext uri="{BB962C8B-B14F-4D97-AF65-F5344CB8AC3E}">
        <p14:creationId xmlns:p14="http://schemas.microsoft.com/office/powerpoint/2010/main" val="5624749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F39C73-3B97-42BA-8FEA-30BDA988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6D999-4988-4FA9-85A3-E2E733F1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102FF-CF43-434E-89E5-2C4420D5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A80AF-3AD4-4487-8084-DFB5DA2F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98F07-8BCD-4714-9BD0-893C40C7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1666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DB9D8-BBD0-4A0E-BD07-68C9A589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0"/>
            <a:ext cx="1666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1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79A4F-A74C-44CA-821F-6ADB1ACA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d94b732164424"/>
          <a:stretch xmlns:a="http://schemas.openxmlformats.org/drawingml/2006/main"/>
        </p:blipFill>
        <p:spPr>
          <a:xfrm xmlns:a="http://schemas.openxmlformats.org/drawingml/2006/main">
            <a:off x="9840574" y="247650"/>
            <a:ext cx="416602" cy="43815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0bd900f204e9b"/>
          <a:stretch xmlns:a="http://schemas.openxmlformats.org/drawingml/2006/main"/>
        </p:blipFill>
        <p:spPr>
          <a:xfrm xmlns:a="http://schemas.openxmlformats.org/drawingml/2006/main">
            <a:off x="10727808" y="190500"/>
            <a:ext cx="489984" cy="533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5C52C-D381-42AA-95FC-D1225749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Template sample - long title and diagram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3341F-0EFD-4C96-9374-E6F05836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C3A5A-BF42-4887-A14B-11B51D4B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864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864B"/>
                </a:solidFill>
                <a:latin typeface="Aptos"/>
                <a:ea typeface="Aptos"/>
                <a:cs typeface="Aptos"/>
              </a:rPr>
              <a:t>LONG-TITLE STRESS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C88F8-B19D-46DC-9D42-68AE963A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A3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A3B"/>
                </a:solidFill>
                <a:latin typeface="Aptos Display"/>
                <a:ea typeface="Aptos Display"/>
                <a:cs typeface="Aptos Display"/>
              </a:rPr>
              <a:t>Actor-critic architecture for variable active universes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7A2819-C611-40CB-B17D-2D99FFC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440BC6-BC81-4AEE-819A-FD81CC6D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90625"/>
            <a:ext cx="781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The scorer combines asset-level rows with month-level context before PPO updates.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AC69E-72E6-4E8A-A5A4-3DF75147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60960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3f827a114412a"/>
          <a:stretch xmlns:a="http://schemas.openxmlformats.org/drawingml/2006/main"/>
        </p:blipFill>
        <p:spPr>
          <a:xfrm xmlns:a="http://schemas.openxmlformats.org/drawingml/2006/main">
            <a:off x="1228282" y="2905125"/>
            <a:ext cx="5163436" cy="1428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D479E-F2A7-4E80-ABF4-5528230C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14600"/>
            <a:ext cx="3276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1AF456-DA65-4454-948B-25CC19E7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43200"/>
            <a:ext cx="3257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A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A3B"/>
                </a:solidFill>
                <a:latin typeface="Aptos"/>
                <a:ea typeface="Aptos"/>
                <a:cs typeface="Aptos"/>
              </a:rPr>
              <a:t>Use this layout when the slide needs a figure plus a short interpretation.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ECDF6-952C-4788-872C-4D0AD9D1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95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42C0AE-6AE9-4C25-B13C-B4F2920B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90950"/>
            <a:ext cx="2971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figure evidence on the left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6FF9C-2641-44BB-A24D-352E7D6C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91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AD1136-1C51-4A59-A264-E6CB9EB5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86250"/>
            <a:ext cx="2971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interpretation on the right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DC0129-C623-44BF-8DC5-16FC67E4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86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1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13886A-CF3F-4D4B-A363-39351438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81550"/>
            <a:ext cx="2971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talk track in notes later</a:t>
            </a:r>
          </a:p>
        </p:txBody>
      </p:sp>
    </p:spTree>
    <p:extLst>
      <p:ext uri="{BB962C8B-B14F-4D97-AF65-F5344CB8AC3E}">
        <p14:creationId xmlns:p14="http://schemas.microsoft.com/office/powerpoint/2010/main" val="734106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542E33-7350-42D7-928C-364BA850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8A710-22B2-462F-B83D-0D82AC00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304B8-C050-4AD5-A3A1-371D9568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4BE28-3494-4AA7-9A7C-B17BC0F4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E145D-EB2B-4B39-95E6-0A15FAE5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1666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4EEE2-29CC-41C8-B28B-99C45EE2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0"/>
            <a:ext cx="1666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1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DE380-43EA-43BB-8E23-E887170D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159b6a1d74671"/>
          <a:stretch xmlns:a="http://schemas.openxmlformats.org/drawingml/2006/main"/>
        </p:blipFill>
        <p:spPr>
          <a:xfrm xmlns:a="http://schemas.openxmlformats.org/drawingml/2006/main">
            <a:off x="9840574" y="247650"/>
            <a:ext cx="416602" cy="43815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8531695f1457c"/>
          <a:stretch xmlns:a="http://schemas.openxmlformats.org/drawingml/2006/main"/>
        </p:blipFill>
        <p:spPr>
          <a:xfrm xmlns:a="http://schemas.openxmlformats.org/drawingml/2006/main">
            <a:off x="10727808" y="190500"/>
            <a:ext cx="489984" cy="533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00894-54B9-4AD7-BEAE-DDBE79D9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Template sample - result metrics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E1CAF-18C2-41C1-8A2C-6F09E6AB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BC79C-7E79-4F81-85C6-65917675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864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864B"/>
                </a:solidFill>
                <a:latin typeface="Aptos"/>
                <a:ea typeface="Aptos"/>
                <a:cs typeface="Aptos"/>
              </a:rPr>
              <a:t>METRIC CALLOUT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B8849-B48E-4031-9B72-DADD2678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A3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A3B"/>
                </a:solidFill>
                <a:latin typeface="Aptos Display"/>
                <a:ea typeface="Aptos Display"/>
                <a:cs typeface="Aptos Display"/>
              </a:rPr>
              <a:t>Profile-universe risk separation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FD7C5-50DF-492E-B92F-E68398E1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CD44E5-599C-4A48-9B45-E33CEA15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90625"/>
            <a:ext cx="781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The result slide should show bucket separation before any return discussion.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7F630-7175-40EC-AD43-2A8AD101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266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CA7BA5-4C6E-495C-B105-81D40E36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3B31B-656D-4541-ABAD-48F5EF05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864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2864B"/>
                </a:solidFill>
                <a:latin typeface="Aptos"/>
                <a:ea typeface="Aptos"/>
                <a:cs typeface="Aptos"/>
              </a:rPr>
              <a:t>0.239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DF48EF-B081-4508-B5F5-81D04D26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Low-risk bucket mean realized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ACAE93-13F8-4A73-81C3-B14F46B7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57450"/>
            <a:ext cx="2266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71C5B8-B2AB-4C4C-AE4B-50693650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5745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BC84BA-3562-42FA-9C73-518D437F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2890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A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42A3B"/>
                </a:solidFill>
                <a:latin typeface="Aptos"/>
                <a:ea typeface="Aptos"/>
                <a:cs typeface="Aptos"/>
              </a:rPr>
              <a:t>0.536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F328C6-3F5D-4426-92C5-93E2DE62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4800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Medium bucket mean realized risk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58D98F-5AFB-4C1F-8140-D71A9971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57450"/>
            <a:ext cx="2266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42B865-64CE-4D59-B305-51B4F1C5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5745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1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C7AD14-24AD-4DF9-B2F2-210AF5C4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6121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6121B"/>
                </a:solidFill>
                <a:latin typeface="Aptos"/>
                <a:ea typeface="Aptos"/>
                <a:cs typeface="Aptos"/>
              </a:rPr>
              <a:t>0.688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C10A05-DF22-409C-A4DC-3898EE7E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High-risk bucket mean realized risk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A8B5FC-71AD-4208-B7AF-860FA6CC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EFFB11-F95F-45A3-A4E0-5FE81A2C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2BD1C2-194D-4A78-B22A-D358A3C7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2890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A629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D9A629"/>
                </a:solidFill>
                <a:latin typeface="Aptos"/>
                <a:ea typeface="Aptos"/>
                <a:cs typeface="Aptos"/>
              </a:rPr>
              <a:t>11/11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C8FD1D-95FB-4FC4-8EB6-DDC1F579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4800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Monthly monotonicity on 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BD8CB5-EA7E-4DE7-BE08-4B44D151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937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CF80F0-F626-426C-80FF-ED68CAA6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90D14F-4D19-4C3C-A34F-BDE28531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14850"/>
            <a:ext cx="3067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965392-E707-4B80-A44F-43F21448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14850"/>
            <a:ext cx="3314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1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2DD59F-FFC9-4418-80C0-C6B70F51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3FED60-D616-4A50-B2CA-DD4C4288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38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22249B-1DE9-415E-87C4-D3A00DAF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38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11910074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AD34E0-CF28-45F6-B1C9-593EC32A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5A4FB-70EC-4453-B52A-D109E210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4142D-B9A9-4DEC-973E-8D669F2F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36BEF-D841-42FA-AADB-5B0C7982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72A3A-6A33-4C51-BB7B-579C63A5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1666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B67E7-43A3-428A-925D-A289D702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0"/>
            <a:ext cx="1666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1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EC8C7-D246-4A82-ACB3-7142235B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c2a4b18794924"/>
          <a:stretch xmlns:a="http://schemas.openxmlformats.org/drawingml/2006/main"/>
        </p:blipFill>
        <p:spPr>
          <a:xfrm xmlns:a="http://schemas.openxmlformats.org/drawingml/2006/main">
            <a:off x="9840574" y="247650"/>
            <a:ext cx="416602" cy="43815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d9464a56854ff3"/>
          <a:stretch xmlns:a="http://schemas.openxmlformats.org/drawingml/2006/main"/>
        </p:blipFill>
        <p:spPr>
          <a:xfrm xmlns:a="http://schemas.openxmlformats.org/drawingml/2006/main">
            <a:off x="10727808" y="190500"/>
            <a:ext cx="489984" cy="533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DE952-15EC-4D66-8651-531C49F0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Template sample - references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A38AE-AE2B-432D-92EA-F5066DC7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6234C-A522-45EC-9EF3-0CD01788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864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864B"/>
                </a:solidFill>
                <a:latin typeface="Aptos"/>
                <a:ea typeface="Aptos"/>
                <a:cs typeface="Aptos"/>
              </a:rPr>
              <a:t>FIVE-REFERENCE LIMIT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2B82-B57F-489D-9555-F33FFA19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A3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A3B"/>
                </a:solidFill>
                <a:latin typeface="Aptos Display"/>
                <a:ea typeface="Aptos Display"/>
                <a:cs typeface="Aptos Display"/>
              </a:rPr>
              <a:t>Key references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E7204-7FE0-44EF-BAEE-6D570A43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0DF86-2A20-48B6-8137-F40E32F9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86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864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BE6F0E-3381-480C-8C1D-410D702F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478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Markowitz (1952), Portfolio Selection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A50F1-6BC7-4E80-AC89-0ECD9D6A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050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A6B804-59F7-4567-88E0-790C8302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D8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DBB27E-AD2A-402D-BD5C-4B343B2C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A62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A62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2DEACB-AFD8-4107-BA04-BFF7BA57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479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Wang et al. (2020), Portfolio Formation with Preselection Using Deep Learning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07B75B-B16D-4465-BB2B-E5DD8651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051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65FD8A-BAA3-45AF-994F-958DA83E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12F19E-5CF7-4C31-8E4C-9A354FBB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86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864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32F804-A4BB-47B2-B9FB-A3889069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480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Ma et al. (2021), Portfolio Optimization with Return Prediction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C7D9F-412A-4EF0-A5D0-746E771F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052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62E148-EF41-4AB9-A6D6-E2AB241B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D8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22858E-DB8A-42FB-B0A6-982B5337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A62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A62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304B84-2D69-471C-A55A-87CE7D75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481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Chaweewanchon and Chaysiri (2022), Markowitz MVO with Predictive Selection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1CA02B-FCC8-4CB7-9D22-B9527407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053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236DB3-1BEB-49FB-AF38-2C790195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E013E1-66C1-4069-93D2-F4199F88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86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864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55E18A-7AE1-49D3-887D-C1F87C3B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482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Atta Mills and Anyomi (2022), Hybrid Two-Stage Robustness Approach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88708C-C14C-40CE-9C2C-90795F6E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054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40868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FD7FF8-C1BD-424E-95CB-0D652FA7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AD976-0B1E-4F3D-819C-3248630D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BA8F5-C502-49BC-A6E1-E1D06984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F6356-29DB-4B87-B77C-3DD9279C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C8338-4361-4213-92EF-3176A4C5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1666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75390-AC49-4D9E-AF43-691F0A36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0"/>
            <a:ext cx="1666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1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BCE74-AC3B-4EFE-9092-38D77B98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8b0340e164e96"/>
          <a:stretch xmlns:a="http://schemas.openxmlformats.org/drawingml/2006/main"/>
        </p:blipFill>
        <p:spPr>
          <a:xfrm xmlns:a="http://schemas.openxmlformats.org/drawingml/2006/main">
            <a:off x="9840574" y="247650"/>
            <a:ext cx="416602" cy="43815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c2c8e7e204260"/>
          <a:stretch xmlns:a="http://schemas.openxmlformats.org/drawingml/2006/main"/>
        </p:blipFill>
        <p:spPr>
          <a:xfrm xmlns:a="http://schemas.openxmlformats.org/drawingml/2006/main">
            <a:off x="10727808" y="190500"/>
            <a:ext cx="489984" cy="533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80A76-C479-4FEF-A83E-B9C782B4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Template sample - appendix dense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C2E6B-9ACF-424E-BB0B-72607043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48536-2696-40E7-9913-4CF279C2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864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864B"/>
                </a:solidFill>
                <a:latin typeface="Aptos"/>
                <a:ea typeface="Aptos"/>
                <a:cs typeface="Aptos"/>
              </a:rPr>
              <a:t>DENSE BACKUP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A8369-DD42-4D32-A3E1-9B40D91F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A3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A3B"/>
                </a:solidFill>
                <a:latin typeface="Aptos Display"/>
                <a:ea typeface="Aptos Display"/>
                <a:cs typeface="Aptos Display"/>
              </a:rPr>
              <a:t>Appendix backup: feature families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9BF2B-384C-4E32-9CC4-A9D9C8D1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28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1763F-1DEC-4C5C-9783-177C19C8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40BB1-CB36-4D7C-A431-9D7018C9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A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A3B"/>
                </a:solidFill>
                <a:latin typeface="Aptos"/>
                <a:ea typeface="Aptos"/>
                <a:cs typeface="Aptos"/>
              </a:rPr>
              <a:t>Risk / downside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DB213-0AC2-491D-A644-075B7525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egarch_vol, downside_dev, max_drawdown, downside_tail_ratio_3m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BFB99-3D1E-4500-BCDE-30E30ED7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52550"/>
            <a:ext cx="428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B78A3-0E82-47F8-9E2C-947657A9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525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AF186C-D10E-43A7-A1A2-C51039BD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76375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A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A3B"/>
                </a:solidFill>
                <a:latin typeface="Aptos"/>
                <a:ea typeface="Aptos"/>
                <a:cs typeface="Aptos"/>
              </a:rPr>
              <a:t>Liquidity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B11767-22C0-4FCD-AA45-CF84D2D9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volume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467E40-F3E3-496F-BEA7-DEA87570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28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C4B3EB-68A7-4859-813F-BEBF44CA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1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2BBC34-0833-46E4-A736-580E8CC6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0325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A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A3B"/>
                </a:solidFill>
                <a:latin typeface="Aptos"/>
                <a:ea typeface="Aptos"/>
                <a:cs typeface="Aptos"/>
              </a:rPr>
              <a:t>Technical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571102-804D-4583-A966-1AE9BB45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atr_pct_20, price_to_sma20, rsi_14, distance_to_3m_high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D2F092-1DE2-40D7-9B28-E30C242F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76500"/>
            <a:ext cx="428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0855BA-7DEE-42AA-9BA2-036E10D3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76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09C658-2533-4544-8AB6-FB8216A7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0325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A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A3B"/>
                </a:solidFill>
                <a:latin typeface="Aptos"/>
                <a:ea typeface="Aptos"/>
                <a:cs typeface="Aptos"/>
              </a:rPr>
              <a:t>Market sensitivity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8CF7C1-354E-43F9-B63E-AB1F2915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765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beta_to_egx30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99D54F-DDF4-4B3C-B62C-9D34D8EE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428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7BBEF5-EB53-4AAB-9454-825F2498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9CDE02-3AA5-4765-AD78-D02CEA4F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24275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A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A3B"/>
                </a:solidFill>
                <a:latin typeface="Aptos"/>
                <a:ea typeface="Aptos"/>
                <a:cs typeface="Aptos"/>
              </a:rPr>
              <a:t>Macro context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C83E23-0125-4D29-B518-790AB2A3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usd_vol, cpi_trajectory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6A04B6-F563-4149-AFD8-B01B0202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00450"/>
            <a:ext cx="428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2F1071-88DF-46F4-B3E2-94B0B41C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00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1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F1B93D-FF08-4C70-ABA3-0D1698F1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24275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A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A3B"/>
                </a:solidFill>
                <a:latin typeface="Aptos"/>
                <a:ea typeface="Aptos"/>
                <a:cs typeface="Aptos"/>
              </a:rPr>
              <a:t>Review gate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D5024F-C4CC-4E6F-9893-6F024D28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WAITING_FOR_REVIEWED_SCRIPT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C17772-0F46-42ED-834F-3C5F870F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86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864B"/>
                </a:solidFill>
                <a:latin typeface="Aptos"/>
                <a:ea typeface="Aptos"/>
                <a:cs typeface="Aptos"/>
              </a:rPr>
              <a:t>Appendix slides may be denser, but still use grouped meaning instead of log-dump prose.</a:t>
            </a:r>
          </a:p>
        </p:txBody>
      </p:sp>
    </p:spTree>
    <p:extLst>
      <p:ext uri="{BB962C8B-B14F-4D97-AF65-F5344CB8AC3E}">
        <p14:creationId xmlns:p14="http://schemas.microsoft.com/office/powerpoint/2010/main" val="1233465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2026-06-04T01:47:37.4630000Z</dcterms:created>
  <dcterms:modified xsi:type="dcterms:W3CDTF">2026-06-04T01:47:37.4630000Z</dcterms:modified>
</coreProperties>
</file>